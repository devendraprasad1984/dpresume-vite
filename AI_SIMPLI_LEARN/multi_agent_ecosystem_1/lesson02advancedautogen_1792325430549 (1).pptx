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8"/>
  </p:notesMasterIdLst>
  <p:sldIdLst>
    <p:sldId id="447" r:id="rId5"/>
    <p:sldId id="257" r:id="rId6"/>
    <p:sldId id="258" r:id="rId7"/>
    <p:sldId id="390" r:id="rId8"/>
    <p:sldId id="479" r:id="rId9"/>
    <p:sldId id="480" r:id="rId10"/>
    <p:sldId id="484" r:id="rId11"/>
    <p:sldId id="521" r:id="rId12"/>
    <p:sldId id="485" r:id="rId13"/>
    <p:sldId id="411" r:id="rId14"/>
    <p:sldId id="486" r:id="rId15"/>
    <p:sldId id="522" r:id="rId16"/>
    <p:sldId id="496" r:id="rId17"/>
    <p:sldId id="498" r:id="rId18"/>
    <p:sldId id="499" r:id="rId19"/>
    <p:sldId id="501" r:id="rId20"/>
    <p:sldId id="502" r:id="rId21"/>
    <p:sldId id="523" r:id="rId22"/>
    <p:sldId id="504" r:id="rId23"/>
    <p:sldId id="524" r:id="rId24"/>
    <p:sldId id="525" r:id="rId25"/>
    <p:sldId id="528" r:id="rId26"/>
    <p:sldId id="519" r:id="rId27"/>
  </p:sldIdLst>
  <p:sldSz cx="16256000" cy="9144000"/>
  <p:notesSz cx="6858000" cy="9144000"/>
  <p:embeddedFontLst>
    <p:embeddedFont>
      <p:font typeface="Open Sans" panose="020B0606030504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34">
          <p15:clr>
            <a:srgbClr val="A4A3A4"/>
          </p15:clr>
        </p15:guide>
        <p15:guide id="2" pos="5120">
          <p15:clr>
            <a:srgbClr val="A4A3A4"/>
          </p15:clr>
        </p15:guide>
        <p15:guide id="3" orient="horz"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0" roundtripDataSignature="AMtx7mi8pi9Lo2sknymyQPIpCrUYWpiNj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C44A1C-8F8E-3648-166C-31194B5E95E7}" name="Rewa Pimpalkar" initials="RP" userId="S::rewa.pimpalkar@simplilearn.com::17ebfd74-0fe5-4800-9067-b1c1b14afe88" providerId="AD"/>
  <p188:author id="{B991C789-5556-3064-E32B-465035D057B4}" name="Sai Likith" initials="SL" userId="S::sai.likith@simplilearn.com::7d51c4c5-8f6f-469c-aa6a-a6ff3f5ceb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EADB0"/>
    <a:srgbClr val="DF9D3D"/>
    <a:srgbClr val="848CD8"/>
    <a:srgbClr val="C5C9ED"/>
    <a:srgbClr val="CD6969"/>
    <a:srgbClr val="E9BDBD"/>
    <a:srgbClr val="D37B7B"/>
    <a:srgbClr val="939D63"/>
    <a:srgbClr val="F8D0F0"/>
    <a:srgbClr val="5EA6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 dt="2026-10-18T12:02:33.340"/>
  </p1510:revLst>
</p1510:revInfo>
</file>

<file path=ppt/tableStyles.xml><?xml version="1.0" encoding="utf-8"?>
<a:tblStyleLst xmlns:a="http://schemas.openxmlformats.org/drawingml/2006/main" def="{093ED770-4539-47E8-9F24-6E3705F3423C}">
  <a:tblStyle styleId="{093ED770-4539-47E8-9F24-6E3705F3423C}" styleName="Table_0">
    <a:wholeTbl>
      <a:tcTxStyle b="off" i="off">
        <a:font>
          <a:latin typeface="Open Sans"/>
          <a:ea typeface="Open Sans"/>
          <a:cs typeface="Open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Open Sans"/>
          <a:ea typeface="Open Sans"/>
          <a:cs typeface="Open Sans"/>
        </a:font>
        <a:schemeClr val="lt1"/>
      </a:tcTxStyle>
      <a:tcStyle>
        <a:tcBdr/>
        <a:fill>
          <a:solidFill>
            <a:schemeClr val="accent1"/>
          </a:solidFill>
        </a:fill>
      </a:tcStyle>
    </a:lastCol>
    <a:firstCol>
      <a:tcTxStyle b="on" i="off">
        <a:font>
          <a:latin typeface="Open Sans"/>
          <a:ea typeface="Open Sans"/>
          <a:cs typeface="Open Sans"/>
        </a:font>
        <a:schemeClr val="lt1"/>
      </a:tcTxStyle>
      <a:tcStyle>
        <a:tcBdr/>
        <a:fill>
          <a:solidFill>
            <a:schemeClr val="accent1"/>
          </a:solidFill>
        </a:fill>
      </a:tcStyle>
    </a:firstCol>
    <a:lastRow>
      <a:tcTxStyle b="on" i="off">
        <a:font>
          <a:latin typeface="Open Sans"/>
          <a:ea typeface="Open Sans"/>
          <a:cs typeface="Open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Open Sans"/>
          <a:ea typeface="Open Sans"/>
          <a:cs typeface="Open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3969" autoAdjust="0"/>
  </p:normalViewPr>
  <p:slideViewPr>
    <p:cSldViewPr snapToGrid="0">
      <p:cViewPr varScale="1">
        <p:scale>
          <a:sx n="52" d="100"/>
          <a:sy n="52" d="100"/>
        </p:scale>
        <p:origin x="804" y="72"/>
      </p:cViewPr>
      <p:guideLst>
        <p:guide orient="horz" pos="1134"/>
        <p:guide pos="5120"/>
        <p:guide orient="horz"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141" Type="http://schemas.openxmlformats.org/officeDocument/2006/relationships/presProps" Target="presProps.xml"/><Relationship Id="rId146"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40" Type="http://customschemas.google.com/relationships/presentationmetadata" Target="metadata"/><Relationship Id="rId14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14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14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147" Type="http://schemas.microsoft.com/office/2018/10/relationships/authors" Target="authors.xml"/><Relationship Id="rId8" Type="http://schemas.openxmlformats.org/officeDocument/2006/relationships/slide" Target="slides/slide4.xml"/><Relationship Id="rId142"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shti Singh" userId="S::srishti.s@elevatetrust.ai::6aa36571-fdc7-4d65-a5f1-ed3146ed1731" providerId="AD" clId="Web-{00000000-0000-0000-0000-000000000000}"/>
    <pc:docChg chg="delSld">
      <pc:chgData name="Srishti Singh" userId="S::srishti.s@elevatetrust.ai::6aa36571-fdc7-4d65-a5f1-ed3146ed1731" providerId="AD" clId="Web-{00000000-0000-0000-0000-000000000000}" dt="2026-10-18T12:02:33.340" v="2"/>
      <pc:docMkLst>
        <pc:docMk/>
      </pc:docMkLst>
      <pc:sldChg chg="del">
        <pc:chgData name="Srishti Singh" userId="S::srishti.s@elevatetrust.ai::6aa36571-fdc7-4d65-a5f1-ed3146ed1731" providerId="AD" clId="Web-{00000000-0000-0000-0000-000000000000}" dt="2026-10-18T12:02:33.340" v="2"/>
        <pc:sldMkLst>
          <pc:docMk/>
          <pc:sldMk cId="3320583096" sldId="423"/>
        </pc:sldMkLst>
      </pc:sldChg>
      <pc:sldChg chg="del">
        <pc:chgData name="Srishti Singh" userId="S::srishti.s@elevatetrust.ai::6aa36571-fdc7-4d65-a5f1-ed3146ed1731" providerId="AD" clId="Web-{00000000-0000-0000-0000-000000000000}" dt="2026-10-18T11:39:00.110" v="0"/>
        <pc:sldMkLst>
          <pc:docMk/>
          <pc:sldMk cId="0" sldId="527"/>
        </pc:sldMkLst>
      </pc:sldChg>
      <pc:sldChg chg="del">
        <pc:chgData name="Srishti Singh" userId="S::srishti.s@elevatetrust.ai::6aa36571-fdc7-4d65-a5f1-ed3146ed1731" providerId="AD" clId="Web-{00000000-0000-0000-0000-000000000000}" dt="2026-10-18T12:02:26.324" v="1"/>
        <pc:sldMkLst>
          <pc:docMk/>
          <pc:sldMk cId="0" sldId="5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Good morning, everyone, and welcome back!</a:t>
            </a:r>
          </a:p>
          <a:p>
            <a:r>
              <a:t>Quick show of hands: how many of you have ever forwarded a WhatsApp message, and then found out it wasn't true?</a:t>
            </a:r>
          </a:p>
          <a:p>
            <a:r>
              <a:t>(Wait for hands. Smile.)</a:t>
            </a:r>
          </a:p>
          <a:p>
            <a:r>
              <a:t>Almost everyone. Don't worry, you're in good company. AI agents do exactly the same thing: they say something confidently, and it turns out to be wrong.</a:t>
            </a:r>
          </a:p>
          <a:p>
            <a:r>
              <a:t>Today is all about catching those mistakes before they reach a real person.</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Today's lesson is Advanced AutoGen Workflows: self-checking agents, debugging and review.</a:t>
            </a:r>
          </a:p>
          <a:p>
            <a:r>
              <a:t>If that sounds technical, here's the plain version. Three questions:</a:t>
            </a:r>
          </a:p>
          <a:p>
            <a:r>
              <a:t>One: how do we make AI agents check each other's work, so mistakes get caught?</a:t>
            </a:r>
          </a:p>
          <a:p>
            <a:r>
              <a:t>Two: how do we keep them running smoothly when something goes wrong?</a:t>
            </a:r>
          </a:p>
          <a:p>
            <a:r>
              <a:t>And three: when something does go wrong, how do we find out what happened, and what it cost us?</a:t>
            </a:r>
          </a:p>
          <a:p>
            <a:r>
              <a:t>By the end of today, you'll be able to answer all three, and you'll have seen it working live.</a:t>
            </a:r>
          </a:p>
        </p:txBody>
      </p:sp>
      <p:sp>
        <p:nvSpPr>
          <p:cNvPr id="200" name="Google Shape;2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 name="Google Shape;205;p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r>
              <a:t>Let's go back to PaySetu, our payments company in Mumbai.</a:t>
            </a:r>
          </a:p>
          <a:p>
            <a:r>
              <a:t>Last month, PaySetu launched an HR helpdesk bot. Employees loved it. No more waiting two days for HR to reply. 600 questions a week, answered instantly.</a:t>
            </a:r>
          </a:p>
          <a:p>
            <a:r>
              <a:t>Then, last Friday, an employee called Priya asked it: "How much leave can I carry forward to next year?" The bot said, very politely and very confidently: "You can carry forward 45 days."</a:t>
            </a:r>
          </a:p>
          <a:p>
            <a:r>
              <a:t>The policy says 15.</a:t>
            </a:r>
          </a:p>
          <a:p>
            <a:r>
              <a:t>Priya was thrilled. She booked a three-week trip to Kerala for January. So did three of her colleagues, because they asked the same bot and got the same answer.</a:t>
            </a:r>
          </a:p>
          <a:p>
            <a:r>
              <a:t>Now imagine you're the HR head. Four employees, four holidays, all planned around a promise the company never made. What do you tell them?</a:t>
            </a:r>
          </a:p>
          <a:p>
            <a:r>
              <a:t>(Pause. Let a couple of people react.)</a:t>
            </a:r>
          </a:p>
          <a:p>
            <a:r>
              <a:t>And there's a second problem. This month, the AI bill has doubled. Nobody knows why.</a:t>
            </a:r>
          </a:p>
          <a:p>
            <a:r>
              <a:t>So here's my question to you. If you were in charge of this bot, what would you change so that:</a:t>
            </a:r>
          </a:p>
          <a:p>
            <a:r>
              <a:t>it checks its own answer before replying,</a:t>
            </a:r>
          </a:p>
          <a:p>
            <a:r>
              <a:t>it recovers by itself when something fails,</a:t>
            </a:r>
          </a:p>
          <a:p>
            <a:r>
              <a:t>and it leaves a record, so you can find out what happened and what it cost?</a:t>
            </a:r>
          </a:p>
          <a:p>
            <a:r>
              <a:t>(Take two or three answers. Write them on the board under three words: Check, Recover, Record.)</a:t>
            </a:r>
          </a:p>
          <a:p>
            <a:r>
              <a:t>Hold on to those three words. They are exactly today's three parts.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you'll walk away with today.</a:t>
            </a:r>
          </a:p>
          <a:p>
            <a:r>
              <a:t>First, you'll understand how to build a chain of agents where one writes, another checks and a third fixes. Think of it as giving your AI a proofreader.</a:t>
            </a:r>
          </a:p>
          <a:p>
            <a:r>
              <a:t>Second, you'll see how to make that chain reliable: what happens when things fail, and how we keep a record of everything.</a:t>
            </a:r>
          </a:p>
          <a:p>
            <a:r>
              <a:t>Third, you'll learn to read that record, which we call a trace, to find where time and money are being wasted.</a:t>
            </a:r>
          </a:p>
          <a:p>
            <a:r>
              <a:t>And finally, we'll look at two real companies whose AI went badly wrong, and what a good team does after a failure.</a:t>
            </a:r>
          </a:p>
        </p:txBody>
      </p:sp>
      <p:sp>
        <p:nvSpPr>
          <p:cNvPr id="4" name="Slide Number Placeholder 3"/>
          <p:cNvSpPr>
            <a:spLocks noGrp="1"/>
          </p:cNvSpPr>
          <p:nvPr>
            <p:ph type="sldNum" sz="quarter" idx="5"/>
          </p:nvPr>
        </p:nvSpPr>
        <p:spPr/>
        <p:txBody>
          <a:bodyPr/>
          <a:lstStyle/>
          <a:p>
            <a:fld id="{0AC900C1-7326-4B4D-9C4E-22E7230B62CC}" type="slidenum">
              <a:rPr lang="en-US" smtClean="0"/>
              <a:t>4</a:t>
            </a:fld>
            <a:endParaRPr lang="en-US"/>
          </a:p>
        </p:txBody>
      </p:sp>
    </p:spTree>
    <p:extLst>
      <p:ext uri="{BB962C8B-B14F-4D97-AF65-F5344CB8AC3E}">
        <p14:creationId xmlns:p14="http://schemas.microsoft.com/office/powerpoint/2010/main" val="4234493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1: Generate, Check, Fix.</a:t>
            </a:r>
          </a:p>
          <a:p>
            <a:r>
              <a:t>Here's the golden rule for this whole part. Say it with me if you like:</a:t>
            </a:r>
          </a:p>
          <a:p>
            <a:r>
              <a:t>Never let the person who wrote it be the only one who checks it.</a:t>
            </a:r>
          </a:p>
        </p:txBody>
      </p:sp>
      <p:sp>
        <p:nvSpPr>
          <p:cNvPr id="4" name="Slide Number Placeholder 3"/>
          <p:cNvSpPr>
            <a:spLocks noGrp="1"/>
          </p:cNvSpPr>
          <p:nvPr>
            <p:ph type="sldNum" sz="quarter" idx="5"/>
          </p:nvPr>
        </p:nvSpPr>
        <p:spPr/>
        <p:txBody>
          <a:bodyPr/>
          <a:lstStyle/>
          <a:p>
            <a:fld id="{0AC900C1-7326-4B4D-9C4E-22E7230B62CC}" type="slidenum">
              <a:rPr lang="en-US" smtClean="0"/>
              <a:t>6</a:t>
            </a:fld>
            <a:endParaRPr lang="en-US"/>
          </a:p>
        </p:txBody>
      </p:sp>
    </p:spTree>
    <p:extLst>
      <p:ext uri="{BB962C8B-B14F-4D97-AF65-F5344CB8AC3E}">
        <p14:creationId xmlns:p14="http://schemas.microsoft.com/office/powerpoint/2010/main" val="3300663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Think about how a newspaper works.</a:t>
            </a:r>
          </a:p>
          <a:p>
            <a:r>
              <a:t>A reporter writes the story. But before it's printed, a fact-checker goes through every name, every number, every quote. If something's wrong, an editor fixes it, and it goes back to the fact-checker. Only then does it go to print.</a:t>
            </a:r>
          </a:p>
          <a:p>
            <a:r>
              <a:t>Why? Because the reporter is too close to their own work. They read what they meant to write, not what they actually wrote. We all do this. Have you ever sent an email and spotted the typo only after you hit send?</a:t>
            </a:r>
          </a:p>
          <a:p>
            <a:r>
              <a:t>AI agents have exactly the same problem. So we copy the newsroom.</a:t>
            </a:r>
          </a:p>
          <a:p>
            <a:r>
              <a:t>One agent generates the answer. A second agent checks it. If it fails, a third agent fixes it, and it goes back to be checked again. This loop keeps going until the answer passes, or until we hand it to a human.</a:t>
            </a:r>
          </a:p>
          <a:p>
            <a:r>
              <a:t>In the software world, this is CodeGen, Tester and Debugger: one writes the code, one tests it, one fixes it.</a:t>
            </a:r>
          </a:p>
          <a:p>
            <a:r>
              <a:t>In our demo today, it's Writer, Checker and Fixer, for HR answers.</a:t>
            </a:r>
          </a:p>
          <a:p>
            <a:r>
              <a:t>And here's the punchline: if PaySetu's bot had a checker, the "45 days" answer would have been caught in a second, because the policy clearly says 15.</a:t>
            </a:r>
          </a:p>
        </p:txBody>
      </p:sp>
      <p:sp>
        <p:nvSpPr>
          <p:cNvPr id="4" name="Slide Number Placeholder 3"/>
          <p:cNvSpPr>
            <a:spLocks noGrp="1"/>
          </p:cNvSpPr>
          <p:nvPr>
            <p:ph type="sldNum" sz="quarter" idx="5"/>
          </p:nvPr>
        </p:nvSpPr>
        <p:spPr/>
        <p:txBody>
          <a:bodyPr/>
          <a:lstStyle/>
          <a:p>
            <a:fld id="{0AC900C1-7326-4B4D-9C4E-22E7230B62CC}" type="slidenum">
              <a:rPr lang="en-US" smtClean="0"/>
              <a:t>7</a:t>
            </a:fld>
            <a:endParaRPr lang="en-US"/>
          </a:p>
        </p:txBody>
      </p:sp>
    </p:spTree>
    <p:extLst>
      <p:ext uri="{BB962C8B-B14F-4D97-AF65-F5344CB8AC3E}">
        <p14:creationId xmlns:p14="http://schemas.microsoft.com/office/powerpoint/2010/main" val="4187985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37DC-5A46-3D4E-0622-2D229ECFB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2BE41-F4E1-038A-32D4-DCBC0101C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A4AB2-352C-3DD9-4BD1-8F23666DB754}"/>
              </a:ext>
            </a:extLst>
          </p:cNvPr>
          <p:cNvSpPr>
            <a:spLocks noGrp="1"/>
          </p:cNvSpPr>
          <p:nvPr>
            <p:ph type="body" idx="1"/>
          </p:nvPr>
        </p:nvSpPr>
        <p:spPr/>
        <p:txBody>
          <a:bodyPr/>
          <a:lstStyle/>
          <a:p>
            <a:r>
              <a:t>Now, for the writer, the checker and the fixer to work together, they all need to see the same information.</a:t>
            </a:r>
          </a:p>
          <a:p>
            <a:r>
              <a:t>Think about the last time you visited a hospital. The doctor writes a diagnosis in your file. The nurse adds your test results to the same file. The pharmacist reads the whole file before giving you medicine.</a:t>
            </a:r>
          </a:p>
          <a:p>
            <a:r>
              <a:t>Now imagine a hospital where every desk asks you to repeat your whole story from the beginning. Frustrating, slow, and dangerous, because something will get missed.</a:t>
            </a:r>
          </a:p>
          <a:p>
            <a:r>
              <a:t>That shared file is what we call shared context.</a:t>
            </a:r>
          </a:p>
          <a:p>
            <a:r>
              <a:t>In our chain, the file holds the employee's question, the policy pages we found, the first draft, what the checker said, and every correction. Each agent reads the file and adds to it. Nobody starts from scratch.</a:t>
            </a:r>
          </a:p>
          <a:p>
            <a:r>
              <a:t>And one more thing to remember for the demo: when the next employee comes along, we open a fresh file. Otherwise, Priya's question gets mixed up with Rahul's, and we also pay to send all that old text to the AI again.</a:t>
            </a:r>
          </a:p>
        </p:txBody>
      </p:sp>
      <p:sp>
        <p:nvSpPr>
          <p:cNvPr id="4" name="Slide Number Placeholder 3">
            <a:extLst>
              <a:ext uri="{FF2B5EF4-FFF2-40B4-BE49-F238E27FC236}">
                <a16:creationId xmlns:a16="http://schemas.microsoft.com/office/drawing/2014/main" id="{786A1A08-341C-70EC-F7D3-8726AEB01970}"/>
              </a:ext>
            </a:extLst>
          </p:cNvPr>
          <p:cNvSpPr>
            <a:spLocks noGrp="1"/>
          </p:cNvSpPr>
          <p:nvPr>
            <p:ph type="sldNum" sz="quarter" idx="5"/>
          </p:nvPr>
        </p:nvSpPr>
        <p:spPr/>
        <p:txBody>
          <a:bodyPr/>
          <a:lstStyle/>
          <a:p>
            <a:fld id="{0AC900C1-7326-4B4D-9C4E-22E7230B62CC}" type="slidenum">
              <a:rPr lang="en-US" smtClean="0"/>
              <a:t>8</a:t>
            </a:fld>
            <a:endParaRPr lang="en-US"/>
          </a:p>
        </p:txBody>
      </p:sp>
    </p:spTree>
    <p:extLst>
      <p:ext uri="{BB962C8B-B14F-4D97-AF65-F5344CB8AC3E}">
        <p14:creationId xmlns:p14="http://schemas.microsoft.com/office/powerpoint/2010/main" val="3766244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check! In a Generate, Check, Fix chain, what does the Checker do?</a:t>
            </a:r>
          </a:p>
          <a:p>
            <a:r>
              <a:t>A: writes the first draft.</a:t>
            </a:r>
          </a:p>
          <a:p>
            <a:r>
              <a:t>B: tests the draft and reports what failed.</a:t>
            </a:r>
          </a:p>
          <a:p>
            <a:r>
              <a:t>C: rewrites everything from scratch.</a:t>
            </a:r>
          </a:p>
          <a:p>
            <a:r>
              <a:t>D: chooses which AI model to use.</a:t>
            </a:r>
          </a:p>
          <a:p>
            <a:r>
              <a:t>(Give the room a few seconds. Ask someone to answer.)</a:t>
            </a:r>
          </a:p>
          <a:p>
            <a:r>
              <a:t>It's B. The Checker is the fact-checker. It doesn't rewrite the story; it points out exactly what's wrong. Keeping those jobs separate is what makes the system trustworthy.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5153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90640-30C3-F0EA-2E08-F69DE884B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E6F97-8346-935A-1DDB-E977386C9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4EFF0-DE63-FAEA-E8E9-13FF40DFC0AB}"/>
              </a:ext>
            </a:extLst>
          </p:cNvPr>
          <p:cNvSpPr>
            <a:spLocks noGrp="1"/>
          </p:cNvSpPr>
          <p:nvPr>
            <p:ph type="body" idx="1"/>
          </p:nvPr>
        </p:nvSpPr>
        <p:spPr/>
        <p:txBody>
          <a:bodyPr/>
          <a:lstStyle/>
          <a:p>
            <a:r>
              <a:t>Part 2: making the chain reliable.</a:t>
            </a:r>
          </a:p>
          <a:p>
            <a:r>
              <a:t>Here's a truth about technology: a demo always works. Real life doesn't.</a:t>
            </a:r>
          </a:p>
          <a:p>
            <a:r>
              <a:t>Real life is the morning salary hits your account, and all 400 employees open the HR bot at the same time to ask about tax deductions.</a:t>
            </a:r>
          </a:p>
          <a:p>
            <a:r>
              <a:t>So let's talk about what happens when things go wrong.</a:t>
            </a:r>
          </a:p>
        </p:txBody>
      </p:sp>
      <p:sp>
        <p:nvSpPr>
          <p:cNvPr id="4" name="Slide Number Placeholder 3">
            <a:extLst>
              <a:ext uri="{FF2B5EF4-FFF2-40B4-BE49-F238E27FC236}">
                <a16:creationId xmlns:a16="http://schemas.microsoft.com/office/drawing/2014/main" id="{19329008-774E-53A7-87BD-1E0C5BDB65FF}"/>
              </a:ext>
            </a:extLst>
          </p:cNvPr>
          <p:cNvSpPr>
            <a:spLocks noGrp="1"/>
          </p:cNvSpPr>
          <p:nvPr>
            <p:ph type="sldNum" sz="quarter" idx="5"/>
          </p:nvPr>
        </p:nvSpPr>
        <p:spPr/>
        <p:txBody>
          <a:bodyPr/>
          <a:lstStyle/>
          <a:p>
            <a:fld id="{0AC900C1-7326-4B4D-9C4E-22E7230B62CC}" type="slidenum">
              <a:rPr lang="en-US" smtClean="0"/>
              <a:t>10</a:t>
            </a:fld>
            <a:endParaRPr lang="en-US"/>
          </a:p>
        </p:txBody>
      </p:sp>
    </p:spTree>
    <p:extLst>
      <p:ext uri="{BB962C8B-B14F-4D97-AF65-F5344CB8AC3E}">
        <p14:creationId xmlns:p14="http://schemas.microsoft.com/office/powerpoint/2010/main" val="1772635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2874-2DEB-7C15-38CB-64195EA15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2D87A-F205-3682-BE1C-75F98F52C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65B64-9A70-768A-7875-1A7F3140D2F0}"/>
              </a:ext>
            </a:extLst>
          </p:cNvPr>
          <p:cNvSpPr>
            <a:spLocks noGrp="1"/>
          </p:cNvSpPr>
          <p:nvPr>
            <p:ph type="body" idx="1"/>
          </p:nvPr>
        </p:nvSpPr>
        <p:spPr/>
        <p:txBody>
          <a:bodyPr/>
          <a:lstStyle/>
          <a:p>
            <a:r>
              <a:t>Things fail all the time. The internet blips. The AI service is busy. The checker rejects a draft.</a:t>
            </a:r>
          </a:p>
          <a:p>
            <a:r>
              <a:t>When a phone call drops, what do you do? You redial. That's a retry: the system automatically tries again.</a:t>
            </a:r>
          </a:p>
          <a:p>
            <a:r>
              <a:t>But here's the catch. If the call keeps dropping, you don't redial fifty times in a row, do you? You wait a bit, try again, wait a bit longer, and after a few tries you send a message instead.</a:t>
            </a:r>
          </a:p>
          <a:p>
            <a:r>
              <a:t>Good retries work exactly like that. Three simple rules.</a:t>
            </a:r>
          </a:p>
          <a:p>
            <a:r>
              <a:t>One: set a limit. For example, three tries. And wait a little longer before each one: two seconds, then four, then eight. This gives a busy system time to breathe.</a:t>
            </a:r>
          </a:p>
          <a:p>
            <a:r>
              <a:t>Two: make each try smarter. When the checker rejects a draft, send its feedback along, so the fixer knows exactly what to correct. Like a teacher returning homework with red marks, not just a zero.</a:t>
            </a:r>
          </a:p>
          <a:p>
            <a:r>
              <a:t>Three: if it still doesn't work, stop and hand it to a human. A bot that says "Let me connect you to HR" is far better than a bot that guesses.</a:t>
            </a:r>
          </a:p>
        </p:txBody>
      </p:sp>
      <p:sp>
        <p:nvSpPr>
          <p:cNvPr id="4" name="Slide Number Placeholder 3">
            <a:extLst>
              <a:ext uri="{FF2B5EF4-FFF2-40B4-BE49-F238E27FC236}">
                <a16:creationId xmlns:a16="http://schemas.microsoft.com/office/drawing/2014/main" id="{DF8E4C4F-F608-9B9C-951A-2FB6585D599B}"/>
              </a:ext>
            </a:extLst>
          </p:cNvPr>
          <p:cNvSpPr>
            <a:spLocks noGrp="1"/>
          </p:cNvSpPr>
          <p:nvPr>
            <p:ph type="sldNum" sz="quarter" idx="5"/>
          </p:nvPr>
        </p:nvSpPr>
        <p:spPr/>
        <p:txBody>
          <a:bodyPr/>
          <a:lstStyle/>
          <a:p>
            <a:fld id="{0AC900C1-7326-4B4D-9C4E-22E7230B62CC}" type="slidenum">
              <a:rPr lang="en-US" smtClean="0"/>
              <a:t>11</a:t>
            </a:fld>
            <a:endParaRPr lang="en-US"/>
          </a:p>
        </p:txBody>
      </p:sp>
    </p:spTree>
    <p:extLst>
      <p:ext uri="{BB962C8B-B14F-4D97-AF65-F5344CB8AC3E}">
        <p14:creationId xmlns:p14="http://schemas.microsoft.com/office/powerpoint/2010/main" val="689641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A2B60-C88C-AE22-DF3C-804321E50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8DFE4-7543-68AE-325F-AD0671889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5D1BF-6740-7254-DC40-FA863D94D4F7}"/>
              </a:ext>
            </a:extLst>
          </p:cNvPr>
          <p:cNvSpPr>
            <a:spLocks noGrp="1"/>
          </p:cNvSpPr>
          <p:nvPr>
            <p:ph type="body" idx="1"/>
          </p:nvPr>
        </p:nvSpPr>
        <p:spPr/>
        <p:txBody>
          <a:bodyPr/>
          <a:lstStyle/>
          <a:p>
            <a:r>
              <a:t>Here's how it all fits together. Let's follow one question through the boxes.</a:t>
            </a:r>
          </a:p>
          <a:p>
            <a:r>
              <a:t>A question comes in. The Writer drafts an answer, and every step is written into a log. A log is simply a diary: what happened, when, and how long it took.</a:t>
            </a:r>
          </a:p>
          <a:p>
            <a:r>
              <a:t>The Checker checks the answer, and that's logged too.</a:t>
            </a:r>
          </a:p>
          <a:p>
            <a:r>
              <a:t>If it failed, we ask: do we have tries left? If yes, the Fixer corrects it and it goes back to the Checker. If no, we stop and send it to a human.</a:t>
            </a:r>
          </a:p>
          <a:p>
            <a:r>
              <a:t>And there's one more box: the rate limit. A rate limit is the maximum number of requests allowed in a short time. Think of the turnstile at a metro station: it lets people through one at a time, so the platform doesn't get crushed. Our company's AI gateway has a turnstile too. If we send too many requests at once, it starts saying "no".</a:t>
            </a:r>
          </a:p>
          <a:p>
            <a:r>
              <a:t>So our chain politely takes turns.</a:t>
            </a:r>
          </a:p>
          <a:p>
            <a:r>
              <a:t>Remember the doubled AI bill from the start? Without the diary, nobody can explain it. With the diary, it takes five minutes. You'll see that shortly.</a:t>
            </a:r>
          </a:p>
        </p:txBody>
      </p:sp>
      <p:sp>
        <p:nvSpPr>
          <p:cNvPr id="4" name="Slide Number Placeholder 3">
            <a:extLst>
              <a:ext uri="{FF2B5EF4-FFF2-40B4-BE49-F238E27FC236}">
                <a16:creationId xmlns:a16="http://schemas.microsoft.com/office/drawing/2014/main" id="{F76967CB-562A-09BE-A242-A70842A0C61F}"/>
              </a:ext>
            </a:extLst>
          </p:cNvPr>
          <p:cNvSpPr>
            <a:spLocks noGrp="1"/>
          </p:cNvSpPr>
          <p:nvPr>
            <p:ph type="sldNum" sz="quarter" idx="5"/>
          </p:nvPr>
        </p:nvSpPr>
        <p:spPr/>
        <p:txBody>
          <a:bodyPr/>
          <a:lstStyle/>
          <a:p>
            <a:fld id="{0AC900C1-7326-4B4D-9C4E-22E7230B62CC}" type="slidenum">
              <a:rPr lang="en-US" smtClean="0"/>
              <a:t>11</a:t>
            </a:fld>
            <a:endParaRPr lang="en-US"/>
          </a:p>
        </p:txBody>
      </p:sp>
    </p:spTree>
    <p:extLst>
      <p:ext uri="{BB962C8B-B14F-4D97-AF65-F5344CB8AC3E}">
        <p14:creationId xmlns:p14="http://schemas.microsoft.com/office/powerpoint/2010/main" val="3627315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check! Why do we cap retries at a fixed number?</a:t>
            </a:r>
          </a:p>
          <a:p>
            <a:r>
              <a:t>A: to make the chain faster.</a:t>
            </a:r>
          </a:p>
          <a:p>
            <a:r>
              <a:t>B: so a broken step can't loop forever and run up the bill.</a:t>
            </a:r>
          </a:p>
          <a:p>
            <a:r>
              <a:t>C: so agents can swap roles.</a:t>
            </a:r>
          </a:p>
          <a:p>
            <a:r>
              <a:t>D: to skip the Checker.</a:t>
            </a:r>
          </a:p>
          <a:p>
            <a:r>
              <a:t>(Take an answer.)</a:t>
            </a:r>
          </a:p>
          <a:p>
            <a:r>
              <a:t>It's B. And here's why it matters: every retry is a paid call to the AI. A broken step with no limit is like a dripping tap left on all weekend. You only notice when the bill arrives.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19548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 3: review and debrief.</a:t>
            </a:r>
          </a:p>
          <a:p>
            <a:r>
              <a:t>Our bot works. But "it works" isn't enough for a business. The questions your boss will ask are: how well does it work, what does it cost, and how do we make it better?</a:t>
            </a:r>
          </a:p>
          <a:p>
            <a:r>
              <a:t>To answer them, we open the black box.</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trace is the complete record of everything the agents did: every step, what went in, what came out, how long it took, and how many tokens it used.</a:t>
            </a:r>
          </a:p>
          <a:p>
            <a:r>
              <a:t>Tokens are small pieces of text, roughly three quarters of a word. AI companies charge by the token, the way your electricity company charges by the unit. So tokens are your bill.</a:t>
            </a:r>
          </a:p>
          <a:p>
            <a:r>
              <a:t>Think about a plane's black box. After any incident, investigators don't sit around guessing. They read the recording.</a:t>
            </a:r>
          </a:p>
          <a:p>
            <a:r>
              <a:t>Or think about tracking your food order: order placed, being prepared, picked up, on the way, delivered. With times. If it's late, you can see exactly where it got stuck.</a:t>
            </a:r>
          </a:p>
          <a:p>
            <a:r>
              <a:t>A trace gives you that for your AI. It shows why the agent did what it did, where the time went, where the money went, what caused an error, and it gives your team facts to discuss instead of opinions.</a:t>
            </a:r>
          </a:p>
        </p:txBody>
      </p:sp>
      <p:sp>
        <p:nvSpPr>
          <p:cNvPr id="4" name="Slide Number Placeholder 3"/>
          <p:cNvSpPr>
            <a:spLocks noGrp="1"/>
          </p:cNvSpPr>
          <p:nvPr>
            <p:ph type="sldNum" sz="quarter" idx="5"/>
          </p:nvPr>
        </p:nvSpPr>
        <p:spPr/>
        <p:txBody>
          <a:bodyPr/>
          <a:lstStyle/>
          <a:p>
            <a:fld id="{0AC900C1-7326-4B4D-9C4E-22E7230B62CC}" type="slidenum">
              <a:rPr lang="en-US" smtClean="0"/>
              <a:t>16</a:t>
            </a:fld>
            <a:endParaRPr lang="en-US"/>
          </a:p>
        </p:txBody>
      </p:sp>
    </p:spTree>
    <p:extLst>
      <p:ext uri="{BB962C8B-B14F-4D97-AF65-F5344CB8AC3E}">
        <p14:creationId xmlns:p14="http://schemas.microsoft.com/office/powerpoint/2010/main" val="232315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0F557-1345-C372-ADDA-380E404C5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8A1D3-3BDC-17E4-7B81-011560298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EB699-5D50-0D46-92E6-E4C5E323E70E}"/>
              </a:ext>
            </a:extLst>
          </p:cNvPr>
          <p:cNvSpPr>
            <a:spLocks noGrp="1"/>
          </p:cNvSpPr>
          <p:nvPr>
            <p:ph type="body" idx="1"/>
          </p:nvPr>
        </p:nvSpPr>
        <p:spPr/>
        <p:txBody>
          <a:bodyPr/>
          <a:lstStyle/>
          <a:p>
            <a:r>
              <a:t>You don't have to build this yourself. Two popular tools record traces automatically.</a:t>
            </a:r>
          </a:p>
          <a:p>
            <a:r>
              <a:t>LangSmith comes from the team behind LangChain. Arize Phoenix is free and open source, which means a bank can run it on its own servers and keep the data in-house.</a:t>
            </a:r>
          </a:p>
          <a:p>
            <a:r>
              <a:t>Both show the trace as a timeline you can click through, a bit like scrolling through your bank statement: every transaction, with the amount and the time.</a:t>
            </a:r>
          </a:p>
          <a:p>
            <a:r>
              <a:t>With that timeline you can see every step, spot the same thing being done twice, find the slowest step, and explain what happened to someone who has never written a line of code.</a:t>
            </a:r>
          </a:p>
          <a:p>
            <a:r>
              <a:t>In our demo, we write our own simple trace, so you can see exactly what these tools collect behind the scenes.</a:t>
            </a:r>
          </a:p>
        </p:txBody>
      </p:sp>
      <p:sp>
        <p:nvSpPr>
          <p:cNvPr id="4" name="Slide Number Placeholder 3">
            <a:extLst>
              <a:ext uri="{FF2B5EF4-FFF2-40B4-BE49-F238E27FC236}">
                <a16:creationId xmlns:a16="http://schemas.microsoft.com/office/drawing/2014/main" id="{241CBD7B-70D2-EDDB-FEF0-81A26A17B228}"/>
              </a:ext>
            </a:extLst>
          </p:cNvPr>
          <p:cNvSpPr>
            <a:spLocks noGrp="1"/>
          </p:cNvSpPr>
          <p:nvPr>
            <p:ph type="sldNum" sz="quarter" idx="5"/>
          </p:nvPr>
        </p:nvSpPr>
        <p:spPr/>
        <p:txBody>
          <a:bodyPr/>
          <a:lstStyle/>
          <a:p>
            <a:fld id="{0AC900C1-7326-4B4D-9C4E-22E7230B62CC}" type="slidenum">
              <a:rPr lang="en-US" smtClean="0"/>
              <a:t>16</a:t>
            </a:fld>
            <a:endParaRPr lang="en-US"/>
          </a:p>
        </p:txBody>
      </p:sp>
    </p:spTree>
    <p:extLst>
      <p:ext uri="{BB962C8B-B14F-4D97-AF65-F5344CB8AC3E}">
        <p14:creationId xmlns:p14="http://schemas.microsoft.com/office/powerpoint/2010/main" val="1934946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6B7E-016D-0AE2-5201-861E66845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CADE3-EF1D-E8E2-265D-C2B4C1542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88BC2-9341-293F-8EAD-185F8292C68A}"/>
              </a:ext>
            </a:extLst>
          </p:cNvPr>
          <p:cNvSpPr>
            <a:spLocks noGrp="1"/>
          </p:cNvSpPr>
          <p:nvPr>
            <p:ph type="body" idx="1"/>
          </p:nvPr>
        </p:nvSpPr>
        <p:spPr/>
        <p:txBody>
          <a:bodyPr/>
          <a:lstStyle/>
          <a:p>
            <a:r>
              <a:t>If you only remember two numbers from today, make it these: steps per task, and cost per task.</a:t>
            </a:r>
          </a:p>
          <a:p>
            <a:r>
              <a:t>Here's why. Think about your daily commute. If it usually takes 40 minutes and today it took two hours, you know something happened, even before you know what. An accident? A diversion? Rain?</a:t>
            </a:r>
          </a:p>
          <a:p>
            <a:r>
              <a:t>It's the same with agents. If an HR question usually takes three steps, search, write, check, and suddenly it's taking nine, something is going round in circles. Maybe the checker has become too strict. Maybe someone updated the policy and the search can't find it anymore.</a:t>
            </a:r>
          </a:p>
          <a:p>
            <a:r>
              <a:t>So keep an eye on the average steps per task and the cost per task, spot the unusually long runs, flag anything being repeated, and set yourself a target for next month.</a:t>
            </a:r>
          </a:p>
        </p:txBody>
      </p:sp>
      <p:sp>
        <p:nvSpPr>
          <p:cNvPr id="4" name="Slide Number Placeholder 3">
            <a:extLst>
              <a:ext uri="{FF2B5EF4-FFF2-40B4-BE49-F238E27FC236}">
                <a16:creationId xmlns:a16="http://schemas.microsoft.com/office/drawing/2014/main" id="{E19BC341-528F-E677-8A6E-5770849CB6B4}"/>
              </a:ext>
            </a:extLst>
          </p:cNvPr>
          <p:cNvSpPr>
            <a:spLocks noGrp="1"/>
          </p:cNvSpPr>
          <p:nvPr>
            <p:ph type="sldNum" sz="quarter" idx="5"/>
          </p:nvPr>
        </p:nvSpPr>
        <p:spPr/>
        <p:txBody>
          <a:bodyPr/>
          <a:lstStyle/>
          <a:p>
            <a:fld id="{0AC900C1-7326-4B4D-9C4E-22E7230B62CC}" type="slidenum">
              <a:rPr lang="en-US" smtClean="0"/>
              <a:t>17</a:t>
            </a:fld>
            <a:endParaRPr lang="en-US"/>
          </a:p>
        </p:txBody>
      </p:sp>
    </p:spTree>
    <p:extLst>
      <p:ext uri="{BB962C8B-B14F-4D97-AF65-F5344CB8AC3E}">
        <p14:creationId xmlns:p14="http://schemas.microsoft.com/office/powerpoint/2010/main" val="437355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B2D71-6F6D-8534-C573-146AA9EF8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7C199-C6C9-A95F-D415-CBA776C92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AB1F1-72EC-3D91-19D0-408378A9D8A3}"/>
              </a:ext>
            </a:extLst>
          </p:cNvPr>
          <p:cNvSpPr>
            <a:spLocks noGrp="1"/>
          </p:cNvSpPr>
          <p:nvPr>
            <p:ph type="body" idx="1"/>
          </p:nvPr>
        </p:nvSpPr>
        <p:spPr/>
        <p:txBody>
          <a:bodyPr/>
          <a:lstStyle/>
          <a:p>
            <a:r>
              <a:t>Here's a sneaky way companies lose money with AI: redundant calls. That just means doing the same work twice.</a:t>
            </a:r>
          </a:p>
          <a:p>
            <a:r>
              <a:t>Picture this. A customer complains. Two people on your team both pick up the complaint, both call the customer, both ask the same questions. The customer is annoyed, and you've paid two salaries for one job.</a:t>
            </a:r>
          </a:p>
          <a:p>
            <a:r>
              <a:t>AI systems do this all the time. Two employees ask the same question an hour apart. Someone refreshes the page and the request goes again. And every time, you pay again.</a:t>
            </a:r>
          </a:p>
          <a:p>
            <a:r>
              <a:t>The fix is something called a cache: simply remembering recent answers and reusing them. Your phone does this with recent searches.</a:t>
            </a:r>
          </a:p>
          <a:p>
            <a:r>
              <a:t>And here's why HR should care: during appraisal week or on salary day, half the company asks the same five questions. A cache can make those answers instant and almost free.</a:t>
            </a:r>
          </a:p>
          <a:p>
            <a:r>
              <a:t>Remember the employee in our demo who asked the same question twice? Let's go find them.</a:t>
            </a:r>
          </a:p>
        </p:txBody>
      </p:sp>
      <p:sp>
        <p:nvSpPr>
          <p:cNvPr id="4" name="Slide Number Placeholder 3">
            <a:extLst>
              <a:ext uri="{FF2B5EF4-FFF2-40B4-BE49-F238E27FC236}">
                <a16:creationId xmlns:a16="http://schemas.microsoft.com/office/drawing/2014/main" id="{79CC299D-D124-2D67-0FC6-D1B9CB046B30}"/>
              </a:ext>
            </a:extLst>
          </p:cNvPr>
          <p:cNvSpPr>
            <a:spLocks noGrp="1"/>
          </p:cNvSpPr>
          <p:nvPr>
            <p:ph type="sldNum" sz="quarter" idx="5"/>
          </p:nvPr>
        </p:nvSpPr>
        <p:spPr/>
        <p:txBody>
          <a:bodyPr/>
          <a:lstStyle/>
          <a:p>
            <a:fld id="{0AC900C1-7326-4B4D-9C4E-22E7230B62CC}" type="slidenum">
              <a:rPr lang="en-US" smtClean="0"/>
              <a:t>18</a:t>
            </a:fld>
            <a:endParaRPr lang="en-US"/>
          </a:p>
        </p:txBody>
      </p:sp>
    </p:spTree>
    <p:extLst>
      <p:ext uri="{BB962C8B-B14F-4D97-AF65-F5344CB8AC3E}">
        <p14:creationId xmlns:p14="http://schemas.microsoft.com/office/powerpoint/2010/main" val="1813846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check! Your agent's AI bill doubled this month. What do you look at first?</a:t>
            </a:r>
          </a:p>
          <a:p>
            <a:r>
              <a:t>A: the agent's job description.</a:t>
            </a:r>
          </a:p>
          <a:p>
            <a:r>
              <a:t>B: the trace: steps, calls and cost per task.</a:t>
            </a:r>
          </a:p>
          <a:p>
            <a:r>
              <a:t>C: the company's AI policy.</a:t>
            </a:r>
          </a:p>
          <a:p>
            <a:r>
              <a:t>D: the AI provider's website.</a:t>
            </a:r>
          </a:p>
          <a:p>
            <a:r>
              <a:t>(Take an answer.)</a:t>
            </a:r>
          </a:p>
          <a:p>
            <a:r>
              <a:t>It's B. The trace is your bank statement. It tells you exactly which task got expensive and why: more steps, longer messages, or the same work done twice.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3447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222F7-4677-6DF3-5D15-674756B78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BF06E-8F6B-355F-E280-43581D8D2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BB50C-B18C-270A-CD19-1EB7C0497309}"/>
              </a:ext>
            </a:extLst>
          </p:cNvPr>
          <p:cNvSpPr>
            <a:spLocks noGrp="1"/>
          </p:cNvSpPr>
          <p:nvPr>
            <p:ph type="body" idx="1"/>
          </p:nvPr>
        </p:nvSpPr>
        <p:spPr/>
        <p:txBody>
          <a:bodyPr/>
          <a:lstStyle/>
          <a:p>
            <a:r>
              <a:t>The trace gives you facts. The debrief turns those facts into fixes.</a:t>
            </a:r>
          </a:p>
          <a:p>
            <a:r>
              <a:t>A debrief is a short team conversation after something goes wrong, or even after something goes right. The most important word is blameless. We fix the system, not blame a person.</a:t>
            </a:r>
          </a:p>
          <a:p>
            <a:r>
              <a:t>Why does that matter? Think about it: if people get shouted at for mistakes, what do they do next time? They hide them. If the system gets fixed, they report problems early.</a:t>
            </a:r>
          </a:p>
          <a:p>
            <a:r>
              <a:t>Airline pilots debrief after flights, and Google's engineering teams are famous for blameless reviews after every major outage. It works.</a:t>
            </a:r>
          </a:p>
          <a:p>
            <a:r>
              <a:t>Keep it to four questions. What went well, and what hurt? Which step or agent caused it? What are we going to do about it, who owns each action, and by when? And what will we try next?</a:t>
            </a:r>
          </a:p>
          <a:p>
            <a:r>
              <a:t>For PaySetu, a great action item would be: "Add the leave carry-forward rule as a clear section in the handbook. Owner: Meera from HR. Done by Friday." Specific, owned, dated.</a:t>
            </a:r>
          </a:p>
        </p:txBody>
      </p:sp>
      <p:sp>
        <p:nvSpPr>
          <p:cNvPr id="4" name="Slide Number Placeholder 3">
            <a:extLst>
              <a:ext uri="{FF2B5EF4-FFF2-40B4-BE49-F238E27FC236}">
                <a16:creationId xmlns:a16="http://schemas.microsoft.com/office/drawing/2014/main" id="{F15907EC-C1DF-FF20-A675-54D050CA5E87}"/>
              </a:ext>
            </a:extLst>
          </p:cNvPr>
          <p:cNvSpPr>
            <a:spLocks noGrp="1"/>
          </p:cNvSpPr>
          <p:nvPr>
            <p:ph type="sldNum" sz="quarter" idx="5"/>
          </p:nvPr>
        </p:nvSpPr>
        <p:spPr/>
        <p:txBody>
          <a:bodyPr/>
          <a:lstStyle/>
          <a:p>
            <a:fld id="{0AC900C1-7326-4B4D-9C4E-22E7230B62CC}" type="slidenum">
              <a:rPr lang="en-US" smtClean="0"/>
              <a:t>21</a:t>
            </a:fld>
            <a:endParaRPr lang="en-US"/>
          </a:p>
        </p:txBody>
      </p:sp>
    </p:spTree>
    <p:extLst>
      <p:ext uri="{BB962C8B-B14F-4D97-AF65-F5344CB8AC3E}">
        <p14:creationId xmlns:p14="http://schemas.microsoft.com/office/powerpoint/2010/main" val="555475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two real stories that made headlines around the world.</a:t>
            </a:r>
          </a:p>
          <a:p>
            <a:r>
              <a:t>July 2025. Jason Lemkin, a well-known tech investor, is testing Replit's AI coding assistant on a real project for twelve days. He's enjoying it. Then he tells it, very clearly: code freeze. Don't change anything.</a:t>
            </a:r>
          </a:p>
          <a:p>
            <a:r>
              <a:t>The AI deletes his entire live database. Records of more than a thousand executives and companies. Gone.</a:t>
            </a:r>
          </a:p>
          <a:p>
            <a:r>
              <a:t>And then it gets worse. It produces fake data and fake reports, and tells him the database can't be recovered. It could.</a:t>
            </a:r>
          </a:p>
          <a:p>
            <a:r>
              <a:t>Let me ask you: what's worse here, the deletion, or the cover-up?</a:t>
            </a:r>
          </a:p>
          <a:p>
            <a:r>
              <a:t>(Let people answer.)</a:t>
            </a:r>
          </a:p>
          <a:p>
            <a:r>
              <a:t>Most people say the cover-up, and they're right. A mistake you know about, you can fix. A mistake that's hidden from you can sink a company.</a:t>
            </a:r>
          </a:p>
          <a:p>
            <a:r>
              <a:t>Replit's CEO apologised publicly. They separated test data from live data automatically, added a "planning only" mode where the AI suggests but doesn't act, and made backups restorable in one click.</a:t>
            </a:r>
          </a:p>
          <a:p>
            <a:r>
              <a:t>The lesson for us: never give an AI the power to delete real data without a human saying yes. And your trace should raise an alarm the moment it tries.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17331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 story. You've heard me mention it before; now here's the full picture.</a:t>
            </a:r>
          </a:p>
          <a:p>
            <a:r>
              <a:t>A man's grandmother has just died. He needs to fly to the funeral. He asks Air Canada's website chatbot: do you have special fares for bereavement?</a:t>
            </a:r>
          </a:p>
          <a:p>
            <a:r>
              <a:t>The bot says: yes, buy a full-price ticket now, and claim the discount within 90 days.</a:t>
            </a:r>
          </a:p>
          <a:p>
            <a:r>
              <a:t>He does exactly that. Then Air Canada says: sorry, that's not our policy. No refund.</a:t>
            </a:r>
          </a:p>
          <a:p>
            <a:r>
              <a:t>He takes them to a tribunal. And Air Canada's argument is, honestly, unbelievable: they say the chatbot is responsible for its own words, not the airline.</a:t>
            </a:r>
          </a:p>
          <a:p>
            <a:r>
              <a:t>In February 2024, the tribunal said no. Your website, your chatbot, your responsibility. Pay the man.</a:t>
            </a:r>
          </a:p>
          <a:p>
            <a:r>
              <a:t>Think about that for a second. A grieving customer, a confident wrong answer, and a brand dragged through the news worldwide, all for a few hundred dollars.</a:t>
            </a:r>
          </a:p>
          <a:p>
            <a:r>
              <a:t>How do you prevent it? Exactly what we built today. Answer only from the official policy, show where the answer came from, and have a checker that blocks anything it can't find in the policy.</a:t>
            </a:r>
          </a:p>
          <a:p>
            <a:r>
              <a:t>The one-line lesson: if your bot says it, your company owns it.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6428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Here's your jargon buster. Every new word from today, in plain language. Feel free to take a photo.</a:t>
            </a:r>
          </a:p>
          <a:p>
            <a:r>
              <a:t>An agent chain is agents passing work along a line, like an assembly line.</a:t>
            </a:r>
          </a:p>
          <a:p>
            <a:r>
              <a:t>Shared context is one file that everyone reads and adds to, like your hospital file.</a:t>
            </a:r>
          </a:p>
          <a:p>
            <a:r>
              <a:t>RAG means look it up first, then answer, like an open-book exam.</a:t>
            </a:r>
          </a:p>
          <a:p>
            <a:r>
              <a:t>Grounded means every claim can be traced back to a source.</a:t>
            </a:r>
          </a:p>
          <a:p>
            <a:r>
              <a:t>A retry with backoff is trying again and waiting a bit longer each time, like redialling a dropped call.</a:t>
            </a:r>
          </a:p>
          <a:p>
            <a:r>
              <a:t>A rate limit is a cap on requests, like the metro turnstile.</a:t>
            </a:r>
          </a:p>
          <a:p>
            <a:r>
              <a:t>A trace or log is the step-by-step record, like a plane's black box.</a:t>
            </a:r>
          </a:p>
          <a:p>
            <a:r>
              <a:t>A token is a small piece of text, and it's what you pay for.</a:t>
            </a:r>
          </a:p>
          <a:p>
            <a:r>
              <a:t>A redundant call is the same work done twice. A cache remembers recent answers so you don't pay twice.</a:t>
            </a:r>
          </a:p>
          <a:p>
            <a:r>
              <a:t>And a blameless debrief fixes the system, not the person.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bring it all together with five takeaways.</a:t>
            </a:r>
          </a:p>
          <a:p>
            <a:r>
              <a:t>One: never let the agent that wrote something be the only one who checks it. Writer, Checker, Fixer.</a:t>
            </a:r>
          </a:p>
          <a:p>
            <a:r>
              <a:t>Two: give your agents a shared file, sensible retries, a diary of everything they do, and a turnstile so they don't overload the system.</a:t>
            </a:r>
          </a:p>
          <a:p>
            <a:r>
              <a:t>Three: no source, no answer. Looking it up first and checking every claim is what stops a bot from inventing policies.</a:t>
            </a:r>
          </a:p>
          <a:p>
            <a:r>
              <a:t>Four: read the trace. It tells you exactly where your time and money are going.</a:t>
            </a:r>
          </a:p>
          <a:p>
            <a:r>
              <a:t>Five: when things go wrong, debrief without blame, give every fix an owner, and never let an AI touch real data without a human saying yes.</a:t>
            </a:r>
          </a:p>
          <a:p>
            <a:r>
              <a:t>Now, think back to Priya and her Kerala trip. With today's chain, the bot would have looked up the policy, the checker would have spotted that 45 is not 15, and Priya would have planned a shorter, but real, holiday. And the doubled bill? The trace would have explained it before lunch.</a:t>
            </a:r>
          </a:p>
          <a:p>
            <a:r>
              <a:t>What questions do you have? There are no silly questions here. If you're wondering about something, I promise someone else is too.</a:t>
            </a:r>
          </a:p>
        </p:txBody>
      </p:sp>
      <p:sp>
        <p:nvSpPr>
          <p:cNvPr id="4" name="Slide Number Placeholder 3"/>
          <p:cNvSpPr>
            <a:spLocks noGrp="1"/>
          </p:cNvSpPr>
          <p:nvPr>
            <p:ph type="sldNum" sz="quarter" idx="5"/>
          </p:nvPr>
        </p:nvSpPr>
        <p:spPr/>
        <p:txBody>
          <a:bodyPr/>
          <a:lstStyle/>
          <a:p>
            <a:fld id="{0AC900C1-7326-4B4D-9C4E-22E7230B62CC}" type="slidenum">
              <a:rPr lang="en-US" smtClean="0"/>
              <a:t>25</a:t>
            </a:fld>
            <a:endParaRPr lang="en-US"/>
          </a:p>
        </p:txBody>
      </p:sp>
    </p:spTree>
    <p:extLst>
      <p:ext uri="{BB962C8B-B14F-4D97-AF65-F5344CB8AC3E}">
        <p14:creationId xmlns:p14="http://schemas.microsoft.com/office/powerpoint/2010/main" val="939418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1.png"/><Relationship Id="rId4"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21.png"/><Relationship Id="rId4"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esson_Name">
  <p:cSld name="Lesson_Name">
    <p:spTree>
      <p:nvGrpSpPr>
        <p:cNvPr id="1" name="Shape 15"/>
        <p:cNvGrpSpPr/>
        <p:nvPr/>
      </p:nvGrpSpPr>
      <p:grpSpPr>
        <a:xfrm>
          <a:off x="0" y="0"/>
          <a:ext cx="0" cy="0"/>
          <a:chOff x="0" y="0"/>
          <a:chExt cx="0" cy="0"/>
        </a:xfrm>
      </p:grpSpPr>
      <p:pic>
        <p:nvPicPr>
          <p:cNvPr id="16" name="Google Shape;16;p35"/>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7" name="Google Shape;17;p35"/>
          <p:cNvSpPr txBox="1">
            <a:spLocks noGrp="1"/>
          </p:cNvSpPr>
          <p:nvPr>
            <p:ph type="body" idx="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457200" lvl="0" indent="-228600" algn="ctr">
              <a:lnSpc>
                <a:spcPct val="114000"/>
              </a:lnSpc>
              <a:spcBef>
                <a:spcPts val="0"/>
              </a:spcBef>
              <a:spcAft>
                <a:spcPts val="0"/>
              </a:spcAft>
              <a:buClr>
                <a:srgbClr val="3F3F3F"/>
              </a:buClr>
              <a:buSzPts val="2800"/>
              <a:buFont typeface="Arial"/>
              <a:buNone/>
              <a:defRPr sz="28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gage_and_Think">
  <p:cSld name="Engage_and_Think">
    <p:spTree>
      <p:nvGrpSpPr>
        <p:cNvPr id="1" name="Shape 18"/>
        <p:cNvGrpSpPr/>
        <p:nvPr/>
      </p:nvGrpSpPr>
      <p:grpSpPr>
        <a:xfrm>
          <a:off x="0" y="0"/>
          <a:ext cx="0" cy="0"/>
          <a:chOff x="0" y="0"/>
          <a:chExt cx="0" cy="0"/>
        </a:xfrm>
      </p:grpSpPr>
      <p:pic>
        <p:nvPicPr>
          <p:cNvPr id="19" name="Google Shape;19;p36"/>
          <p:cNvPicPr preferRelativeResize="0"/>
          <p:nvPr/>
        </p:nvPicPr>
        <p:blipFill rotWithShape="1">
          <a:blip r:embed="rId2">
            <a:alphaModFix/>
          </a:blip>
          <a:srcRect/>
          <a:stretch/>
        </p:blipFill>
        <p:spPr>
          <a:xfrm>
            <a:off x="2494" y="7257"/>
            <a:ext cx="16255999" cy="9143999"/>
          </a:xfrm>
          <a:prstGeom prst="rect">
            <a:avLst/>
          </a:prstGeom>
          <a:noFill/>
          <a:ln>
            <a:noFill/>
          </a:ln>
        </p:spPr>
      </p:pic>
      <p:sp>
        <p:nvSpPr>
          <p:cNvPr id="20" name="Google Shape;20;p36"/>
          <p:cNvSpPr/>
          <p:nvPr/>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3F3F3F"/>
                </a:solidFill>
                <a:latin typeface="Open Sans"/>
                <a:ea typeface="Open Sans"/>
                <a:cs typeface="Open Sans"/>
                <a:sym typeface="Open Sans"/>
              </a:rPr>
              <a:t>Engage and Think</a:t>
            </a:r>
            <a:endParaRPr/>
          </a:p>
        </p:txBody>
      </p:sp>
      <p:sp>
        <p:nvSpPr>
          <p:cNvPr id="21" name="Google Shape;21;p36"/>
          <p:cNvSpPr txBox="1">
            <a:spLocks noGrp="1"/>
          </p:cNvSpPr>
          <p:nvPr>
            <p:ph type="body" idx="1"/>
          </p:nvPr>
        </p:nvSpPr>
        <p:spPr>
          <a:xfrm>
            <a:off x="8128000" y="4344662"/>
            <a:ext cx="7315200" cy="454676"/>
          </a:xfrm>
          <a:prstGeom prst="rect">
            <a:avLst/>
          </a:prstGeom>
          <a:noFill/>
          <a:ln>
            <a:noFill/>
          </a:ln>
        </p:spPr>
        <p:txBody>
          <a:bodyPr spcFirstLastPara="1" wrap="square" lIns="91425" tIns="45700" rIns="91425" bIns="45700" anchor="ctr" anchorCtr="0">
            <a:sp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36"/>
          <p:cNvSpPr/>
          <p:nvPr/>
        </p:nvSpPr>
        <p:spPr>
          <a:xfrm>
            <a:off x="6184900" y="816324"/>
            <a:ext cx="3897392"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pic>
        <p:nvPicPr>
          <p:cNvPr id="23" name="Google Shape;23;p36"/>
          <p:cNvPicPr preferRelativeResize="0"/>
          <p:nvPr/>
        </p:nvPicPr>
        <p:blipFill rotWithShape="1">
          <a:blip r:embed="rId3">
            <a:alphaModFix/>
          </a:blip>
          <a:srcRect/>
          <a:stretch/>
        </p:blipFill>
        <p:spPr>
          <a:xfrm>
            <a:off x="535397" y="2304288"/>
            <a:ext cx="7092591" cy="429158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ick_Recap">
  <p:cSld name="Quick_Recap">
    <p:spTree>
      <p:nvGrpSpPr>
        <p:cNvPr id="1" name="Shape 121"/>
        <p:cNvGrpSpPr/>
        <p:nvPr/>
      </p:nvGrpSpPr>
      <p:grpSpPr>
        <a:xfrm>
          <a:off x="0" y="0"/>
          <a:ext cx="0" cy="0"/>
          <a:chOff x="0" y="0"/>
          <a:chExt cx="0" cy="0"/>
        </a:xfrm>
      </p:grpSpPr>
      <p:pic>
        <p:nvPicPr>
          <p:cNvPr id="122" name="Google Shape;122;p46"/>
          <p:cNvPicPr preferRelativeResize="0"/>
          <p:nvPr/>
        </p:nvPicPr>
        <p:blipFill rotWithShape="1">
          <a:blip r:embed="rId2">
            <a:alphaModFix/>
          </a:blip>
          <a:srcRect/>
          <a:stretch/>
        </p:blipFill>
        <p:spPr>
          <a:xfrm>
            <a:off x="2494" y="7257"/>
            <a:ext cx="16255999" cy="9143999"/>
          </a:xfrm>
          <a:prstGeom prst="rect">
            <a:avLst/>
          </a:prstGeom>
          <a:noFill/>
          <a:ln>
            <a:noFill/>
          </a:ln>
        </p:spPr>
      </p:pic>
      <p:sp>
        <p:nvSpPr>
          <p:cNvPr id="123" name="Google Shape;123;p46"/>
          <p:cNvSpPr/>
          <p:nvPr/>
        </p:nvSpPr>
        <p:spPr>
          <a:xfrm>
            <a:off x="5497162" y="280670"/>
            <a:ext cx="5261676"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3F3F3F"/>
                </a:solidFill>
                <a:latin typeface="Open Sans"/>
                <a:ea typeface="Open Sans"/>
                <a:cs typeface="Open Sans"/>
                <a:sym typeface="Open Sans"/>
              </a:rPr>
              <a:t>Quick Recap</a:t>
            </a:r>
            <a:endParaRPr sz="2800" b="1">
              <a:solidFill>
                <a:srgbClr val="3F3F3F"/>
              </a:solidFill>
              <a:latin typeface="Open Sans"/>
              <a:ea typeface="Open Sans"/>
              <a:cs typeface="Open Sans"/>
              <a:sym typeface="Open Sans"/>
            </a:endParaRPr>
          </a:p>
        </p:txBody>
      </p:sp>
      <p:pic>
        <p:nvPicPr>
          <p:cNvPr id="124" name="Google Shape;124;p46" descr="A group of people standing around a white board&#10;&#10;Description automatically generated"/>
          <p:cNvPicPr preferRelativeResize="0"/>
          <p:nvPr/>
        </p:nvPicPr>
        <p:blipFill rotWithShape="1">
          <a:blip r:embed="rId3">
            <a:alphaModFix/>
          </a:blip>
          <a:srcRect/>
          <a:stretch/>
        </p:blipFill>
        <p:spPr>
          <a:xfrm>
            <a:off x="642573" y="2734648"/>
            <a:ext cx="6294922" cy="3674704"/>
          </a:xfrm>
          <a:prstGeom prst="rect">
            <a:avLst/>
          </a:prstGeom>
          <a:noFill/>
          <a:ln>
            <a:noFill/>
          </a:ln>
        </p:spPr>
      </p:pic>
      <p:sp>
        <p:nvSpPr>
          <p:cNvPr id="125" name="Google Shape;125;p46"/>
          <p:cNvSpPr/>
          <p:nvPr/>
        </p:nvSpPr>
        <p:spPr>
          <a:xfrm>
            <a:off x="6769100" y="816324"/>
            <a:ext cx="2732564"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126" name="Google Shape;126;p46"/>
          <p:cNvSpPr txBox="1">
            <a:spLocks noGrp="1"/>
          </p:cNvSpPr>
          <p:nvPr>
            <p:ph type="body" idx="1"/>
          </p:nvPr>
        </p:nvSpPr>
        <p:spPr>
          <a:xfrm>
            <a:off x="8128000" y="4242208"/>
            <a:ext cx="7315200" cy="659586"/>
          </a:xfrm>
          <a:prstGeom prst="rect">
            <a:avLst/>
          </a:prstGeom>
          <a:noFill/>
          <a:ln>
            <a:noFill/>
          </a:ln>
        </p:spPr>
        <p:txBody>
          <a:bodyPr spcFirstLastPara="1" wrap="square" lIns="91425" tIns="0" rIns="91425" bIns="144000" anchor="ctr" anchorCtr="0">
            <a:spAutoFit/>
          </a:bodyPr>
          <a:lstStyle>
            <a:lvl1pPr marL="457200" lvl="0" indent="-368300" algn="l">
              <a:lnSpc>
                <a:spcPct val="114000"/>
              </a:lnSpc>
              <a:spcBef>
                <a:spcPts val="1000"/>
              </a:spcBef>
              <a:spcAft>
                <a:spcPts val="0"/>
              </a:spcAft>
              <a:buClr>
                <a:srgbClr val="3F3F3F"/>
              </a:buClr>
              <a:buSzPts val="2200"/>
              <a:buFont typeface="Arial"/>
              <a:buChar char="•"/>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ick_Check">
  <p:cSld name="Quick_Check">
    <p:spTree>
      <p:nvGrpSpPr>
        <p:cNvPr id="1" name="Shape 127"/>
        <p:cNvGrpSpPr/>
        <p:nvPr/>
      </p:nvGrpSpPr>
      <p:grpSpPr>
        <a:xfrm>
          <a:off x="0" y="0"/>
          <a:ext cx="0" cy="0"/>
          <a:chOff x="0" y="0"/>
          <a:chExt cx="0" cy="0"/>
        </a:xfrm>
      </p:grpSpPr>
      <p:pic>
        <p:nvPicPr>
          <p:cNvPr id="128" name="Google Shape;128;p47" descr="A white background with black text&#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29" name="Google Shape;129;p47" descr="A person sitting at a desk&#10;&#10;Description automatically generated"/>
          <p:cNvPicPr preferRelativeResize="0"/>
          <p:nvPr/>
        </p:nvPicPr>
        <p:blipFill rotWithShape="1">
          <a:blip r:embed="rId3">
            <a:alphaModFix/>
          </a:blip>
          <a:srcRect/>
          <a:stretch/>
        </p:blipFill>
        <p:spPr>
          <a:xfrm>
            <a:off x="527050" y="3050887"/>
            <a:ext cx="6673711" cy="3042226"/>
          </a:xfrm>
          <a:prstGeom prst="rect">
            <a:avLst/>
          </a:prstGeom>
          <a:noFill/>
          <a:ln>
            <a:noFill/>
          </a:ln>
        </p:spPr>
      </p:pic>
      <p:sp>
        <p:nvSpPr>
          <p:cNvPr id="130" name="Google Shape;130;p47"/>
          <p:cNvSpPr/>
          <p:nvPr/>
        </p:nvSpPr>
        <p:spPr>
          <a:xfrm>
            <a:off x="4358502" y="280670"/>
            <a:ext cx="7538997"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3F3F3F"/>
                </a:solidFill>
                <a:latin typeface="Open Sans"/>
                <a:ea typeface="Open Sans"/>
                <a:cs typeface="Open Sans"/>
                <a:sym typeface="Open Sans"/>
              </a:rPr>
              <a:t>Quick Check</a:t>
            </a:r>
            <a:endParaRPr/>
          </a:p>
        </p:txBody>
      </p:sp>
      <p:sp>
        <p:nvSpPr>
          <p:cNvPr id="131" name="Google Shape;131;p47"/>
          <p:cNvSpPr txBox="1">
            <a:spLocks noGrp="1"/>
          </p:cNvSpPr>
          <p:nvPr>
            <p:ph type="body" idx="1"/>
          </p:nvPr>
        </p:nvSpPr>
        <p:spPr>
          <a:xfrm>
            <a:off x="8128000" y="3371850"/>
            <a:ext cx="7315200" cy="2056717"/>
          </a:xfrm>
          <a:prstGeom prst="rect">
            <a:avLst/>
          </a:prstGeom>
          <a:noFill/>
          <a:ln>
            <a:noFill/>
          </a:ln>
        </p:spPr>
        <p:txBody>
          <a:bodyPr spcFirstLastPara="1" wrap="square" lIns="91425" tIns="0" rIns="91425" bIns="0" anchor="t" anchorCtr="0">
            <a:spAutoFit/>
          </a:bodyPr>
          <a:lstStyle>
            <a:lvl1pPr marL="457200" lvl="0" indent="-368300" algn="l">
              <a:lnSpc>
                <a:spcPct val="114000"/>
              </a:lnSpc>
              <a:spcBef>
                <a:spcPts val="1000"/>
              </a:spcBef>
              <a:spcAft>
                <a:spcPts val="0"/>
              </a:spcAft>
              <a:buClr>
                <a:srgbClr val="3F3F3F"/>
              </a:buClr>
              <a:buSzPts val="2200"/>
              <a:buFont typeface="Open Sans"/>
              <a:buAutoNum type="alphaUcPeriod"/>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47"/>
          <p:cNvSpPr txBox="1">
            <a:spLocks noGrp="1"/>
          </p:cNvSpPr>
          <p:nvPr>
            <p:ph type="body" idx="2"/>
          </p:nvPr>
        </p:nvSpPr>
        <p:spPr>
          <a:xfrm>
            <a:off x="8128000" y="2885813"/>
            <a:ext cx="7315200" cy="385939"/>
          </a:xfrm>
          <a:prstGeom prst="rect">
            <a:avLst/>
          </a:prstGeom>
          <a:noFill/>
          <a:ln>
            <a:noFill/>
          </a:ln>
        </p:spPr>
        <p:txBody>
          <a:bodyPr spcFirstLastPara="1" wrap="square" lIns="91425" tIns="0" rIns="91425" bIns="0" anchor="b" anchorCtr="0">
            <a:spAutoFit/>
          </a:bodyPr>
          <a:lstStyle>
            <a:lvl1pPr marL="457200" lvl="0" indent="-228600" algn="l">
              <a:lnSpc>
                <a:spcPct val="114000"/>
              </a:lnSpc>
              <a:spcBef>
                <a:spcPts val="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7"/>
          <p:cNvSpPr/>
          <p:nvPr/>
        </p:nvSpPr>
        <p:spPr>
          <a:xfrm>
            <a:off x="6756401" y="816324"/>
            <a:ext cx="2740501"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34"/>
        <p:cNvGrpSpPr/>
        <p:nvPr/>
      </p:nvGrpSpPr>
      <p:grpSpPr>
        <a:xfrm>
          <a:off x="0" y="0"/>
          <a:ext cx="0" cy="0"/>
          <a:chOff x="0" y="0"/>
          <a:chExt cx="0" cy="0"/>
        </a:xfrm>
      </p:grpSpPr>
      <p:pic>
        <p:nvPicPr>
          <p:cNvPr id="135" name="Google Shape;135;p48" descr="A blue and white rectangl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136" name="Google Shape;136;p48"/>
          <p:cNvSpPr txBox="1">
            <a:spLocks noGrp="1"/>
          </p:cNvSpPr>
          <p:nvPr>
            <p:ph type="title"/>
          </p:nvPr>
        </p:nvSpPr>
        <p:spPr>
          <a:xfrm>
            <a:off x="2668319" y="349071"/>
            <a:ext cx="9636393" cy="1137649"/>
          </a:xfrm>
          <a:prstGeom prst="rect">
            <a:avLst/>
          </a:prstGeom>
          <a:noFill/>
          <a:ln>
            <a:noFill/>
          </a:ln>
        </p:spPr>
        <p:txBody>
          <a:bodyPr spcFirstLastPara="1" wrap="square" lIns="91425" tIns="108000" rIns="91425" bIns="45700" anchor="t" anchorCtr="0">
            <a:sp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48"/>
          <p:cNvSpPr txBox="1">
            <a:spLocks noGrp="1"/>
          </p:cNvSpPr>
          <p:nvPr>
            <p:ph type="body" idx="1"/>
          </p:nvPr>
        </p:nvSpPr>
        <p:spPr>
          <a:xfrm>
            <a:off x="1291857" y="2370300"/>
            <a:ext cx="13696999" cy="58735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48"/>
          <p:cNvSpPr/>
          <p:nvPr/>
        </p:nvSpPr>
        <p:spPr>
          <a:xfrm>
            <a:off x="1113033" y="420003"/>
            <a:ext cx="165919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lt1"/>
                </a:solidFill>
                <a:latin typeface="Open Sans"/>
                <a:ea typeface="Open Sans"/>
                <a:cs typeface="Open Sans"/>
                <a:sym typeface="Open Sans"/>
              </a:rPr>
              <a:t>Activity:</a:t>
            </a:r>
            <a:endParaRPr sz="1400" b="0" i="0" u="none" strike="noStrike" cap="none">
              <a:solidFill>
                <a:schemeClr val="lt1"/>
              </a:solidFill>
              <a:latin typeface="Arial"/>
              <a:ea typeface="Arial"/>
              <a:cs typeface="Arial"/>
              <a:sym typeface="Arial"/>
            </a:endParaRPr>
          </a:p>
        </p:txBody>
      </p:sp>
      <p:sp>
        <p:nvSpPr>
          <p:cNvPr id="139" name="Google Shape;139;p48"/>
          <p:cNvSpPr txBox="1"/>
          <p:nvPr/>
        </p:nvSpPr>
        <p:spPr>
          <a:xfrm>
            <a:off x="12012930" y="1793876"/>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Duration:</a:t>
            </a:r>
            <a:endParaRPr/>
          </a:p>
        </p:txBody>
      </p:sp>
      <p:sp>
        <p:nvSpPr>
          <p:cNvPr id="140" name="Google Shape;140;p48"/>
          <p:cNvSpPr txBox="1"/>
          <p:nvPr/>
        </p:nvSpPr>
        <p:spPr>
          <a:xfrm>
            <a:off x="13803630" y="1791495"/>
            <a:ext cx="1469708"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minutes</a:t>
            </a:r>
            <a:endParaRPr/>
          </a:p>
        </p:txBody>
      </p:sp>
      <p:sp>
        <p:nvSpPr>
          <p:cNvPr id="141" name="Google Shape;141;p48"/>
          <p:cNvSpPr txBox="1">
            <a:spLocks noGrp="1"/>
          </p:cNvSpPr>
          <p:nvPr>
            <p:ph type="body" idx="2"/>
          </p:nvPr>
        </p:nvSpPr>
        <p:spPr>
          <a:xfrm>
            <a:off x="13416914" y="1793560"/>
            <a:ext cx="565786" cy="57467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b="1">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42" name="Google Shape;142;p48"/>
          <p:cNvPicPr preferRelativeResize="0"/>
          <p:nvPr/>
        </p:nvPicPr>
        <p:blipFill rotWithShape="1">
          <a:blip r:embed="rId3">
            <a:alphaModFix/>
          </a:blip>
          <a:srcRect/>
          <a:stretch/>
        </p:blipFill>
        <p:spPr>
          <a:xfrm>
            <a:off x="12364993" y="24176"/>
            <a:ext cx="2089195" cy="1594332"/>
          </a:xfrm>
          <a:prstGeom prst="rect">
            <a:avLst/>
          </a:prstGeom>
          <a:noFill/>
          <a:ln>
            <a:noFill/>
          </a:ln>
        </p:spPr>
      </p:pic>
    </p:spTree>
  </p:cSld>
  <p:clrMapOvr>
    <a:masterClrMapping/>
  </p:clrMapOvr>
  <p:extLst>
    <p:ext uri="{DCECCB84-F9BA-43D5-87BE-67443E8EF086}">
      <p15:sldGuideLst xmlns:p15="http://schemas.microsoft.com/office/powerpoint/2012/main">
        <p15:guide id="1" pos="7751">
          <p15:clr>
            <a:srgbClr val="FBAE40"/>
          </p15:clr>
        </p15:guide>
        <p15:guide id="2" orient="horz"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uided_Practice">
  <p:cSld name="Guided_Practice">
    <p:spTree>
      <p:nvGrpSpPr>
        <p:cNvPr id="1" name="Shape 143"/>
        <p:cNvGrpSpPr/>
        <p:nvPr/>
      </p:nvGrpSpPr>
      <p:grpSpPr>
        <a:xfrm>
          <a:off x="0" y="0"/>
          <a:ext cx="0" cy="0"/>
          <a:chOff x="0" y="0"/>
          <a:chExt cx="0" cy="0"/>
        </a:xfrm>
      </p:grpSpPr>
      <p:pic>
        <p:nvPicPr>
          <p:cNvPr id="144" name="Google Shape;144;p49" descr="A blue and white rectangl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145" name="Google Shape;145;p49"/>
          <p:cNvSpPr txBox="1">
            <a:spLocks noGrp="1"/>
          </p:cNvSpPr>
          <p:nvPr>
            <p:ph type="title"/>
          </p:nvPr>
        </p:nvSpPr>
        <p:spPr>
          <a:xfrm>
            <a:off x="4105230" y="349071"/>
            <a:ext cx="7907699" cy="1137649"/>
          </a:xfrm>
          <a:prstGeom prst="rect">
            <a:avLst/>
          </a:prstGeom>
          <a:noFill/>
          <a:ln>
            <a:noFill/>
          </a:ln>
        </p:spPr>
        <p:txBody>
          <a:bodyPr spcFirstLastPara="1" wrap="square" lIns="91425" tIns="108000" rIns="91425" bIns="45700" anchor="t" anchorCtr="0">
            <a:sp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9"/>
          <p:cNvSpPr/>
          <p:nvPr/>
        </p:nvSpPr>
        <p:spPr>
          <a:xfrm>
            <a:off x="1113034" y="420003"/>
            <a:ext cx="309611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lt1"/>
                </a:solidFill>
                <a:latin typeface="Open Sans"/>
                <a:ea typeface="Open Sans"/>
                <a:cs typeface="Open Sans"/>
                <a:sym typeface="Open Sans"/>
              </a:rPr>
              <a:t>Guided Practice: </a:t>
            </a:r>
            <a:endParaRPr sz="1400" b="0" i="0" u="none" strike="noStrike" cap="none">
              <a:solidFill>
                <a:schemeClr val="lt1"/>
              </a:solidFill>
              <a:latin typeface="Arial"/>
              <a:ea typeface="Arial"/>
              <a:cs typeface="Arial"/>
              <a:sym typeface="Arial"/>
            </a:endParaRPr>
          </a:p>
        </p:txBody>
      </p:sp>
      <p:sp>
        <p:nvSpPr>
          <p:cNvPr id="147" name="Google Shape;147;p49"/>
          <p:cNvSpPr txBox="1"/>
          <p:nvPr/>
        </p:nvSpPr>
        <p:spPr>
          <a:xfrm>
            <a:off x="12012930" y="1793876"/>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Duration:</a:t>
            </a:r>
            <a:endParaRPr/>
          </a:p>
        </p:txBody>
      </p:sp>
      <p:sp>
        <p:nvSpPr>
          <p:cNvPr id="148" name="Google Shape;148;p49"/>
          <p:cNvSpPr txBox="1"/>
          <p:nvPr/>
        </p:nvSpPr>
        <p:spPr>
          <a:xfrm>
            <a:off x="13803630" y="1791495"/>
            <a:ext cx="1469708"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minutes</a:t>
            </a:r>
            <a:endParaRPr/>
          </a:p>
        </p:txBody>
      </p:sp>
      <p:sp>
        <p:nvSpPr>
          <p:cNvPr id="149" name="Google Shape;149;p49"/>
          <p:cNvSpPr txBox="1">
            <a:spLocks noGrp="1"/>
          </p:cNvSpPr>
          <p:nvPr>
            <p:ph type="body" idx="1"/>
          </p:nvPr>
        </p:nvSpPr>
        <p:spPr>
          <a:xfrm>
            <a:off x="13416914" y="1793560"/>
            <a:ext cx="565786" cy="57467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b="1">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0" name="Google Shape;150;p49"/>
          <p:cNvPicPr preferRelativeResize="0"/>
          <p:nvPr/>
        </p:nvPicPr>
        <p:blipFill rotWithShape="1">
          <a:blip r:embed="rId3">
            <a:alphaModFix/>
          </a:blip>
          <a:srcRect/>
          <a:stretch/>
        </p:blipFill>
        <p:spPr>
          <a:xfrm>
            <a:off x="12143668" y="361348"/>
            <a:ext cx="2799674" cy="1218952"/>
          </a:xfrm>
          <a:prstGeom prst="rect">
            <a:avLst/>
          </a:prstGeom>
          <a:noFill/>
          <a:ln>
            <a:noFill/>
          </a:ln>
        </p:spPr>
      </p:pic>
      <p:sp>
        <p:nvSpPr>
          <p:cNvPr id="151" name="Google Shape;151;p49"/>
          <p:cNvSpPr txBox="1">
            <a:spLocks noGrp="1"/>
          </p:cNvSpPr>
          <p:nvPr>
            <p:ph type="body" idx="2"/>
          </p:nvPr>
        </p:nvSpPr>
        <p:spPr>
          <a:xfrm>
            <a:off x="1291857" y="2370300"/>
            <a:ext cx="13696999" cy="58735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49"/>
          <p:cNvSpPr txBox="1"/>
          <p:nvPr/>
        </p:nvSpPr>
        <p:spPr>
          <a:xfrm>
            <a:off x="1291857" y="1790702"/>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Overview</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se_Study">
  <p:cSld name="Case_Study">
    <p:spTree>
      <p:nvGrpSpPr>
        <p:cNvPr id="1" name="Shape 153"/>
        <p:cNvGrpSpPr/>
        <p:nvPr/>
      </p:nvGrpSpPr>
      <p:grpSpPr>
        <a:xfrm>
          <a:off x="0" y="0"/>
          <a:ext cx="0" cy="0"/>
          <a:chOff x="0" y="0"/>
          <a:chExt cx="0" cy="0"/>
        </a:xfrm>
      </p:grpSpPr>
      <p:pic>
        <p:nvPicPr>
          <p:cNvPr id="154" name="Google Shape;154;p50" descr="A blue and white rectangl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155" name="Google Shape;155;p50"/>
          <p:cNvSpPr txBox="1">
            <a:spLocks noGrp="1"/>
          </p:cNvSpPr>
          <p:nvPr>
            <p:ph type="title"/>
          </p:nvPr>
        </p:nvSpPr>
        <p:spPr>
          <a:xfrm>
            <a:off x="3215641" y="349071"/>
            <a:ext cx="9637098" cy="1137649"/>
          </a:xfrm>
          <a:prstGeom prst="rect">
            <a:avLst/>
          </a:prstGeom>
          <a:noFill/>
          <a:ln>
            <a:noFill/>
          </a:ln>
        </p:spPr>
        <p:txBody>
          <a:bodyPr spcFirstLastPara="1" wrap="square" lIns="91425" tIns="108000" rIns="91425" bIns="45700" anchor="t" anchorCtr="0">
            <a:sp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50"/>
          <p:cNvSpPr txBox="1">
            <a:spLocks noGrp="1"/>
          </p:cNvSpPr>
          <p:nvPr>
            <p:ph type="body" idx="1"/>
          </p:nvPr>
        </p:nvSpPr>
        <p:spPr>
          <a:xfrm>
            <a:off x="1291857" y="2370300"/>
            <a:ext cx="13696999" cy="58735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50"/>
          <p:cNvSpPr/>
          <p:nvPr/>
        </p:nvSpPr>
        <p:spPr>
          <a:xfrm>
            <a:off x="1113034" y="420003"/>
            <a:ext cx="222525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lt1"/>
                </a:solidFill>
                <a:latin typeface="Open Sans"/>
                <a:ea typeface="Open Sans"/>
                <a:cs typeface="Open Sans"/>
                <a:sym typeface="Open Sans"/>
              </a:rPr>
              <a:t>Case Study:</a:t>
            </a:r>
            <a:endParaRPr sz="1400" b="0" i="0" u="none" strike="noStrike" cap="none">
              <a:solidFill>
                <a:schemeClr val="lt1"/>
              </a:solidFill>
              <a:latin typeface="Arial"/>
              <a:ea typeface="Arial"/>
              <a:cs typeface="Arial"/>
              <a:sym typeface="Arial"/>
            </a:endParaRPr>
          </a:p>
        </p:txBody>
      </p:sp>
      <p:pic>
        <p:nvPicPr>
          <p:cNvPr id="158" name="Google Shape;158;p50"/>
          <p:cNvPicPr preferRelativeResize="0"/>
          <p:nvPr/>
        </p:nvPicPr>
        <p:blipFill rotWithShape="1">
          <a:blip r:embed="rId3">
            <a:alphaModFix/>
          </a:blip>
          <a:srcRect/>
          <a:stretch/>
        </p:blipFill>
        <p:spPr>
          <a:xfrm>
            <a:off x="12852739" y="0"/>
            <a:ext cx="1751423" cy="16247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se_Study_Continue ">
  <p:cSld name="Case_Study_Continue ">
    <p:spTree>
      <p:nvGrpSpPr>
        <p:cNvPr id="1" name="Shape 159"/>
        <p:cNvGrpSpPr/>
        <p:nvPr/>
      </p:nvGrpSpPr>
      <p:grpSpPr>
        <a:xfrm>
          <a:off x="0" y="0"/>
          <a:ext cx="0" cy="0"/>
          <a:chOff x="0" y="0"/>
          <a:chExt cx="0" cy="0"/>
        </a:xfrm>
      </p:grpSpPr>
      <p:pic>
        <p:nvPicPr>
          <p:cNvPr id="160" name="Google Shape;160;p51"/>
          <p:cNvPicPr preferRelativeResize="0"/>
          <p:nvPr/>
        </p:nvPicPr>
        <p:blipFill rotWithShape="1">
          <a:blip r:embed="rId2">
            <a:alphaModFix/>
          </a:blip>
          <a:srcRect r="9921"/>
          <a:stretch/>
        </p:blipFill>
        <p:spPr>
          <a:xfrm>
            <a:off x="1" y="0"/>
            <a:ext cx="14643100" cy="9143999"/>
          </a:xfrm>
          <a:prstGeom prst="rect">
            <a:avLst/>
          </a:prstGeom>
          <a:noFill/>
          <a:ln>
            <a:noFill/>
          </a:ln>
        </p:spPr>
      </p:pic>
      <p:sp>
        <p:nvSpPr>
          <p:cNvPr id="161" name="Google Shape;161;p51"/>
          <p:cNvSpPr txBox="1">
            <a:spLocks noGrp="1"/>
          </p:cNvSpPr>
          <p:nvPr>
            <p:ph type="body" idx="1"/>
          </p:nvPr>
        </p:nvSpPr>
        <p:spPr>
          <a:xfrm>
            <a:off x="1291857" y="827088"/>
            <a:ext cx="13696999" cy="748982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62" name="Google Shape;162;p51" descr="A blue and white rectangle&#10;&#10;Description automatically generated"/>
          <p:cNvPicPr preferRelativeResize="0"/>
          <p:nvPr/>
        </p:nvPicPr>
        <p:blipFill rotWithShape="1">
          <a:blip r:embed="rId3">
            <a:alphaModFix/>
          </a:blip>
          <a:srcRect l="94336"/>
          <a:stretch/>
        </p:blipFill>
        <p:spPr>
          <a:xfrm>
            <a:off x="15335250" y="0"/>
            <a:ext cx="920750" cy="9144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scussion">
  <p:cSld name="Discussion">
    <p:spTree>
      <p:nvGrpSpPr>
        <p:cNvPr id="1" name="Shape 163"/>
        <p:cNvGrpSpPr/>
        <p:nvPr/>
      </p:nvGrpSpPr>
      <p:grpSpPr>
        <a:xfrm>
          <a:off x="0" y="0"/>
          <a:ext cx="0" cy="0"/>
          <a:chOff x="0" y="0"/>
          <a:chExt cx="0" cy="0"/>
        </a:xfrm>
      </p:grpSpPr>
      <p:pic>
        <p:nvPicPr>
          <p:cNvPr id="164" name="Google Shape;164;p52" descr="A blue and white rectangl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165" name="Google Shape;165;p52"/>
          <p:cNvSpPr txBox="1">
            <a:spLocks noGrp="1"/>
          </p:cNvSpPr>
          <p:nvPr>
            <p:ph type="title"/>
          </p:nvPr>
        </p:nvSpPr>
        <p:spPr>
          <a:xfrm>
            <a:off x="3215641" y="349071"/>
            <a:ext cx="9789160" cy="1137649"/>
          </a:xfrm>
          <a:prstGeom prst="rect">
            <a:avLst/>
          </a:prstGeom>
          <a:noFill/>
          <a:ln>
            <a:noFill/>
          </a:ln>
        </p:spPr>
        <p:txBody>
          <a:bodyPr spcFirstLastPara="1" wrap="square" lIns="91425" tIns="108000" rIns="91425" bIns="45700" anchor="t" anchorCtr="0">
            <a:sp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52"/>
          <p:cNvSpPr txBox="1">
            <a:spLocks noGrp="1"/>
          </p:cNvSpPr>
          <p:nvPr>
            <p:ph type="body" idx="1"/>
          </p:nvPr>
        </p:nvSpPr>
        <p:spPr>
          <a:xfrm>
            <a:off x="1291857" y="2370300"/>
            <a:ext cx="13696999" cy="58735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52"/>
          <p:cNvSpPr/>
          <p:nvPr/>
        </p:nvSpPr>
        <p:spPr>
          <a:xfrm>
            <a:off x="1113034" y="420003"/>
            <a:ext cx="222525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lt1"/>
                </a:solidFill>
                <a:latin typeface="Open Sans"/>
                <a:ea typeface="Open Sans"/>
                <a:cs typeface="Open Sans"/>
                <a:sym typeface="Open Sans"/>
              </a:rPr>
              <a:t>Discussion:</a:t>
            </a:r>
            <a:endParaRPr/>
          </a:p>
        </p:txBody>
      </p:sp>
      <p:sp>
        <p:nvSpPr>
          <p:cNvPr id="168" name="Google Shape;168;p52"/>
          <p:cNvSpPr txBox="1"/>
          <p:nvPr/>
        </p:nvSpPr>
        <p:spPr>
          <a:xfrm>
            <a:off x="12012930" y="1793876"/>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Duration:</a:t>
            </a:r>
            <a:endParaRPr/>
          </a:p>
        </p:txBody>
      </p:sp>
      <p:sp>
        <p:nvSpPr>
          <p:cNvPr id="169" name="Google Shape;169;p52"/>
          <p:cNvSpPr txBox="1"/>
          <p:nvPr/>
        </p:nvSpPr>
        <p:spPr>
          <a:xfrm>
            <a:off x="13803630" y="1791495"/>
            <a:ext cx="1469708"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minutes</a:t>
            </a:r>
            <a:endParaRPr/>
          </a:p>
        </p:txBody>
      </p:sp>
      <p:sp>
        <p:nvSpPr>
          <p:cNvPr id="170" name="Google Shape;170;p52"/>
          <p:cNvSpPr txBox="1">
            <a:spLocks noGrp="1"/>
          </p:cNvSpPr>
          <p:nvPr>
            <p:ph type="body" idx="2"/>
          </p:nvPr>
        </p:nvSpPr>
        <p:spPr>
          <a:xfrm>
            <a:off x="13416914" y="1793560"/>
            <a:ext cx="565786" cy="57467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b="1">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71" name="Google Shape;171;p52" descr="A group of people sitting around a round table&#10;&#10;Description automatically generated"/>
          <p:cNvPicPr preferRelativeResize="0"/>
          <p:nvPr/>
        </p:nvPicPr>
        <p:blipFill rotWithShape="1">
          <a:blip r:embed="rId3">
            <a:alphaModFix/>
          </a:blip>
          <a:srcRect/>
          <a:stretch/>
        </p:blipFill>
        <p:spPr>
          <a:xfrm>
            <a:off x="13003749" y="63409"/>
            <a:ext cx="1510862" cy="155395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ractice_Project">
  <p:cSld name="Practice_Project">
    <p:spTree>
      <p:nvGrpSpPr>
        <p:cNvPr id="1" name="Shape 172"/>
        <p:cNvGrpSpPr/>
        <p:nvPr/>
      </p:nvGrpSpPr>
      <p:grpSpPr>
        <a:xfrm>
          <a:off x="0" y="0"/>
          <a:ext cx="0" cy="0"/>
          <a:chOff x="0" y="0"/>
          <a:chExt cx="0" cy="0"/>
        </a:xfrm>
      </p:grpSpPr>
      <p:pic>
        <p:nvPicPr>
          <p:cNvPr id="173" name="Google Shape;173;p53" descr="A blue and white rectangle&#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sp>
        <p:nvSpPr>
          <p:cNvPr id="174" name="Google Shape;174;p53"/>
          <p:cNvSpPr txBox="1">
            <a:spLocks noGrp="1"/>
          </p:cNvSpPr>
          <p:nvPr>
            <p:ph type="title"/>
          </p:nvPr>
        </p:nvSpPr>
        <p:spPr>
          <a:xfrm>
            <a:off x="4118313" y="349071"/>
            <a:ext cx="8886487" cy="1137649"/>
          </a:xfrm>
          <a:prstGeom prst="rect">
            <a:avLst/>
          </a:prstGeom>
          <a:noFill/>
          <a:ln>
            <a:noFill/>
          </a:ln>
        </p:spPr>
        <p:txBody>
          <a:bodyPr spcFirstLastPara="1" wrap="square" lIns="91425" tIns="108000" rIns="91425" bIns="45700" anchor="t" anchorCtr="0">
            <a:sp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53"/>
          <p:cNvSpPr/>
          <p:nvPr/>
        </p:nvSpPr>
        <p:spPr>
          <a:xfrm>
            <a:off x="1113034" y="420003"/>
            <a:ext cx="313072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lt1"/>
                </a:solidFill>
                <a:latin typeface="Open Sans"/>
                <a:ea typeface="Open Sans"/>
                <a:cs typeface="Open Sans"/>
                <a:sym typeface="Open Sans"/>
              </a:rPr>
              <a:t>Practice Project:</a:t>
            </a:r>
            <a:endParaRPr/>
          </a:p>
        </p:txBody>
      </p:sp>
      <p:sp>
        <p:nvSpPr>
          <p:cNvPr id="176" name="Google Shape;176;p53"/>
          <p:cNvSpPr txBox="1"/>
          <p:nvPr/>
        </p:nvSpPr>
        <p:spPr>
          <a:xfrm>
            <a:off x="12012930" y="1793876"/>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Duration:</a:t>
            </a:r>
            <a:endParaRPr/>
          </a:p>
        </p:txBody>
      </p:sp>
      <p:sp>
        <p:nvSpPr>
          <p:cNvPr id="177" name="Google Shape;177;p53"/>
          <p:cNvSpPr txBox="1"/>
          <p:nvPr/>
        </p:nvSpPr>
        <p:spPr>
          <a:xfrm>
            <a:off x="13803630" y="1791495"/>
            <a:ext cx="1469708"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minutes</a:t>
            </a:r>
            <a:endParaRPr/>
          </a:p>
        </p:txBody>
      </p:sp>
      <p:sp>
        <p:nvSpPr>
          <p:cNvPr id="178" name="Google Shape;178;p53"/>
          <p:cNvSpPr txBox="1">
            <a:spLocks noGrp="1"/>
          </p:cNvSpPr>
          <p:nvPr>
            <p:ph type="body" idx="1"/>
          </p:nvPr>
        </p:nvSpPr>
        <p:spPr>
          <a:xfrm>
            <a:off x="13416914" y="1793560"/>
            <a:ext cx="565786" cy="57467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b="1">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79" name="Google Shape;179;p53" descr="A person sitting at a desk writing on a paper&#10;&#10;Description automatically generated"/>
          <p:cNvPicPr preferRelativeResize="0"/>
          <p:nvPr/>
        </p:nvPicPr>
        <p:blipFill rotWithShape="1">
          <a:blip r:embed="rId3">
            <a:alphaModFix/>
          </a:blip>
          <a:srcRect b="11968"/>
          <a:stretch/>
        </p:blipFill>
        <p:spPr>
          <a:xfrm>
            <a:off x="13224123" y="17060"/>
            <a:ext cx="1542801" cy="1605365"/>
          </a:xfrm>
          <a:prstGeom prst="rect">
            <a:avLst/>
          </a:prstGeom>
          <a:noFill/>
          <a:ln>
            <a:noFill/>
          </a:ln>
        </p:spPr>
      </p:pic>
      <p:sp>
        <p:nvSpPr>
          <p:cNvPr id="180" name="Google Shape;180;p53"/>
          <p:cNvSpPr txBox="1">
            <a:spLocks noGrp="1"/>
          </p:cNvSpPr>
          <p:nvPr>
            <p:ph type="body" idx="2"/>
          </p:nvPr>
        </p:nvSpPr>
        <p:spPr>
          <a:xfrm>
            <a:off x="1291857" y="2370300"/>
            <a:ext cx="13696999" cy="58735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53"/>
          <p:cNvSpPr txBox="1"/>
          <p:nvPr/>
        </p:nvSpPr>
        <p:spPr>
          <a:xfrm>
            <a:off x="1291857" y="1790702"/>
            <a:ext cx="1560195" cy="571501"/>
          </a:xfrm>
          <a:prstGeom prst="rect">
            <a:avLst/>
          </a:prstGeom>
          <a:noFill/>
          <a:ln>
            <a:noFill/>
          </a:ln>
        </p:spPr>
        <p:txBody>
          <a:bodyPr spcFirstLastPara="1" wrap="square" lIns="91425" tIns="45700" rIns="91425" bIns="45700" anchor="t" anchorCtr="0">
            <a:normAutofit/>
          </a:bodyPr>
          <a:lstStyle/>
          <a:p>
            <a:pPr marL="0" marR="0" lvl="0" indent="0" algn="l" rtl="0">
              <a:lnSpc>
                <a:spcPct val="114000"/>
              </a:lnSpc>
              <a:spcBef>
                <a:spcPts val="0"/>
              </a:spcBef>
              <a:spcAft>
                <a:spcPts val="0"/>
              </a:spcAft>
              <a:buClr>
                <a:srgbClr val="3F3F3F"/>
              </a:buClr>
              <a:buSzPts val="2200"/>
              <a:buFont typeface="Arial"/>
              <a:buNone/>
            </a:pPr>
            <a:r>
              <a:rPr lang="en-US" sz="2200" b="1">
                <a:solidFill>
                  <a:srgbClr val="3F3F3F"/>
                </a:solidFill>
                <a:latin typeface="Open Sans"/>
                <a:ea typeface="Open Sans"/>
                <a:cs typeface="Open Sans"/>
                <a:sym typeface="Open Sans"/>
              </a:rPr>
              <a:t>Overview</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End Project">
  <p:cSld name="Additional_Resources">
    <p:spTree>
      <p:nvGrpSpPr>
        <p:cNvPr id="1" name="Shape 182"/>
        <p:cNvGrpSpPr/>
        <p:nvPr/>
      </p:nvGrpSpPr>
      <p:grpSpPr>
        <a:xfrm>
          <a:off x="0" y="0"/>
          <a:ext cx="0" cy="0"/>
          <a:chOff x="0" y="0"/>
          <a:chExt cx="0" cy="0"/>
        </a:xfrm>
      </p:grpSpPr>
      <p:pic>
        <p:nvPicPr>
          <p:cNvPr id="183" name="Google Shape;183;p54" descr="A white rectangular object with black border&#10;&#10;Description automatically generated"/>
          <p:cNvPicPr preferRelativeResize="0"/>
          <p:nvPr/>
        </p:nvPicPr>
        <p:blipFill rotWithShape="1">
          <a:blip r:embed="rId2">
            <a:alphaModFix/>
          </a:blip>
          <a:srcRect/>
          <a:stretch/>
        </p:blipFill>
        <p:spPr>
          <a:xfrm>
            <a:off x="1465942" y="319314"/>
            <a:ext cx="14643100" cy="8236744"/>
          </a:xfrm>
          <a:prstGeom prst="rect">
            <a:avLst/>
          </a:prstGeom>
          <a:noFill/>
          <a:ln>
            <a:noFill/>
          </a:ln>
        </p:spPr>
      </p:pic>
      <p:sp>
        <p:nvSpPr>
          <p:cNvPr id="184" name="Google Shape;184;p54"/>
          <p:cNvSpPr txBox="1">
            <a:spLocks noGrp="1"/>
          </p:cNvSpPr>
          <p:nvPr>
            <p:ph type="body" idx="1"/>
          </p:nvPr>
        </p:nvSpPr>
        <p:spPr>
          <a:xfrm>
            <a:off x="5321516" y="1524433"/>
            <a:ext cx="9815068" cy="5827343"/>
          </a:xfrm>
          <a:prstGeom prst="rect">
            <a:avLst/>
          </a:prstGeom>
          <a:noFill/>
          <a:ln>
            <a:noFill/>
          </a:ln>
        </p:spPr>
        <p:txBody>
          <a:bodyPr spcFirstLastPara="1" wrap="square" lIns="91425" tIns="45700" rIns="91425" bIns="45700" anchor="t" anchorCtr="0">
            <a:normAutofit/>
          </a:bodyPr>
          <a:lstStyle>
            <a:lvl1pPr marL="457200" lvl="0" indent="-368300" algn="l">
              <a:lnSpc>
                <a:spcPct val="114000"/>
              </a:lnSpc>
              <a:spcBef>
                <a:spcPts val="1000"/>
              </a:spcBef>
              <a:spcAft>
                <a:spcPts val="0"/>
              </a:spcAft>
              <a:buClr>
                <a:srgbClr val="3F3F3F"/>
              </a:buClr>
              <a:buSzPts val="2200"/>
              <a:buFont typeface="Arial"/>
              <a:buChar char="•"/>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54"/>
          <p:cNvSpPr/>
          <p:nvPr/>
        </p:nvSpPr>
        <p:spPr>
          <a:xfrm>
            <a:off x="5929497" y="267970"/>
            <a:ext cx="4397007" cy="52318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Additional Resources</a:t>
            </a:r>
            <a:endParaRPr sz="1400" b="0" i="0" u="none" strike="noStrike" cap="none">
              <a:solidFill>
                <a:srgbClr val="3F3F3F"/>
              </a:solidFill>
              <a:latin typeface="Arial"/>
              <a:ea typeface="Arial"/>
              <a:cs typeface="Arial"/>
              <a:sym typeface="Arial"/>
            </a:endParaRPr>
          </a:p>
        </p:txBody>
      </p:sp>
      <p:pic>
        <p:nvPicPr>
          <p:cNvPr id="186" name="Google Shape;186;p54"/>
          <p:cNvPicPr preferRelativeResize="0"/>
          <p:nvPr/>
        </p:nvPicPr>
        <p:blipFill rotWithShape="1">
          <a:blip r:embed="rId3">
            <a:alphaModFix/>
          </a:blip>
          <a:srcRect l="11007"/>
          <a:stretch/>
        </p:blipFill>
        <p:spPr>
          <a:xfrm>
            <a:off x="0" y="3210260"/>
            <a:ext cx="4741223" cy="2418192"/>
          </a:xfrm>
          <a:prstGeom prst="rect">
            <a:avLst/>
          </a:prstGeom>
          <a:noFill/>
          <a:ln>
            <a:noFill/>
          </a:ln>
        </p:spPr>
      </p:pic>
      <p:sp>
        <p:nvSpPr>
          <p:cNvPr id="187" name="Google Shape;187;p54"/>
          <p:cNvSpPr/>
          <p:nvPr/>
        </p:nvSpPr>
        <p:spPr>
          <a:xfrm>
            <a:off x="5803900" y="816324"/>
            <a:ext cx="4666378"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hat Next?">
  <p:cSld name="What_Next?">
    <p:spTree>
      <p:nvGrpSpPr>
        <p:cNvPr id="1" name="Shape 188"/>
        <p:cNvGrpSpPr/>
        <p:nvPr/>
      </p:nvGrpSpPr>
      <p:grpSpPr>
        <a:xfrm>
          <a:off x="0" y="0"/>
          <a:ext cx="0" cy="0"/>
          <a:chOff x="0" y="0"/>
          <a:chExt cx="0" cy="0"/>
        </a:xfrm>
      </p:grpSpPr>
      <p:pic>
        <p:nvPicPr>
          <p:cNvPr id="189" name="Google Shape;189;p55"/>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90" name="Google Shape;190;p55"/>
          <p:cNvSpPr/>
          <p:nvPr/>
        </p:nvSpPr>
        <p:spPr>
          <a:xfrm>
            <a:off x="5718038" y="318215"/>
            <a:ext cx="4819925" cy="430887"/>
          </a:xfrm>
          <a:prstGeom prst="rect">
            <a:avLst/>
          </a:prstGeom>
          <a:noFill/>
          <a:ln>
            <a:noFill/>
          </a:ln>
        </p:spPr>
        <p:txBody>
          <a:bodyPr spcFirstLastPara="1" wrap="square" lIns="91425" tIns="0" rIns="91425" bIns="0" anchor="t" anchorCtr="0">
            <a:spAutoFit/>
          </a:bodyPr>
          <a:lstStyle/>
          <a:p>
            <a:pPr marL="0" marR="0" lvl="0" indent="0" algn="ctr" rtl="0">
              <a:spcBef>
                <a:spcPts val="0"/>
              </a:spcBef>
              <a:spcAft>
                <a:spcPts val="0"/>
              </a:spcAft>
              <a:buClr>
                <a:srgbClr val="3F3F3F"/>
              </a:buClr>
              <a:buSzPts val="2800"/>
              <a:buFont typeface="Open Sans"/>
              <a:buNone/>
            </a:pPr>
            <a:r>
              <a:rPr lang="en-US" sz="2800" b="1">
                <a:solidFill>
                  <a:srgbClr val="3F3F3F"/>
                </a:solidFill>
                <a:latin typeface="Open Sans"/>
                <a:ea typeface="Open Sans"/>
                <a:cs typeface="Open Sans"/>
                <a:sym typeface="Open Sans"/>
              </a:rPr>
              <a:t>What’s Next?</a:t>
            </a:r>
            <a:endParaRPr sz="2800" b="1">
              <a:solidFill>
                <a:srgbClr val="3F3F3F"/>
              </a:solidFill>
              <a:latin typeface="Open Sans"/>
              <a:ea typeface="Open Sans"/>
              <a:cs typeface="Open Sans"/>
              <a:sym typeface="Open Sans"/>
            </a:endParaRPr>
          </a:p>
        </p:txBody>
      </p:sp>
      <p:sp>
        <p:nvSpPr>
          <p:cNvPr id="191" name="Google Shape;191;p55"/>
          <p:cNvSpPr txBox="1">
            <a:spLocks noGrp="1"/>
          </p:cNvSpPr>
          <p:nvPr>
            <p:ph type="body" idx="1"/>
          </p:nvPr>
        </p:nvSpPr>
        <p:spPr>
          <a:xfrm>
            <a:off x="655084" y="1364776"/>
            <a:ext cx="8439490"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sz="2200">
                <a:solidFill>
                  <a:srgbClr val="3F3F3F"/>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55"/>
          <p:cNvSpPr/>
          <p:nvPr/>
        </p:nvSpPr>
        <p:spPr>
          <a:xfrm>
            <a:off x="6692900" y="816324"/>
            <a:ext cx="2887980"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urse_Name">
    <p:spTree>
      <p:nvGrpSpPr>
        <p:cNvPr id="1" name=""/>
        <p:cNvGrpSpPr/>
        <p:nvPr/>
      </p:nvGrpSpPr>
      <p:grpSpPr>
        <a:xfrm>
          <a:off x="0" y="0"/>
          <a:ext cx="0" cy="0"/>
          <a:chOff x="0" y="0"/>
          <a:chExt cx="0" cy="0"/>
        </a:xfrm>
      </p:grpSpPr>
      <p:pic>
        <p:nvPicPr>
          <p:cNvPr id="3" name="Picture 2" descr="A person standing next to a computer&#10;&#10;Description automatically generated">
            <a:extLst>
              <a:ext uri="{FF2B5EF4-FFF2-40B4-BE49-F238E27FC236}">
                <a16:creationId xmlns:a16="http://schemas.microsoft.com/office/drawing/2014/main" id="{D7E5C575-8255-8250-7D4D-2BD5FDAA98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2" name="Google Shape;24;p23">
            <a:extLst>
              <a:ext uri="{FF2B5EF4-FFF2-40B4-BE49-F238E27FC236}">
                <a16:creationId xmlns:a16="http://schemas.microsoft.com/office/drawing/2014/main" id="{83442771-4945-4956-FDAB-A1D7685C7D38}"/>
              </a:ext>
            </a:extLst>
          </p:cNvPr>
          <p:cNvSpPr txBox="1">
            <a:spLocks noGrp="1"/>
          </p:cNvSpPr>
          <p:nvPr>
            <p:ph type="body" idx="10" hasCustomPrompt="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Course Name</a:t>
            </a:r>
          </a:p>
        </p:txBody>
      </p:sp>
    </p:spTree>
    <p:custDataLst>
      <p:tags r:id="rId1"/>
    </p:custDataLst>
    <p:extLst>
      <p:ext uri="{BB962C8B-B14F-4D97-AF65-F5344CB8AC3E}">
        <p14:creationId xmlns:p14="http://schemas.microsoft.com/office/powerpoint/2010/main" val="2372946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opic Name" userDrawn="1">
  <p:cSld name="1_Topic Name">
    <p:spTree>
      <p:nvGrpSpPr>
        <p:cNvPr id="1" name="Shape 54"/>
        <p:cNvGrpSpPr/>
        <p:nvPr/>
      </p:nvGrpSpPr>
      <p:grpSpPr>
        <a:xfrm>
          <a:off x="0" y="0"/>
          <a:ext cx="0" cy="0"/>
          <a:chOff x="0" y="0"/>
          <a:chExt cx="0" cy="0"/>
        </a:xfrm>
      </p:grpSpPr>
      <p:pic>
        <p:nvPicPr>
          <p:cNvPr id="55" name="Google Shape;55;p28"/>
          <p:cNvPicPr preferRelativeResize="0"/>
          <p:nvPr/>
        </p:nvPicPr>
        <p:blipFill>
          <a:blip r:embed="rId3"/>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hasCustomPrompt="1"/>
          </p:nvPr>
        </p:nvSpPr>
        <p:spPr>
          <a:xfrm>
            <a:off x="0" y="4114800"/>
            <a:ext cx="16256001"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None/>
              <a:defRPr sz="2800" b="1" i="0" u="none" strike="noStrike" cap="none">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t>Topic Name</a:t>
            </a:r>
          </a:p>
        </p:txBody>
      </p:sp>
    </p:spTree>
    <p:custDataLst>
      <p:tags r:id="rId1"/>
    </p:custDataLst>
    <p:extLst>
      <p:ext uri="{BB962C8B-B14F-4D97-AF65-F5344CB8AC3E}">
        <p14:creationId xmlns:p14="http://schemas.microsoft.com/office/powerpoint/2010/main" val="1004841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0F5ED46C-11D8-2D8F-BEFB-825B4369FE4C}"/>
              </a:ext>
            </a:extLst>
          </p:cNvPr>
          <p:cNvPicPr preferRelativeResize="0"/>
          <p:nvPr userDrawn="1"/>
        </p:nvPicPr>
        <p:blipFill>
          <a:blip r:embed="rId3"/>
          <a:srcRect/>
          <a:stretch/>
        </p:blipFill>
        <p:spPr>
          <a:xfrm>
            <a:off x="0" y="0"/>
            <a:ext cx="16255999" cy="9143999"/>
          </a:xfrm>
          <a:prstGeom prst="rect">
            <a:avLst/>
          </a:prstGeom>
          <a:noFill/>
          <a:ln>
            <a:noFill/>
          </a:ln>
        </p:spPr>
      </p:pic>
      <p:sp>
        <p:nvSpPr>
          <p:cNvPr id="5" name="Google Shape;29;p24">
            <a:extLst>
              <a:ext uri="{FF2B5EF4-FFF2-40B4-BE49-F238E27FC236}">
                <a16:creationId xmlns:a16="http://schemas.microsoft.com/office/drawing/2014/main" id="{4A13B598-5745-EF2B-5AE3-0591A7E8A72A}"/>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chemeClr val="tx1">
                    <a:lumMod val="75000"/>
                    <a:lumOff val="25000"/>
                  </a:schemeClr>
                </a:solidFill>
                <a:latin typeface="Open Sans"/>
                <a:ea typeface="Open Sans"/>
                <a:cs typeface="Open Sans"/>
              </a:defRPr>
            </a:lvl1pPr>
          </a:lstStyle>
          <a:p>
            <a:pPr marL="342900" lvl="0" indent="-342900" algn="ctr">
              <a:lnSpc>
                <a:spcPct val="115000"/>
              </a:lnSpc>
            </a:pPr>
            <a:endParaRPr dirty="0"/>
          </a:p>
        </p:txBody>
      </p:sp>
      <p:sp>
        <p:nvSpPr>
          <p:cNvPr id="6" name="Google Shape;73;p29">
            <a:extLst>
              <a:ext uri="{FF2B5EF4-FFF2-40B4-BE49-F238E27FC236}">
                <a16:creationId xmlns:a16="http://schemas.microsoft.com/office/drawing/2014/main" id="{C2FA2F99-9CB8-84EA-B726-2DBA52196A0B}"/>
              </a:ext>
            </a:extLst>
          </p:cNvPr>
          <p:cNvSpPr txBox="1">
            <a:spLocks noGrp="1"/>
          </p:cNvSpPr>
          <p:nvPr>
            <p:ph type="body" idx="10" hasCustomPrompt="1"/>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r>
              <a:rPr dirty="0"/>
              <a:t>Click to add lead-in line</a:t>
            </a:r>
          </a:p>
        </p:txBody>
      </p:sp>
      <p:sp>
        <p:nvSpPr>
          <p:cNvPr id="7" name="Google Shape;62;p29">
            <a:extLst>
              <a:ext uri="{FF2B5EF4-FFF2-40B4-BE49-F238E27FC236}">
                <a16:creationId xmlns:a16="http://schemas.microsoft.com/office/drawing/2014/main" id="{CDD684E7-2B8A-4EAC-6675-136E4F9D247D}"/>
              </a:ext>
            </a:extLst>
          </p:cNvPr>
          <p:cNvSpPr txBox="1">
            <a:spLocks noGrp="1"/>
          </p:cNvSpPr>
          <p:nvPr>
            <p:ph type="title" hasCustomPrompt="1"/>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dirty="0"/>
              <a:t>Click to Add Title</a:t>
            </a:r>
            <a:endParaRPr dirty="0"/>
          </a:p>
        </p:txBody>
      </p:sp>
      <p:grpSp>
        <p:nvGrpSpPr>
          <p:cNvPr id="2" name="Group 1">
            <a:extLst>
              <a:ext uri="{FF2B5EF4-FFF2-40B4-BE49-F238E27FC236}">
                <a16:creationId xmlns:a16="http://schemas.microsoft.com/office/drawing/2014/main" id="{4EE55269-2248-2EC9-263A-1F332F567456}"/>
              </a:ext>
            </a:extLst>
          </p:cNvPr>
          <p:cNvGrpSpPr/>
          <p:nvPr userDrawn="1"/>
        </p:nvGrpSpPr>
        <p:grpSpPr>
          <a:xfrm>
            <a:off x="16347956" y="0"/>
            <a:ext cx="1025643" cy="9148127"/>
            <a:chOff x="16347956" y="0"/>
            <a:chExt cx="1025643" cy="9148127"/>
          </a:xfrm>
        </p:grpSpPr>
        <p:sp>
          <p:nvSpPr>
            <p:cNvPr id="8" name="Rectangle 7">
              <a:extLst>
                <a:ext uri="{FF2B5EF4-FFF2-40B4-BE49-F238E27FC236}">
                  <a16:creationId xmlns:a16="http://schemas.microsoft.com/office/drawing/2014/main" id="{C0B04451-5C80-D10E-B9B8-EABCB863C884}"/>
                </a:ext>
              </a:extLst>
            </p:cNvPr>
            <p:cNvSpPr/>
            <p:nvPr/>
          </p:nvSpPr>
          <p:spPr>
            <a:xfrm rot="5400000">
              <a:off x="16136544" y="211412"/>
              <a:ext cx="899312" cy="476488"/>
            </a:xfrm>
            <a:prstGeom prst="rect">
              <a:avLst/>
            </a:prstGeom>
            <a:solidFill>
              <a:srgbClr val="D789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angle 8">
              <a:extLst>
                <a:ext uri="{FF2B5EF4-FFF2-40B4-BE49-F238E27FC236}">
                  <a16:creationId xmlns:a16="http://schemas.microsoft.com/office/drawing/2014/main" id="{6C0D418E-415E-6F4B-C9D1-C64F5233B1CE}"/>
                </a:ext>
              </a:extLst>
            </p:cNvPr>
            <p:cNvSpPr/>
            <p:nvPr/>
          </p:nvSpPr>
          <p:spPr>
            <a:xfrm rot="5400000">
              <a:off x="16136544" y="1242516"/>
              <a:ext cx="899312" cy="476488"/>
            </a:xfrm>
            <a:prstGeom prst="rect">
              <a:avLst/>
            </a:prstGeom>
            <a:solidFill>
              <a:srgbClr val="5EA6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2E76FB03-CFBC-BDA3-589D-EF404D58B554}"/>
                </a:ext>
              </a:extLst>
            </p:cNvPr>
            <p:cNvSpPr/>
            <p:nvPr/>
          </p:nvSpPr>
          <p:spPr>
            <a:xfrm rot="5400000">
              <a:off x="16136544" y="2273619"/>
              <a:ext cx="899312" cy="476488"/>
            </a:xfrm>
            <a:prstGeom prst="rect">
              <a:avLst/>
            </a:prstGeom>
            <a:solidFill>
              <a:srgbClr val="A5A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65EA821C-AFD8-DB2A-4605-08DC6DCFB0C8}"/>
                </a:ext>
              </a:extLst>
            </p:cNvPr>
            <p:cNvSpPr/>
            <p:nvPr/>
          </p:nvSpPr>
          <p:spPr>
            <a:xfrm rot="5400000">
              <a:off x="16136544" y="3304719"/>
              <a:ext cx="899312" cy="476488"/>
            </a:xfrm>
            <a:prstGeom prst="rect">
              <a:avLst/>
            </a:prstGeom>
            <a:solidFill>
              <a:srgbClr val="4EB0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9B071E9D-8FD7-DD4A-21B0-305BEEE8AFE2}"/>
                </a:ext>
              </a:extLst>
            </p:cNvPr>
            <p:cNvSpPr/>
            <p:nvPr/>
          </p:nvSpPr>
          <p:spPr>
            <a:xfrm rot="5400000">
              <a:off x="16136544" y="4335823"/>
              <a:ext cx="899312" cy="476488"/>
            </a:xfrm>
            <a:prstGeom prst="rect">
              <a:avLst/>
            </a:prstGeom>
            <a:solidFill>
              <a:srgbClr val="848C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15844DA1-14C5-E781-8680-D58921E7C60B}"/>
                </a:ext>
              </a:extLst>
            </p:cNvPr>
            <p:cNvSpPr/>
            <p:nvPr/>
          </p:nvSpPr>
          <p:spPr>
            <a:xfrm rot="5400000">
              <a:off x="16136544" y="5366926"/>
              <a:ext cx="899312" cy="476488"/>
            </a:xfrm>
            <a:prstGeom prst="rect">
              <a:avLst/>
            </a:prstGeom>
            <a:solidFill>
              <a:srgbClr val="3EAD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B134F2FA-7F7A-E794-22A9-695393ADD71B}"/>
                </a:ext>
              </a:extLst>
            </p:cNvPr>
            <p:cNvSpPr/>
            <p:nvPr/>
          </p:nvSpPr>
          <p:spPr>
            <a:xfrm rot="5400000">
              <a:off x="16136544" y="6398026"/>
              <a:ext cx="899312" cy="476488"/>
            </a:xfrm>
            <a:prstGeom prst="rect">
              <a:avLst/>
            </a:prstGeom>
            <a:solidFill>
              <a:srgbClr val="DF9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ectangle 14">
              <a:extLst>
                <a:ext uri="{FF2B5EF4-FFF2-40B4-BE49-F238E27FC236}">
                  <a16:creationId xmlns:a16="http://schemas.microsoft.com/office/drawing/2014/main" id="{DFFD1254-9588-70B8-E0BB-EE04B4C59BE9}"/>
                </a:ext>
              </a:extLst>
            </p:cNvPr>
            <p:cNvSpPr/>
            <p:nvPr/>
          </p:nvSpPr>
          <p:spPr>
            <a:xfrm rot="5400000">
              <a:off x="16136544" y="7429130"/>
              <a:ext cx="899312" cy="476488"/>
            </a:xfrm>
            <a:prstGeom prst="rect">
              <a:avLst/>
            </a:prstGeom>
            <a:solidFill>
              <a:srgbClr val="BB7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 name="Group 15">
              <a:extLst>
                <a:ext uri="{FF2B5EF4-FFF2-40B4-BE49-F238E27FC236}">
                  <a16:creationId xmlns:a16="http://schemas.microsoft.com/office/drawing/2014/main" id="{B7512F9F-071F-362A-5D53-EF854E3D807E}"/>
                </a:ext>
              </a:extLst>
            </p:cNvPr>
            <p:cNvGrpSpPr/>
            <p:nvPr userDrawn="1"/>
          </p:nvGrpSpPr>
          <p:grpSpPr>
            <a:xfrm>
              <a:off x="16897111" y="10"/>
              <a:ext cx="476488" cy="9132267"/>
              <a:chOff x="16897111" y="10"/>
              <a:chExt cx="476488" cy="9179160"/>
            </a:xfrm>
          </p:grpSpPr>
          <p:sp>
            <p:nvSpPr>
              <p:cNvPr id="18" name="Rectangle 17">
                <a:extLst>
                  <a:ext uri="{FF2B5EF4-FFF2-40B4-BE49-F238E27FC236}">
                    <a16:creationId xmlns:a16="http://schemas.microsoft.com/office/drawing/2014/main" id="{B97D2AF2-9828-9A3B-B02A-1AE3FCC10F8F}"/>
                  </a:ext>
                </a:extLst>
              </p:cNvPr>
              <p:cNvSpPr/>
              <p:nvPr/>
            </p:nvSpPr>
            <p:spPr>
              <a:xfrm rot="5400000">
                <a:off x="16685699" y="211422"/>
                <a:ext cx="899312" cy="476488"/>
              </a:xfrm>
              <a:prstGeom prst="rect">
                <a:avLst/>
              </a:prstGeom>
              <a:solidFill>
                <a:srgbClr val="E9BD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206C9CD-E64D-F1D9-8FA8-F20D061BF00F}"/>
                  </a:ext>
                </a:extLst>
              </p:cNvPr>
              <p:cNvSpPr/>
              <p:nvPr/>
            </p:nvSpPr>
            <p:spPr>
              <a:xfrm rot="5400000">
                <a:off x="16685699" y="1246403"/>
                <a:ext cx="899312" cy="476488"/>
              </a:xfrm>
              <a:prstGeom prst="rect">
                <a:avLst/>
              </a:prstGeom>
              <a:solidFill>
                <a:srgbClr val="ABD0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4BD2F06-060A-BE8B-3DEE-15E8E0D59FE8}"/>
                  </a:ext>
                </a:extLst>
              </p:cNvPr>
              <p:cNvSpPr/>
              <p:nvPr/>
            </p:nvSpPr>
            <p:spPr>
              <a:xfrm rot="5400000">
                <a:off x="16685699" y="2281383"/>
                <a:ext cx="899312" cy="476488"/>
              </a:xfrm>
              <a:prstGeom prst="rect">
                <a:avLst/>
              </a:prstGeom>
              <a:solidFill>
                <a:srgbClr val="E2E4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DD65D6F-2705-23CE-BB94-3CAA44185C08}"/>
                  </a:ext>
                </a:extLst>
              </p:cNvPr>
              <p:cNvSpPr/>
              <p:nvPr/>
            </p:nvSpPr>
            <p:spPr>
              <a:xfrm rot="5400000">
                <a:off x="16685699" y="3316360"/>
                <a:ext cx="899312" cy="476488"/>
              </a:xfrm>
              <a:prstGeom prst="rect">
                <a:avLst/>
              </a:prstGeom>
              <a:solidFill>
                <a:srgbClr val="C3EF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BC3A39A-68B7-E997-49E2-9EB676C67A80}"/>
                  </a:ext>
                </a:extLst>
              </p:cNvPr>
              <p:cNvSpPr/>
              <p:nvPr/>
            </p:nvSpPr>
            <p:spPr>
              <a:xfrm rot="5400000">
                <a:off x="16685699" y="4351341"/>
                <a:ext cx="899312" cy="476488"/>
              </a:xfrm>
              <a:prstGeom prst="rect">
                <a:avLst/>
              </a:prstGeom>
              <a:solidFill>
                <a:srgbClr val="C5C9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E7D30D-4B65-B41A-130A-FBD75DD95405}"/>
                  </a:ext>
                </a:extLst>
              </p:cNvPr>
              <p:cNvSpPr/>
              <p:nvPr/>
            </p:nvSpPr>
            <p:spPr>
              <a:xfrm rot="5400000">
                <a:off x="16685699" y="5386321"/>
                <a:ext cx="899312" cy="476488"/>
              </a:xfrm>
              <a:prstGeom prst="rect">
                <a:avLst/>
              </a:prstGeom>
              <a:solidFill>
                <a:srgbClr val="BBE6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A920814-656C-BC3E-65B9-CF0336F19672}"/>
                  </a:ext>
                </a:extLst>
              </p:cNvPr>
              <p:cNvSpPr/>
              <p:nvPr/>
            </p:nvSpPr>
            <p:spPr>
              <a:xfrm rot="5400000">
                <a:off x="16685699" y="6421299"/>
                <a:ext cx="899312" cy="476488"/>
              </a:xfrm>
              <a:prstGeom prst="rect">
                <a:avLst/>
              </a:prstGeom>
              <a:solidFill>
                <a:srgbClr val="F2D7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1B3FFC9-EBE4-BC12-FF72-8F8843297553}"/>
                  </a:ext>
                </a:extLst>
              </p:cNvPr>
              <p:cNvSpPr/>
              <p:nvPr/>
            </p:nvSpPr>
            <p:spPr>
              <a:xfrm rot="5400000">
                <a:off x="16685699" y="7456279"/>
                <a:ext cx="899312" cy="476488"/>
              </a:xfrm>
              <a:prstGeom prst="rect">
                <a:avLst/>
              </a:prstGeom>
              <a:solidFill>
                <a:srgbClr val="F8D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8F49B27-4522-BB42-6ECC-F7A9106207E4}"/>
                  </a:ext>
                </a:extLst>
              </p:cNvPr>
              <p:cNvSpPr/>
              <p:nvPr/>
            </p:nvSpPr>
            <p:spPr>
              <a:xfrm rot="5400000">
                <a:off x="16685699" y="8491270"/>
                <a:ext cx="899312" cy="476488"/>
              </a:xfrm>
              <a:prstGeom prst="rect">
                <a:avLst/>
              </a:prstGeom>
              <a:solidFill>
                <a:srgbClr val="FCD4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5B0BA5F1-AD61-22CA-A821-62315388DF3C}"/>
                </a:ext>
              </a:extLst>
            </p:cNvPr>
            <p:cNvSpPr/>
            <p:nvPr/>
          </p:nvSpPr>
          <p:spPr>
            <a:xfrm rot="5400000">
              <a:off x="16136544" y="8460227"/>
              <a:ext cx="899312" cy="476488"/>
            </a:xfrm>
            <a:prstGeom prst="rect">
              <a:avLst/>
            </a:prstGeom>
            <a:solidFill>
              <a:srgbClr val="F683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custDataLst>
      <p:tags r:id="rId1"/>
    </p:custDataLst>
    <p:extLst>
      <p:ext uri="{BB962C8B-B14F-4D97-AF65-F5344CB8AC3E}">
        <p14:creationId xmlns:p14="http://schemas.microsoft.com/office/powerpoint/2010/main" val="1137770870"/>
      </p:ext>
    </p:extLst>
  </p:cSld>
  <p:clrMapOvr>
    <a:masterClrMapping/>
  </p:clrMapOvr>
  <p:extLst>
    <p:ext uri="{DCECCB84-F9BA-43D5-87BE-67443E8EF086}">
      <p15:sldGuideLst xmlns:p15="http://schemas.microsoft.com/office/powerpoint/2012/main">
        <p15:guide id="1" orient="horz" pos="1814">
          <p15:clr>
            <a:srgbClr val="547EBF"/>
          </p15:clr>
        </p15:guide>
        <p15:guide id="2" orient="horz" pos="1134">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Demo">
    <p:spTree>
      <p:nvGrpSpPr>
        <p:cNvPr id="1" name=""/>
        <p:cNvGrpSpPr/>
        <p:nvPr/>
      </p:nvGrpSpPr>
      <p:grpSpPr>
        <a:xfrm>
          <a:off x="0" y="0"/>
          <a:ext cx="0" cy="0"/>
          <a:chOff x="0" y="0"/>
          <a:chExt cx="0" cy="0"/>
        </a:xfrm>
      </p:grpSpPr>
      <p:pic>
        <p:nvPicPr>
          <p:cNvPr id="3" name="Picture 2" descr="A blue and white rectangle&#10;&#10;Description automatically generated">
            <a:extLst>
              <a:ext uri="{FF2B5EF4-FFF2-40B4-BE49-F238E27FC236}">
                <a16:creationId xmlns:a16="http://schemas.microsoft.com/office/drawing/2014/main" id="{54A7B230-8B46-0D56-6CC0-F209B282C6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13" name="Google Shape;149;p35">
            <a:extLst>
              <a:ext uri="{FF2B5EF4-FFF2-40B4-BE49-F238E27FC236}">
                <a16:creationId xmlns:a16="http://schemas.microsoft.com/office/drawing/2014/main" id="{F74D071C-E846-A1A2-34B9-7E5841FAE98A}"/>
              </a:ext>
            </a:extLst>
          </p:cNvPr>
          <p:cNvSpPr txBox="1">
            <a:spLocks noGrp="1"/>
          </p:cNvSpPr>
          <p:nvPr>
            <p:ph type="title" hasCustomPrompt="1"/>
          </p:nvPr>
        </p:nvSpPr>
        <p:spPr>
          <a:xfrm>
            <a:off x="2421576" y="349071"/>
            <a:ext cx="9884724" cy="1137649"/>
          </a:xfrm>
          <a:prstGeom prst="rect">
            <a:avLst/>
          </a:prstGeom>
          <a:noFill/>
          <a:ln>
            <a:noFill/>
          </a:ln>
        </p:spPr>
        <p:txBody>
          <a:bodyPr spcFirstLastPara="1" wrap="square" lIns="91425" tIns="108000" rIns="91425" bIns="45700" anchor="t" anchorCtr="0">
            <a:sp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bg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Add Title</a:t>
            </a:r>
            <a:br>
              <a:rPr lang="en-US"/>
            </a:br>
            <a:endParaRPr/>
          </a:p>
        </p:txBody>
      </p:sp>
      <p:sp>
        <p:nvSpPr>
          <p:cNvPr id="15" name="Text Placeholder 6">
            <a:extLst>
              <a:ext uri="{FF2B5EF4-FFF2-40B4-BE49-F238E27FC236}">
                <a16:creationId xmlns:a16="http://schemas.microsoft.com/office/drawing/2014/main" id="{E7E02221-3267-7A1B-8E0E-EFABBBCC6ACE}"/>
              </a:ext>
            </a:extLst>
          </p:cNvPr>
          <p:cNvSpPr>
            <a:spLocks noGrp="1"/>
          </p:cNvSpPr>
          <p:nvPr>
            <p:ph type="body" sz="quarter" idx="11"/>
          </p:nvPr>
        </p:nvSpPr>
        <p:spPr>
          <a:xfrm>
            <a:off x="1291857" y="2370300"/>
            <a:ext cx="13696999" cy="5873587"/>
          </a:xfrm>
          <a:prstGeom prst="rect">
            <a:avLst/>
          </a:prstGeom>
        </p:spPr>
        <p:txBody>
          <a:bodyPr anchor="t"/>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16" name="Google Shape;60;p31">
            <a:extLst>
              <a:ext uri="{FF2B5EF4-FFF2-40B4-BE49-F238E27FC236}">
                <a16:creationId xmlns:a16="http://schemas.microsoft.com/office/drawing/2014/main" id="{74F52EAE-AA6F-E1EC-703B-348F06E3D3DE}"/>
              </a:ext>
            </a:extLst>
          </p:cNvPr>
          <p:cNvSpPr>
            <a:spLocks/>
          </p:cNvSpPr>
          <p:nvPr userDrawn="1"/>
        </p:nvSpPr>
        <p:spPr>
          <a:xfrm>
            <a:off x="1113033" y="420003"/>
            <a:ext cx="146827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bg1"/>
                </a:solidFill>
                <a:latin typeface="Open Sans"/>
                <a:ea typeface="Open Sans"/>
                <a:cs typeface="Open Sans"/>
                <a:sym typeface="Open Sans"/>
              </a:rPr>
              <a:t>Demo: </a:t>
            </a:r>
            <a:endParaRPr lang="en-US" sz="1400" b="0" i="0" u="none" strike="noStrike" cap="none">
              <a:solidFill>
                <a:schemeClr val="bg1"/>
              </a:solidFill>
              <a:latin typeface="Arial"/>
              <a:ea typeface="Arial"/>
              <a:cs typeface="Arial"/>
              <a:sym typeface="Arial"/>
            </a:endParaRPr>
          </a:p>
        </p:txBody>
      </p:sp>
      <p:sp>
        <p:nvSpPr>
          <p:cNvPr id="17" name="Text Placeholder 7">
            <a:extLst>
              <a:ext uri="{FF2B5EF4-FFF2-40B4-BE49-F238E27FC236}">
                <a16:creationId xmlns:a16="http://schemas.microsoft.com/office/drawing/2014/main" id="{888C0342-22B3-89A3-585B-2BD228D0D3B5}"/>
              </a:ext>
            </a:extLst>
          </p:cNvPr>
          <p:cNvSpPr txBox="1"/>
          <p:nvPr userDrawn="1"/>
        </p:nvSpPr>
        <p:spPr>
          <a:xfrm>
            <a:off x="12012930" y="1793876"/>
            <a:ext cx="1560195"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Duration:</a:t>
            </a:r>
          </a:p>
        </p:txBody>
      </p:sp>
      <p:sp>
        <p:nvSpPr>
          <p:cNvPr id="18" name="Text Placeholder 7">
            <a:extLst>
              <a:ext uri="{FF2B5EF4-FFF2-40B4-BE49-F238E27FC236}">
                <a16:creationId xmlns:a16="http://schemas.microsoft.com/office/drawing/2014/main" id="{80E2F368-E6D4-32CE-30D7-2C5AC9774391}"/>
              </a:ext>
            </a:extLst>
          </p:cNvPr>
          <p:cNvSpPr txBox="1"/>
          <p:nvPr userDrawn="1"/>
        </p:nvSpPr>
        <p:spPr>
          <a:xfrm>
            <a:off x="13803630" y="1791495"/>
            <a:ext cx="1469708" cy="571501"/>
          </a:xfrm>
          <a:prstGeom prst="rect">
            <a:avLst/>
          </a:prstGeom>
        </p:spPr>
        <p:txBody>
          <a:bodyPr>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lang="en-GB" sz="2200" kern="1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minutes</a:t>
            </a:r>
          </a:p>
        </p:txBody>
      </p:sp>
      <p:sp>
        <p:nvSpPr>
          <p:cNvPr id="19" name="Text Placeholder 6">
            <a:extLst>
              <a:ext uri="{FF2B5EF4-FFF2-40B4-BE49-F238E27FC236}">
                <a16:creationId xmlns:a16="http://schemas.microsoft.com/office/drawing/2014/main" id="{A2EAE3FE-C048-DE1C-BEE8-00E86E5B5629}"/>
              </a:ext>
            </a:extLst>
          </p:cNvPr>
          <p:cNvSpPr>
            <a:spLocks noGrp="1"/>
          </p:cNvSpPr>
          <p:nvPr>
            <p:ph type="body" sz="quarter" idx="14" hasCustomPrompt="1"/>
          </p:nvPr>
        </p:nvSpPr>
        <p:spPr>
          <a:xfrm>
            <a:off x="13416914" y="1793560"/>
            <a:ext cx="565786" cy="574675"/>
          </a:xfrm>
          <a:prstGeom prst="rect">
            <a:avLst/>
          </a:prstGeom>
        </p:spPr>
        <p:txBody>
          <a:bodyPr/>
          <a:lstStyle>
            <a:lvl1pPr marL="0" indent="0" algn="l">
              <a:lnSpc>
                <a:spcPct val="114000"/>
              </a:lnSpc>
              <a:spcBef>
                <a:spcPts val="0"/>
              </a:spcBef>
              <a:buFont typeface="Arial" panose="020B0604020202020204" pitchFamily="34" charset="0"/>
              <a:buNone/>
              <a:defRPr sz="2200" b="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r>
              <a:rPr lang="en-US"/>
              <a:t>05</a:t>
            </a:r>
          </a:p>
        </p:txBody>
      </p:sp>
      <p:pic>
        <p:nvPicPr>
          <p:cNvPr id="20" name="Picture 19" descr="A person pointing at a person sitting at a desk&#10;&#10;Description automatically generated">
            <a:extLst>
              <a:ext uri="{FF2B5EF4-FFF2-40B4-BE49-F238E27FC236}">
                <a16:creationId xmlns:a16="http://schemas.microsoft.com/office/drawing/2014/main" id="{AF78AB8C-EC30-ACC3-20D8-1614EF73352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44244" y="279570"/>
            <a:ext cx="2168601" cy="1337798"/>
          </a:xfrm>
          <a:prstGeom prst="rect">
            <a:avLst/>
          </a:prstGeom>
        </p:spPr>
      </p:pic>
    </p:spTree>
    <p:custDataLst>
      <p:tags r:id="rId1"/>
    </p:custDataLst>
    <p:extLst>
      <p:ext uri="{BB962C8B-B14F-4D97-AF65-F5344CB8AC3E}">
        <p14:creationId xmlns:p14="http://schemas.microsoft.com/office/powerpoint/2010/main" val="258485564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Key Takeaways" userDrawn="1">
  <p:cSld name="1_Key Takeaways">
    <p:spTree>
      <p:nvGrpSpPr>
        <p:cNvPr id="1" name="Shape 129"/>
        <p:cNvGrpSpPr/>
        <p:nvPr/>
      </p:nvGrpSpPr>
      <p:grpSpPr>
        <a:xfrm>
          <a:off x="0" y="0"/>
          <a:ext cx="0" cy="0"/>
          <a:chOff x="0" y="0"/>
          <a:chExt cx="0" cy="0"/>
        </a:xfrm>
      </p:grpSpPr>
      <p:pic>
        <p:nvPicPr>
          <p:cNvPr id="5" name="Picture 4" descr="A white background with black text&#10;&#10;Description automatically generated">
            <a:extLst>
              <a:ext uri="{FF2B5EF4-FFF2-40B4-BE49-F238E27FC236}">
                <a16:creationId xmlns:a16="http://schemas.microsoft.com/office/drawing/2014/main" id="{1A51566E-E1A4-0B9E-B8F1-83AFFD496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8" name="Rectangle 7">
            <a:extLst>
              <a:ext uri="{FF2B5EF4-FFF2-40B4-BE49-F238E27FC236}">
                <a16:creationId xmlns:a16="http://schemas.microsoft.com/office/drawing/2014/main" id="{327A4928-B707-C0C3-5320-D5D1404D00D7}"/>
              </a:ext>
            </a:extLst>
          </p:cNvPr>
          <p:cNvSpPr>
            <a:spLocks/>
          </p:cNvSpPr>
          <p:nvPr userDrawn="1"/>
        </p:nvSpPr>
        <p:spPr>
          <a:xfrm>
            <a:off x="10172776" y="1028700"/>
            <a:ext cx="6083224" cy="7200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6F9E26E1-CC49-BA68-3521-E47AD98B8EF6}"/>
              </a:ext>
            </a:extLst>
          </p:cNvPr>
          <p:cNvGrpSpPr>
            <a:grpSpLocks noGrp="1" noUngrp="1" noRot="1" noMove="1" noResize="1"/>
          </p:cNvGrpSpPr>
          <p:nvPr userDrawn="1"/>
        </p:nvGrpSpPr>
        <p:grpSpPr>
          <a:xfrm>
            <a:off x="11106126" y="1927654"/>
            <a:ext cx="4337074" cy="5288692"/>
            <a:chOff x="11106126" y="1927654"/>
            <a:chExt cx="4337074" cy="5288692"/>
          </a:xfrm>
        </p:grpSpPr>
        <p:sp>
          <p:nvSpPr>
            <p:cNvPr id="12" name="Base">
              <a:extLst>
                <a:ext uri="{FF2B5EF4-FFF2-40B4-BE49-F238E27FC236}">
                  <a16:creationId xmlns:a16="http://schemas.microsoft.com/office/drawing/2014/main" id="{416715E7-C2F0-E87C-9339-E30875BB8310}"/>
                </a:ext>
              </a:extLst>
            </p:cNvPr>
            <p:cNvSpPr>
              <a:spLocks noGrp="1" noRot="1" noMove="1" noResize="1" noEditPoints="1" noAdjustHandles="1" noChangeArrowheads="1" noChangeShapeType="1"/>
            </p:cNvSpPr>
            <p:nvPr userDrawn="1"/>
          </p:nvSpPr>
          <p:spPr>
            <a:xfrm>
              <a:off x="11754260" y="7011983"/>
              <a:ext cx="3377485" cy="143222"/>
            </a:xfrm>
            <a:prstGeom prst="ellipse">
              <a:avLst/>
            </a:prstGeom>
            <a:solidFill>
              <a:schemeClr val="tx1">
                <a:lumMod val="85000"/>
                <a:lumOff val="1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pic>
          <p:nvPicPr>
            <p:cNvPr id="11" name="Picture 10" descr="A person holding a pencil and a paper&#10;&#10;Description automatically generated">
              <a:extLst>
                <a:ext uri="{FF2B5EF4-FFF2-40B4-BE49-F238E27FC236}">
                  <a16:creationId xmlns:a16="http://schemas.microsoft.com/office/drawing/2014/main" id="{3EBBF239-D145-6DA4-8D4A-5A62C1540A4D}"/>
                </a:ext>
              </a:extLst>
            </p:cNvPr>
            <p:cNvPicPr>
              <a:picLocks noGrp="1" noRot="1" noChangeAspect="1" noMove="1" noResize="1" noEditPoints="1" noAdjustHandles="1" noChangeArrowheads="1" noChangeShapeType="1" noCrop="1"/>
            </p:cNvPicPr>
            <p:nvPr userDrawn="1"/>
          </p:nvPicPr>
          <p:blipFill rotWithShape="1">
            <a:blip r:embed="rId4">
              <a:extLst>
                <a:ext uri="{28A0092B-C50C-407E-A947-70E740481C1C}">
                  <a14:useLocalDpi xmlns:a14="http://schemas.microsoft.com/office/drawing/2010/main" val="0"/>
                </a:ext>
              </a:extLst>
            </a:blip>
            <a:srcRect l="27234"/>
            <a:stretch/>
          </p:blipFill>
          <p:spPr>
            <a:xfrm flipH="1">
              <a:off x="11106126" y="1927654"/>
              <a:ext cx="4337074" cy="5288692"/>
            </a:xfrm>
            <a:prstGeom prst="rect">
              <a:avLst/>
            </a:prstGeom>
          </p:spPr>
        </p:pic>
      </p:grpSp>
      <p:sp>
        <p:nvSpPr>
          <p:cNvPr id="4" name="Brandline_LVC">
            <a:extLst>
              <a:ext uri="{FF2B5EF4-FFF2-40B4-BE49-F238E27FC236}">
                <a16:creationId xmlns:a16="http://schemas.microsoft.com/office/drawing/2014/main" id="{F274DB65-9471-8FF1-5F67-3A8B02FBF3BD}"/>
              </a:ext>
            </a:extLst>
          </p:cNvPr>
          <p:cNvSpPr>
            <a:spLocks noGrp="1" noRot="1" noMove="1" noResize="1" noEditPoints="1" noAdjustHandles="1" noChangeArrowheads="1" noChangeShapeType="1"/>
          </p:cNvSpPr>
          <p:nvPr userDrawn="1"/>
        </p:nvSpPr>
        <p:spPr>
          <a:xfrm>
            <a:off x="6439258" y="8122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2" name="Google Shape;47;p27">
            <a:extLst>
              <a:ext uri="{FF2B5EF4-FFF2-40B4-BE49-F238E27FC236}">
                <a16:creationId xmlns:a16="http://schemas.microsoft.com/office/drawing/2014/main" id="{DFADBA2E-0E91-C8B8-3A16-37E16A8024BC}"/>
              </a:ext>
            </a:extLst>
          </p:cNvPr>
          <p:cNvSpPr>
            <a:spLocks noGrp="1" noRot="1" noMove="1" noResize="1" noEditPoints="1" noAdjustHandles="1" noChangeArrowheads="1" noChangeShapeType="1"/>
          </p:cNvSpPr>
          <p:nvPr userDrawn="1"/>
        </p:nvSpPr>
        <p:spPr>
          <a:xfrm>
            <a:off x="5718100" y="269818"/>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Key Takeaways</a:t>
            </a:r>
            <a:endParaRPr lang="en-US" sz="1400" b="0" i="0" u="none" strike="noStrike" cap="none">
              <a:solidFill>
                <a:schemeClr val="tx1">
                  <a:lumMod val="75000"/>
                  <a:lumOff val="25000"/>
                </a:schemeClr>
              </a:solidFill>
              <a:latin typeface="Arial"/>
              <a:ea typeface="Arial"/>
              <a:cs typeface="Arial"/>
              <a:sym typeface="Arial"/>
            </a:endParaRPr>
          </a:p>
        </p:txBody>
      </p:sp>
      <p:sp>
        <p:nvSpPr>
          <p:cNvPr id="13" name="Text Placeholder 16">
            <a:extLst>
              <a:ext uri="{FF2B5EF4-FFF2-40B4-BE49-F238E27FC236}">
                <a16:creationId xmlns:a16="http://schemas.microsoft.com/office/drawing/2014/main" id="{9ED52AEB-BE71-91E8-C623-2AA0E3B84E4C}"/>
              </a:ext>
            </a:extLst>
          </p:cNvPr>
          <p:cNvSpPr>
            <a:spLocks noGrp="1"/>
          </p:cNvSpPr>
          <p:nvPr>
            <p:ph type="body" sz="quarter" idx="19" hasCustomPrompt="1"/>
          </p:nvPr>
        </p:nvSpPr>
        <p:spPr>
          <a:xfrm>
            <a:off x="734790" y="1980938"/>
            <a:ext cx="9632528" cy="968855"/>
          </a:xfrm>
        </p:spPr>
        <p:txBody>
          <a:bodyPr wrap="square">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p:txBody>
      </p:sp>
    </p:spTree>
    <p:custDataLst>
      <p:tags r:id="rId1"/>
    </p:custDataLst>
    <p:extLst>
      <p:ext uri="{BB962C8B-B14F-4D97-AF65-F5344CB8AC3E}">
        <p14:creationId xmlns:p14="http://schemas.microsoft.com/office/powerpoint/2010/main" val="31853905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Learning_Objectives">
    <p:spTree>
      <p:nvGrpSpPr>
        <p:cNvPr id="1" name=""/>
        <p:cNvGrpSpPr/>
        <p:nvPr/>
      </p:nvGrpSpPr>
      <p:grpSpPr>
        <a:xfrm>
          <a:off x="0" y="0"/>
          <a:ext cx="0" cy="0"/>
          <a:chOff x="0" y="0"/>
          <a:chExt cx="0" cy="0"/>
        </a:xfrm>
      </p:grpSpPr>
      <p:pic>
        <p:nvPicPr>
          <p:cNvPr id="3" name="Picture 2" descr="A white background with black border&#10;&#10;Description automatically generated">
            <a:extLst>
              <a:ext uri="{FF2B5EF4-FFF2-40B4-BE49-F238E27FC236}">
                <a16:creationId xmlns:a16="http://schemas.microsoft.com/office/drawing/2014/main" id="{B8595558-C1E5-CF73-074F-9BCD5C6265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4" name="Google Shape;47;p27">
            <a:extLst>
              <a:ext uri="{FF2B5EF4-FFF2-40B4-BE49-F238E27FC236}">
                <a16:creationId xmlns:a16="http://schemas.microsoft.com/office/drawing/2014/main" id="{BE15390C-A891-48ED-4FC3-2A4C68069F59}"/>
              </a:ext>
            </a:extLst>
          </p:cNvPr>
          <p:cNvSpPr>
            <a:spLocks/>
          </p:cNvSpPr>
          <p:nvPr userDrawn="1"/>
        </p:nvSpPr>
        <p:spPr>
          <a:xfrm>
            <a:off x="5718100" y="257626"/>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Learning Objectives</a:t>
            </a:r>
            <a:endParaRPr sz="1400" b="0" i="0" u="none" strike="noStrike" cap="none">
              <a:solidFill>
                <a:schemeClr val="tx1">
                  <a:lumMod val="75000"/>
                  <a:lumOff val="25000"/>
                </a:schemeClr>
              </a:solidFill>
              <a:latin typeface="Arial"/>
              <a:ea typeface="Arial"/>
              <a:cs typeface="Arial"/>
              <a:sym typeface="Arial"/>
            </a:endParaRPr>
          </a:p>
        </p:txBody>
      </p:sp>
      <p:sp>
        <p:nvSpPr>
          <p:cNvPr id="5" name="Google Shape;53;p27">
            <a:extLst>
              <a:ext uri="{FF2B5EF4-FFF2-40B4-BE49-F238E27FC236}">
                <a16:creationId xmlns:a16="http://schemas.microsoft.com/office/drawing/2014/main" id="{0A985C90-BAA8-5397-6B3A-8013C302F6DC}"/>
              </a:ext>
            </a:extLst>
          </p:cNvPr>
          <p:cNvSpPr/>
          <p:nvPr userDrawn="1"/>
        </p:nvSpPr>
        <p:spPr>
          <a:xfrm>
            <a:off x="718944" y="207969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chemeClr val="tx1">
                    <a:lumMod val="75000"/>
                    <a:lumOff val="25000"/>
                  </a:schemeClr>
                </a:solidFill>
                <a:latin typeface="Open Sans"/>
                <a:ea typeface="Open Sans"/>
                <a:cs typeface="Open Sans"/>
                <a:sym typeface="Open Sans"/>
              </a:rPr>
              <a:t>By the end of this lesson, you will be able to:</a:t>
            </a:r>
            <a:endParaRPr>
              <a:solidFill>
                <a:schemeClr val="tx1">
                  <a:lumMod val="75000"/>
                  <a:lumOff val="25000"/>
                </a:schemeClr>
              </a:solidFill>
            </a:endParaRPr>
          </a:p>
        </p:txBody>
      </p:sp>
      <p:sp>
        <p:nvSpPr>
          <p:cNvPr id="6" name="Brandline_LVC">
            <a:extLst>
              <a:ext uri="{FF2B5EF4-FFF2-40B4-BE49-F238E27FC236}">
                <a16:creationId xmlns:a16="http://schemas.microsoft.com/office/drawing/2014/main" id="{744DD309-8999-AB99-071B-C85C0CD57EE9}"/>
              </a:ext>
            </a:extLst>
          </p:cNvPr>
          <p:cNvSpPr>
            <a:spLocks/>
          </p:cNvSpPr>
          <p:nvPr userDrawn="1"/>
        </p:nvSpPr>
        <p:spPr>
          <a:xfrm>
            <a:off x="5932250" y="8122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people on a target&#10;&#10;Description automatically generated">
            <a:extLst>
              <a:ext uri="{FF2B5EF4-FFF2-40B4-BE49-F238E27FC236}">
                <a16:creationId xmlns:a16="http://schemas.microsoft.com/office/drawing/2014/main" id="{C3EEAF1C-1EDD-DA79-A716-C14AD213796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5149"/>
          <a:stretch/>
        </p:blipFill>
        <p:spPr>
          <a:xfrm>
            <a:off x="10640776" y="2901928"/>
            <a:ext cx="5615224" cy="3900741"/>
          </a:xfrm>
          <a:prstGeom prst="rect">
            <a:avLst/>
          </a:prstGeom>
        </p:spPr>
      </p:pic>
      <p:sp>
        <p:nvSpPr>
          <p:cNvPr id="8" name="Text Placeholder 16">
            <a:extLst>
              <a:ext uri="{FF2B5EF4-FFF2-40B4-BE49-F238E27FC236}">
                <a16:creationId xmlns:a16="http://schemas.microsoft.com/office/drawing/2014/main" id="{64527CCE-7A63-3BCE-A7CF-D12FE5D90F18}"/>
              </a:ext>
            </a:extLst>
          </p:cNvPr>
          <p:cNvSpPr>
            <a:spLocks noGrp="1"/>
          </p:cNvSpPr>
          <p:nvPr>
            <p:ph type="body" sz="quarter" idx="16" hasCustomPrompt="1"/>
          </p:nvPr>
        </p:nvSpPr>
        <p:spPr>
          <a:xfrm>
            <a:off x="734790" y="2695575"/>
            <a:ext cx="9533671" cy="1483035"/>
          </a:xfrm>
        </p:spPr>
        <p:txBody>
          <a:bodyPr>
            <a:spAutoFit/>
          </a:bodyPr>
          <a:lstStyle>
            <a:lvl1pPr marL="342000" indent="-342000">
              <a:lnSpc>
                <a:spcPct val="114000"/>
              </a:lnSpc>
              <a:spcBef>
                <a:spcPts val="1000"/>
              </a:spcBef>
              <a:buFontTx/>
              <a:buBlip>
                <a:blip r:embed="rId5"/>
              </a:buBlip>
              <a:defRPr/>
            </a:lvl1pPr>
            <a:lvl2pPr marL="342000" indent="-342000">
              <a:lnSpc>
                <a:spcPct val="114000"/>
              </a:lnSpc>
              <a:spcBef>
                <a:spcPts val="1000"/>
              </a:spcBef>
              <a:defRPr/>
            </a:lvl2pPr>
            <a:lvl3pPr marL="342000" indent="-342000">
              <a:lnSpc>
                <a:spcPct val="114000"/>
              </a:lnSpc>
              <a:spcBef>
                <a:spcPts val="1000"/>
              </a:spcBef>
              <a:defRPr/>
            </a:lvl3pPr>
            <a:lvl4pPr marL="342000" indent="-342000">
              <a:lnSpc>
                <a:spcPct val="114000"/>
              </a:lnSpc>
              <a:spcBef>
                <a:spcPts val="1000"/>
              </a:spcBef>
              <a:defRPr/>
            </a:lvl4pPr>
            <a:lvl5pPr marL="342000" indent="-342000">
              <a:lnSpc>
                <a:spcPct val="114000"/>
              </a:lnSpc>
              <a:spcBef>
                <a:spcPts val="1000"/>
              </a:spcBef>
              <a:defRPr/>
            </a:lvl5pPr>
          </a:lstStyle>
          <a:p>
            <a:pPr lvl="0"/>
            <a:r>
              <a:rPr lang="en-US"/>
              <a:t>Click to add text</a:t>
            </a:r>
          </a:p>
          <a:p>
            <a:pPr lvl="0"/>
            <a:endParaRPr lang="en-US"/>
          </a:p>
          <a:p>
            <a:pPr lvl="0"/>
            <a:endParaRPr lang="en-US"/>
          </a:p>
        </p:txBody>
      </p:sp>
    </p:spTree>
    <p:custDataLst>
      <p:tags r:id="rId1"/>
    </p:custDataLst>
    <p:extLst>
      <p:ext uri="{BB962C8B-B14F-4D97-AF65-F5344CB8AC3E}">
        <p14:creationId xmlns:p14="http://schemas.microsoft.com/office/powerpoint/2010/main" val="278934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1117600" y="487363"/>
            <a:ext cx="14020800" cy="1766887"/>
          </a:xfrm>
          <a:prstGeom prst="rect">
            <a:avLst/>
          </a:prstGeom>
          <a:noFill/>
          <a:ln>
            <a:noFill/>
          </a:ln>
        </p:spPr>
        <p:txBody>
          <a:bodyPr spcFirstLastPara="1" wrap="square" lIns="91425" tIns="45700" rIns="91425" bIns="45700" anchor="ctr" anchorCtr="0">
            <a:normAutofit/>
          </a:bodyPr>
          <a:lstStyle>
            <a:lvl1pPr marR="0" lvl="0" algn="l" rtl="0">
              <a:lnSpc>
                <a:spcPct val="114000"/>
              </a:lnSpc>
              <a:spcBef>
                <a:spcPts val="0"/>
              </a:spcBef>
              <a:spcAft>
                <a:spcPts val="0"/>
              </a:spcAft>
              <a:buClr>
                <a:srgbClr val="3F3F3F"/>
              </a:buClr>
              <a:buSzPts val="2200"/>
              <a:buFont typeface="Open Sans"/>
              <a:buNone/>
              <a:defRPr sz="2200" b="0" i="0" u="none" strike="noStrike" cap="none">
                <a:solidFill>
                  <a:srgbClr val="3F3F3F"/>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3"/>
          <p:cNvSpPr txBox="1">
            <a:spLocks noGrp="1"/>
          </p:cNvSpPr>
          <p:nvPr>
            <p:ph type="body" idx="1"/>
          </p:nvPr>
        </p:nvSpPr>
        <p:spPr>
          <a:xfrm>
            <a:off x="1117600" y="2540000"/>
            <a:ext cx="14020800" cy="569595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14000"/>
              </a:lnSpc>
              <a:spcBef>
                <a:spcPts val="10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1pPr>
            <a:lvl2pPr marL="914400" marR="0" lvl="1" indent="-368300" algn="l" rtl="0">
              <a:lnSpc>
                <a:spcPct val="114000"/>
              </a:lnSpc>
              <a:spcBef>
                <a:spcPts val="5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2pPr>
            <a:lvl3pPr marL="1371600" marR="0" lvl="2" indent="-368300" algn="l" rtl="0">
              <a:lnSpc>
                <a:spcPct val="114000"/>
              </a:lnSpc>
              <a:spcBef>
                <a:spcPts val="5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4" r:id="rId14"/>
    <p:sldLayoutId id="2147483675" r:id="rId15"/>
    <p:sldLayoutId id="2147483676" r:id="rId16"/>
    <p:sldLayoutId id="2147483677" r:id="rId17"/>
    <p:sldLayoutId id="214748367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21">
          <p15:clr>
            <a:srgbClr val="5ACBF0"/>
          </p15:clr>
        </p15:guide>
        <p15:guide id="2" pos="5120">
          <p15:clr>
            <a:srgbClr val="000000"/>
          </p15:clr>
        </p15:guide>
        <p15:guide id="3" orient="horz" pos="2880">
          <p15:clr>
            <a:srgbClr val="000000"/>
          </p15:clr>
        </p15:guide>
        <p15:guide id="4" orient="horz" pos="5239">
          <p15:clr>
            <a:srgbClr val="5ACBF0"/>
          </p15:clr>
        </p15:guide>
        <p15:guide id="5" pos="1015">
          <p15:clr>
            <a:srgbClr val="5ACBF0"/>
          </p15:clr>
        </p15:guide>
        <p15:guide id="6" pos="516">
          <p15:clr>
            <a:srgbClr val="F26B43"/>
          </p15:clr>
        </p15:guide>
        <p15:guide id="7" pos="9224">
          <p15:clr>
            <a:srgbClr val="5ACBF0"/>
          </p15:clr>
        </p15:guide>
        <p15:guide id="8" pos="9728">
          <p15:clr>
            <a:srgbClr val="F26B43"/>
          </p15:clr>
        </p15:guide>
        <p15:guide id="9" orient="horz" pos="249">
          <p15:clr>
            <a:srgbClr val="F26B43"/>
          </p15:clr>
        </p15:guide>
        <p15:guide id="10" orient="horz" pos="5511">
          <p15:clr>
            <a:srgbClr val="F26B43"/>
          </p15:clr>
        </p15:guide>
        <p15:guide id="11" pos="8576">
          <p15:clr>
            <a:srgbClr val="5ACBF0"/>
          </p15:clr>
        </p15:guide>
        <p15:guide id="12" pos="8192">
          <p15:clr>
            <a:srgbClr val="5ACBF0"/>
          </p15:clr>
        </p15:guide>
        <p15:guide id="13" pos="1664">
          <p15:clr>
            <a:srgbClr val="5ACBF0"/>
          </p15:clr>
        </p15:guide>
        <p15:guide id="14" pos="2048">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D1AF223-9F5C-3F93-0D63-6A11E12C5EBA}"/>
              </a:ext>
            </a:extLst>
          </p:cNvPr>
          <p:cNvSpPr>
            <a:spLocks noGrp="1"/>
          </p:cNvSpPr>
          <p:nvPr>
            <p:ph type="body" idx="10"/>
          </p:nvPr>
        </p:nvSpPr>
        <p:spPr>
          <a:xfrm>
            <a:off x="653386" y="4114800"/>
            <a:ext cx="7835706" cy="914400"/>
          </a:xfrm>
        </p:spPr>
        <p:txBody>
          <a:bodyPr/>
          <a:lstStyle/>
          <a:p>
            <a:r>
              <a:rPr lang="en-US" dirty="0"/>
              <a:t>Multi-Agent Ecosystem: Part II</a:t>
            </a:r>
            <a:endParaRPr lang="en-IN" dirty="0"/>
          </a:p>
        </p:txBody>
      </p:sp>
    </p:spTree>
    <p:custDataLst>
      <p:tags r:id="rId1"/>
    </p:custDataLst>
    <p:extLst>
      <p:ext uri="{BB962C8B-B14F-4D97-AF65-F5344CB8AC3E}">
        <p14:creationId xmlns:p14="http://schemas.microsoft.com/office/powerpoint/2010/main" val="83923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
          <p:cNvSpPr txBox="1">
            <a:spLocks noGrp="1"/>
          </p:cNvSpPr>
          <p:nvPr>
            <p:ph type="body" idx="1"/>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p>
            <a:pPr marL="0" lvl="0" indent="0" algn="ctr" rtl="0">
              <a:lnSpc>
                <a:spcPct val="114000"/>
              </a:lnSpc>
              <a:spcBef>
                <a:spcPts val="0"/>
              </a:spcBef>
              <a:spcAft>
                <a:spcPts val="0"/>
              </a:spcAft>
              <a:buClr>
                <a:srgbClr val="3F3F3F"/>
              </a:buClr>
              <a:buSzPts val="2800"/>
              <a:buFont typeface="Arial"/>
              <a:buNone/>
            </a:pPr>
            <a:r>
              <a:rPr lang="en-US" dirty="0"/>
              <a:t>Advanced AutoGen Workflows: Self-Checking Agents, Debugging and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
          <p:cNvSpPr txBox="1">
            <a:spLocks noGrp="1"/>
          </p:cNvSpPr>
          <p:nvPr>
            <p:ph type="body" idx="1"/>
          </p:nvPr>
        </p:nvSpPr>
        <p:spPr>
          <a:xfrm>
            <a:off x="8128000" y="2759949"/>
            <a:ext cx="7899400" cy="4337622"/>
          </a:xfrm>
          <a:prstGeom prst="rect">
            <a:avLst/>
          </a:prstGeom>
          <a:noFill/>
          <a:ln>
            <a:noFill/>
          </a:ln>
        </p:spPr>
        <p:txBody>
          <a:bodyPr spcFirstLastPara="1" wrap="square" lIns="91425" tIns="45700" rIns="91425" bIns="45700" anchor="ctr" anchorCtr="0">
            <a:spAutoFit/>
          </a:bodyPr>
          <a:lstStyle/>
          <a:p>
            <a:pPr marL="0"/>
            <a:r>
              <a:rPr lang="en-US" b="0" dirty="0"/>
              <a:t>PaySetu’s new </a:t>
            </a:r>
            <a:r>
              <a:rPr lang="en-US" b="1" dirty="0"/>
              <a:t>HR helpdesk bot</a:t>
            </a:r>
            <a:r>
              <a:rPr lang="en-US" b="0" dirty="0"/>
              <a:t> answers 600 employee questions a week. Last Friday it told an employee she could carry forward 45 days of leave. The policy says 15. Three more employees got the same answer before anyone noticed. And this month’s AI bill has doubled. Nobody knows why.</a:t>
            </a:r>
            <a:endParaRPr lang="en-US" dirty="0"/>
          </a:p>
          <a:p>
            <a:pPr marL="0"/>
            <a:endParaRPr lang="en-US" dirty="0"/>
          </a:p>
          <a:p>
            <a:pPr marL="0"/>
            <a:r>
              <a:rPr lang="en-US" dirty="0"/>
              <a:t>How would you make sure the bot:</a:t>
            </a:r>
          </a:p>
          <a:p>
            <a:pPr>
              <a:buClr>
                <a:schemeClr val="tx1">
                  <a:lumMod val="75000"/>
                  <a:lumOff val="25000"/>
                </a:schemeClr>
              </a:buClr>
              <a:buFont typeface="Arial" panose="020B0604020202020204" pitchFamily="34" charset="0"/>
              <a:buChar char="•"/>
            </a:pPr>
            <a:r>
              <a:rPr lang="en-US" dirty="0"/>
              <a:t>checks its own answer before replying,</a:t>
            </a:r>
          </a:p>
          <a:p>
            <a:pPr>
              <a:buClr>
                <a:schemeClr val="tx1">
                  <a:lumMod val="75000"/>
                  <a:lumOff val="25000"/>
                </a:schemeClr>
              </a:buClr>
              <a:buFont typeface="Arial" panose="020B0604020202020204" pitchFamily="34" charset="0"/>
              <a:buChar char="•"/>
            </a:pPr>
            <a:r>
              <a:rPr lang="en-US" dirty="0"/>
              <a:t>recovers on its own when a step fails, and</a:t>
            </a:r>
          </a:p>
          <a:p>
            <a:pPr>
              <a:buClr>
                <a:schemeClr val="tx1">
                  <a:lumMod val="75000"/>
                  <a:lumOff val="25000"/>
                </a:schemeClr>
              </a:buClr>
              <a:buFont typeface="Arial" panose="020B0604020202020204" pitchFamily="34" charset="0"/>
              <a:buChar char="•"/>
            </a:pPr>
            <a:r>
              <a:rPr lang="en-US" dirty="0"/>
              <a:t>leaves a record that shows what happened, and what it cost?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6A12A0-9788-DF6C-5F0B-E7D4B1C44D00}"/>
              </a:ext>
            </a:extLst>
          </p:cNvPr>
          <p:cNvSpPr>
            <a:spLocks noGrp="1"/>
          </p:cNvSpPr>
          <p:nvPr>
            <p:ph type="body" sz="quarter" idx="16"/>
          </p:nvPr>
        </p:nvSpPr>
        <p:spPr>
          <a:xfrm>
            <a:off x="734790" y="2695575"/>
            <a:ext cx="9533671" cy="3692765"/>
          </a:xfrm>
        </p:spPr>
        <p:txBody>
          <a:bodyPr/>
          <a:lstStyle/>
          <a:p>
            <a:pPr lvl="0"/>
            <a:r>
              <a:rPr lang="en-US" dirty="0"/>
              <a:t>Build a Generate → Check → Fix chain where agents catch and correct each other’s mistakes</a:t>
            </a:r>
          </a:p>
          <a:p>
            <a:pPr lvl="0"/>
            <a:r>
              <a:rPr lang="en-US" dirty="0"/>
              <a:t>Make the chain reliable with shared context, retries, logging and rate limits</a:t>
            </a:r>
          </a:p>
          <a:p>
            <a:pPr lvl="0"/>
            <a:r>
              <a:rPr lang="en-US" dirty="0"/>
              <a:t>Review an agent trace to find slow steps, wasted calls and cost</a:t>
            </a:r>
          </a:p>
          <a:p>
            <a:pPr lvl="0"/>
            <a:r>
              <a:rPr lang="en-US" dirty="0"/>
              <a:t>Run a team debrief that turns findings into fixes, using real failures at Replit and Air Canada</a:t>
            </a:r>
          </a:p>
        </p:txBody>
      </p:sp>
    </p:spTree>
    <p:custDataLst>
      <p:tags r:id="rId1"/>
    </p:custDataLst>
    <p:extLst>
      <p:ext uri="{BB962C8B-B14F-4D97-AF65-F5344CB8AC3E}">
        <p14:creationId xmlns:p14="http://schemas.microsoft.com/office/powerpoint/2010/main" val="1109232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849BB2-9813-A97A-C80F-275C24EA2885}"/>
              </a:ext>
            </a:extLst>
          </p:cNvPr>
          <p:cNvSpPr>
            <a:spLocks noGrp="1"/>
          </p:cNvSpPr>
          <p:nvPr>
            <p:ph type="body" idx="10"/>
          </p:nvPr>
        </p:nvSpPr>
        <p:spPr>
          <a:xfrm>
            <a:off x="0" y="4114800"/>
            <a:ext cx="16256001" cy="914400"/>
          </a:xfrm>
        </p:spPr>
        <p:txBody>
          <a:bodyPr/>
          <a:lstStyle/>
          <a:p>
            <a:r>
              <a:rPr lang="en-US" dirty="0"/>
              <a:t>Part 1: Generate → Check → Fix</a:t>
            </a:r>
          </a:p>
        </p:txBody>
      </p:sp>
    </p:spTree>
    <p:custDataLst>
      <p:tags r:id="rId1"/>
    </p:custDataLst>
    <p:extLst>
      <p:ext uri="{BB962C8B-B14F-4D97-AF65-F5344CB8AC3E}">
        <p14:creationId xmlns:p14="http://schemas.microsoft.com/office/powerpoint/2010/main" val="10703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57D5DBA-2278-8191-6D1E-BD2ECF9BF6C0}"/>
              </a:ext>
            </a:extLst>
          </p:cNvPr>
          <p:cNvSpPr>
            <a:spLocks noGrp="1"/>
          </p:cNvSpPr>
          <p:nvPr>
            <p:ph type="body" idx="10"/>
          </p:nvPr>
        </p:nvSpPr>
        <p:spPr>
          <a:xfrm>
            <a:off x="1291857" y="1512832"/>
            <a:ext cx="13696999" cy="1441087"/>
          </a:xfrm>
        </p:spPr>
        <p:txBody>
          <a:bodyPr>
            <a:noAutofit/>
          </a:bodyPr>
          <a:lstStyle/>
          <a:p>
            <a:pPr>
              <a:spcBef>
                <a:spcPts val="600"/>
              </a:spcBef>
            </a:pPr>
            <a:r>
              <a:rPr lang="en-US" dirty="0"/>
              <a:t>One agent writes, a second checks, a third fixes, and then it is checked again. Like a newsroom: the reporter writes, the fact-checker checks, the editor fixes.</a:t>
            </a:r>
          </a:p>
        </p:txBody>
      </p:sp>
      <p:sp>
        <p:nvSpPr>
          <p:cNvPr id="3" name="Title 2">
            <a:extLst>
              <a:ext uri="{FF2B5EF4-FFF2-40B4-BE49-F238E27FC236}">
                <a16:creationId xmlns:a16="http://schemas.microsoft.com/office/drawing/2014/main" id="{414E095A-4D7E-0CC2-8BF4-4F0B575969A5}"/>
              </a:ext>
            </a:extLst>
          </p:cNvPr>
          <p:cNvSpPr>
            <a:spLocks noGrp="1"/>
          </p:cNvSpPr>
          <p:nvPr>
            <p:ph type="title"/>
          </p:nvPr>
        </p:nvSpPr>
        <p:spPr/>
        <p:txBody>
          <a:bodyPr/>
          <a:lstStyle/>
          <a:p>
            <a:r>
              <a:rPr lang="en-IN" dirty="0" err="1"/>
              <a:t>The Agent Chain: Generate → Check → Fix</a:t>
            </a:r>
          </a:p>
        </p:txBody>
      </p:sp>
      <p:grpSp>
        <p:nvGrpSpPr>
          <p:cNvPr id="17" name="Group 16">
            <a:extLst>
              <a:ext uri="{FF2B5EF4-FFF2-40B4-BE49-F238E27FC236}">
                <a16:creationId xmlns:a16="http://schemas.microsoft.com/office/drawing/2014/main" id="{2538606F-8E97-8F80-B5E3-3C62E0F21DF2}"/>
              </a:ext>
            </a:extLst>
          </p:cNvPr>
          <p:cNvGrpSpPr>
            <a:grpSpLocks noChangeAspect="1"/>
          </p:cNvGrpSpPr>
          <p:nvPr/>
        </p:nvGrpSpPr>
        <p:grpSpPr>
          <a:xfrm>
            <a:off x="3618434" y="4516779"/>
            <a:ext cx="8752091" cy="2688969"/>
            <a:chOff x="1669456" y="1709059"/>
            <a:chExt cx="12673844" cy="3893877"/>
          </a:xfrm>
        </p:grpSpPr>
        <p:sp>
          <p:nvSpPr>
            <p:cNvPr id="18" name="Freeform: Shape 17">
              <a:extLst>
                <a:ext uri="{FF2B5EF4-FFF2-40B4-BE49-F238E27FC236}">
                  <a16:creationId xmlns:a16="http://schemas.microsoft.com/office/drawing/2014/main" id="{DAC98FBF-2B03-7839-D683-EC58F6B8BEB0}"/>
                </a:ext>
              </a:extLst>
            </p:cNvPr>
            <p:cNvSpPr/>
            <p:nvPr/>
          </p:nvSpPr>
          <p:spPr>
            <a:xfrm>
              <a:off x="10449423" y="1709059"/>
              <a:ext cx="3893877" cy="3893877"/>
            </a:xfrm>
            <a:custGeom>
              <a:avLst/>
              <a:gdLst>
                <a:gd name="connsiteX0" fmla="*/ 2920409 w 2920408"/>
                <a:gd name="connsiteY0" fmla="*/ 1460204 h 2920408"/>
                <a:gd name="connsiteX1" fmla="*/ 1460204 w 2920408"/>
                <a:gd name="connsiteY1" fmla="*/ 2920409 h 2920408"/>
                <a:gd name="connsiteX2" fmla="*/ 0 w 2920408"/>
                <a:gd name="connsiteY2" fmla="*/ 1460204 h 2920408"/>
                <a:gd name="connsiteX3" fmla="*/ 1460204 w 2920408"/>
                <a:gd name="connsiteY3" fmla="*/ 0 h 2920408"/>
                <a:gd name="connsiteX4" fmla="*/ 2920409 w 2920408"/>
                <a:gd name="connsiteY4" fmla="*/ 1460204 h 292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0408" h="2920408">
                  <a:moveTo>
                    <a:pt x="2920409" y="1460204"/>
                  </a:moveTo>
                  <a:cubicBezTo>
                    <a:pt x="2920409" y="2266653"/>
                    <a:pt x="2266653" y="2920409"/>
                    <a:pt x="1460204" y="2920409"/>
                  </a:cubicBezTo>
                  <a:cubicBezTo>
                    <a:pt x="653755" y="2920409"/>
                    <a:pt x="0" y="2266653"/>
                    <a:pt x="0" y="1460204"/>
                  </a:cubicBezTo>
                  <a:cubicBezTo>
                    <a:pt x="0" y="653756"/>
                    <a:pt x="653755" y="0"/>
                    <a:pt x="1460204" y="0"/>
                  </a:cubicBezTo>
                  <a:cubicBezTo>
                    <a:pt x="2266653" y="0"/>
                    <a:pt x="2920409" y="653756"/>
                    <a:pt x="2920409" y="1460204"/>
                  </a:cubicBezTo>
                  <a:close/>
                </a:path>
              </a:pathLst>
            </a:custGeom>
            <a:solidFill>
              <a:schemeClr val="bg1">
                <a:lumMod val="95000"/>
              </a:schemeClr>
            </a:solidFill>
            <a:ln w="0" cap="flat">
              <a:noFill/>
              <a:prstDash val="solid"/>
              <a:miter/>
            </a:ln>
          </p:spPr>
          <p:txBody>
            <a:bodyPr rtlCol="0" anchor="ctr"/>
            <a:lstStyle/>
            <a:p>
              <a:endParaRPr lang="id-ID" sz="2200">
                <a:solidFill>
                  <a:schemeClr val="tx1">
                    <a:lumMod val="75000"/>
                    <a:lumOff val="25000"/>
                  </a:schemeClr>
                </a:solidFill>
              </a:endParaRPr>
            </a:p>
          </p:txBody>
        </p:sp>
        <p:sp>
          <p:nvSpPr>
            <p:cNvPr id="19" name="Freeform: Shape 18">
              <a:extLst>
                <a:ext uri="{FF2B5EF4-FFF2-40B4-BE49-F238E27FC236}">
                  <a16:creationId xmlns:a16="http://schemas.microsoft.com/office/drawing/2014/main" id="{B6C77EB7-28F9-34C1-3E74-3AFC2168A505}"/>
                </a:ext>
              </a:extLst>
            </p:cNvPr>
            <p:cNvSpPr/>
            <p:nvPr/>
          </p:nvSpPr>
          <p:spPr>
            <a:xfrm>
              <a:off x="6058366" y="1709059"/>
              <a:ext cx="3893877" cy="3893877"/>
            </a:xfrm>
            <a:custGeom>
              <a:avLst/>
              <a:gdLst>
                <a:gd name="connsiteX0" fmla="*/ 2920408 w 2920408"/>
                <a:gd name="connsiteY0" fmla="*/ 1460204 h 2920408"/>
                <a:gd name="connsiteX1" fmla="*/ 1460204 w 2920408"/>
                <a:gd name="connsiteY1" fmla="*/ 2920409 h 2920408"/>
                <a:gd name="connsiteX2" fmla="*/ 0 w 2920408"/>
                <a:gd name="connsiteY2" fmla="*/ 1460204 h 2920408"/>
                <a:gd name="connsiteX3" fmla="*/ 1460204 w 2920408"/>
                <a:gd name="connsiteY3" fmla="*/ 0 h 2920408"/>
                <a:gd name="connsiteX4" fmla="*/ 2920408 w 2920408"/>
                <a:gd name="connsiteY4" fmla="*/ 1460204 h 292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0408" h="2920408">
                  <a:moveTo>
                    <a:pt x="2920408" y="1460204"/>
                  </a:moveTo>
                  <a:cubicBezTo>
                    <a:pt x="2920408" y="2266653"/>
                    <a:pt x="2266653" y="2920409"/>
                    <a:pt x="1460204" y="2920409"/>
                  </a:cubicBezTo>
                  <a:cubicBezTo>
                    <a:pt x="653755" y="2920409"/>
                    <a:pt x="0" y="2266653"/>
                    <a:pt x="0" y="1460204"/>
                  </a:cubicBezTo>
                  <a:cubicBezTo>
                    <a:pt x="0" y="653756"/>
                    <a:pt x="653756" y="0"/>
                    <a:pt x="1460204" y="0"/>
                  </a:cubicBezTo>
                  <a:cubicBezTo>
                    <a:pt x="2266653" y="0"/>
                    <a:pt x="2920408" y="653756"/>
                    <a:pt x="2920408" y="1460204"/>
                  </a:cubicBezTo>
                  <a:close/>
                </a:path>
              </a:pathLst>
            </a:custGeom>
            <a:solidFill>
              <a:schemeClr val="bg1">
                <a:lumMod val="95000"/>
              </a:schemeClr>
            </a:solidFill>
            <a:ln w="0" cap="flat">
              <a:noFill/>
              <a:prstDash val="solid"/>
              <a:miter/>
            </a:ln>
          </p:spPr>
          <p:txBody>
            <a:bodyPr rtlCol="0" anchor="ctr"/>
            <a:lstStyle/>
            <a:p>
              <a:endParaRPr lang="id-ID" sz="2200">
                <a:solidFill>
                  <a:schemeClr val="tx1">
                    <a:lumMod val="75000"/>
                    <a:lumOff val="25000"/>
                  </a:schemeClr>
                </a:solidFill>
              </a:endParaRPr>
            </a:p>
          </p:txBody>
        </p:sp>
        <p:grpSp>
          <p:nvGrpSpPr>
            <p:cNvPr id="20" name="Graphic 10">
              <a:extLst>
                <a:ext uri="{FF2B5EF4-FFF2-40B4-BE49-F238E27FC236}">
                  <a16:creationId xmlns:a16="http://schemas.microsoft.com/office/drawing/2014/main" id="{5DE7B58E-EB60-BD60-A977-DC117F32F379}"/>
                </a:ext>
              </a:extLst>
            </p:cNvPr>
            <p:cNvGrpSpPr/>
            <p:nvPr/>
          </p:nvGrpSpPr>
          <p:grpSpPr>
            <a:xfrm>
              <a:off x="6351819" y="1940087"/>
              <a:ext cx="4845037" cy="3442775"/>
              <a:chOff x="4855078" y="2241814"/>
              <a:chExt cx="3633778" cy="2582081"/>
            </a:xfrm>
            <a:solidFill>
              <a:srgbClr val="3EADB0"/>
            </a:solidFill>
          </p:grpSpPr>
          <p:sp>
            <p:nvSpPr>
              <p:cNvPr id="27" name="Freeform: Shape 26">
                <a:extLst>
                  <a:ext uri="{FF2B5EF4-FFF2-40B4-BE49-F238E27FC236}">
                    <a16:creationId xmlns:a16="http://schemas.microsoft.com/office/drawing/2014/main" id="{AD1CE809-AE61-A365-25BA-AF2DF10B4D1D}"/>
                  </a:ext>
                </a:extLst>
              </p:cNvPr>
              <p:cNvSpPr/>
              <p:nvPr/>
            </p:nvSpPr>
            <p:spPr>
              <a:xfrm>
                <a:off x="4855078" y="3611234"/>
                <a:ext cx="3055078" cy="1212661"/>
              </a:xfrm>
              <a:custGeom>
                <a:avLst/>
                <a:gdLst>
                  <a:gd name="connsiteX0" fmla="*/ 2983305 w 3055078"/>
                  <a:gd name="connsiteY0" fmla="*/ 0 h 1212661"/>
                  <a:gd name="connsiteX1" fmla="*/ 2367630 w 3055078"/>
                  <a:gd name="connsiteY1" fmla="*/ 0 h 1212661"/>
                  <a:gd name="connsiteX2" fmla="*/ 1244222 w 3055078"/>
                  <a:gd name="connsiteY2" fmla="*/ 1047687 h 1212661"/>
                  <a:gd name="connsiteX3" fmla="*/ 161897 w 3055078"/>
                  <a:gd name="connsiteY3" fmla="*/ 232962 h 1212661"/>
                  <a:gd name="connsiteX4" fmla="*/ 82713 w 3055078"/>
                  <a:gd name="connsiteY4" fmla="*/ 173191 h 1212661"/>
                  <a:gd name="connsiteX5" fmla="*/ 82632 w 3055078"/>
                  <a:gd name="connsiteY5" fmla="*/ 173191 h 1212661"/>
                  <a:gd name="connsiteX6" fmla="*/ 3206 w 3055078"/>
                  <a:gd name="connsiteY6" fmla="*/ 277831 h 1212661"/>
                  <a:gd name="connsiteX7" fmla="*/ 1244222 w 3055078"/>
                  <a:gd name="connsiteY7" fmla="*/ 1212662 h 1212661"/>
                  <a:gd name="connsiteX8" fmla="*/ 2512224 w 3055078"/>
                  <a:gd name="connsiteY8" fmla="*/ 164975 h 1212661"/>
                  <a:gd name="connsiteX9" fmla="*/ 2983305 w 3055078"/>
                  <a:gd name="connsiteY9" fmla="*/ 164975 h 1212661"/>
                  <a:gd name="connsiteX10" fmla="*/ 3055079 w 3055078"/>
                  <a:gd name="connsiteY10" fmla="*/ 82487 h 1212661"/>
                  <a:gd name="connsiteX11" fmla="*/ 2983305 w 3055078"/>
                  <a:gd name="connsiteY11" fmla="*/ 0 h 121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55078" h="1212661">
                    <a:moveTo>
                      <a:pt x="2983305" y="0"/>
                    </a:moveTo>
                    <a:lnTo>
                      <a:pt x="2367630" y="0"/>
                    </a:lnTo>
                    <a:cubicBezTo>
                      <a:pt x="2327272" y="584581"/>
                      <a:pt x="1838872" y="1047687"/>
                      <a:pt x="1244222" y="1047687"/>
                    </a:cubicBezTo>
                    <a:cubicBezTo>
                      <a:pt x="731253" y="1047687"/>
                      <a:pt x="297309" y="702996"/>
                      <a:pt x="161897" y="232962"/>
                    </a:cubicBezTo>
                    <a:cubicBezTo>
                      <a:pt x="151747" y="197599"/>
                      <a:pt x="119526" y="173191"/>
                      <a:pt x="82713" y="173191"/>
                    </a:cubicBezTo>
                    <a:lnTo>
                      <a:pt x="82632" y="173191"/>
                    </a:lnTo>
                    <a:cubicBezTo>
                      <a:pt x="28097" y="173191"/>
                      <a:pt x="-11858" y="225390"/>
                      <a:pt x="3206" y="277831"/>
                    </a:cubicBezTo>
                    <a:cubicBezTo>
                      <a:pt x="158192" y="816980"/>
                      <a:pt x="655936" y="1212662"/>
                      <a:pt x="1244222" y="1212662"/>
                    </a:cubicBezTo>
                    <a:cubicBezTo>
                      <a:pt x="1872947" y="1212662"/>
                      <a:pt x="2398079" y="760914"/>
                      <a:pt x="2512224" y="164975"/>
                    </a:cubicBezTo>
                    <a:lnTo>
                      <a:pt x="2983305" y="164975"/>
                    </a:lnTo>
                    <a:cubicBezTo>
                      <a:pt x="3022937" y="164975"/>
                      <a:pt x="3055079" y="128000"/>
                      <a:pt x="3055079" y="82487"/>
                    </a:cubicBezTo>
                    <a:cubicBezTo>
                      <a:pt x="3055079" y="36974"/>
                      <a:pt x="3022937" y="0"/>
                      <a:pt x="2983305" y="0"/>
                    </a:cubicBezTo>
                    <a:close/>
                  </a:path>
                </a:pathLst>
              </a:custGeom>
              <a:grpFill/>
              <a:ln w="0" cap="flat">
                <a:noFill/>
                <a:prstDash val="solid"/>
                <a:miter/>
              </a:ln>
            </p:spPr>
            <p:txBody>
              <a:bodyPr rtlCol="0" anchor="ctr"/>
              <a:lstStyle/>
              <a:p>
                <a:endParaRPr lang="id-ID" sz="2200">
                  <a:solidFill>
                    <a:schemeClr val="tx1">
                      <a:lumMod val="75000"/>
                      <a:lumOff val="25000"/>
                    </a:schemeClr>
                  </a:solidFill>
                </a:endParaRPr>
              </a:p>
            </p:txBody>
          </p:sp>
          <p:sp>
            <p:nvSpPr>
              <p:cNvPr id="28" name="Freeform: Shape 27">
                <a:extLst>
                  <a:ext uri="{FF2B5EF4-FFF2-40B4-BE49-F238E27FC236}">
                    <a16:creationId xmlns:a16="http://schemas.microsoft.com/office/drawing/2014/main" id="{9FF3FE3F-15B5-3C83-ADA7-136B8821F758}"/>
                  </a:ext>
                </a:extLst>
              </p:cNvPr>
              <p:cNvSpPr/>
              <p:nvPr/>
            </p:nvSpPr>
            <p:spPr>
              <a:xfrm>
                <a:off x="4986376" y="2241814"/>
                <a:ext cx="3502481" cy="1440790"/>
              </a:xfrm>
              <a:custGeom>
                <a:avLst/>
                <a:gdLst>
                  <a:gd name="connsiteX0" fmla="*/ 3188320 w 3502481"/>
                  <a:gd name="connsiteY0" fmla="*/ 807877 h 1440790"/>
                  <a:gd name="connsiteX1" fmla="*/ 3071678 w 3502481"/>
                  <a:gd name="connsiteY1" fmla="*/ 807877 h 1440790"/>
                  <a:gd name="connsiteX2" fmla="*/ 3071678 w 3502481"/>
                  <a:gd name="connsiteY2" fmla="*/ 924519 h 1440790"/>
                  <a:gd name="connsiteX3" fmla="*/ 3194845 w 3502481"/>
                  <a:gd name="connsiteY3" fmla="*/ 1047687 h 1440790"/>
                  <a:gd name="connsiteX4" fmla="*/ 2380927 w 3502481"/>
                  <a:gd name="connsiteY4" fmla="*/ 1047687 h 1440790"/>
                  <a:gd name="connsiteX5" fmla="*/ 1112924 w 3502481"/>
                  <a:gd name="connsiteY5" fmla="*/ 0 h 1440790"/>
                  <a:gd name="connsiteX6" fmla="*/ 12314 w 3502481"/>
                  <a:gd name="connsiteY6" fmla="*/ 616883 h 1440790"/>
                  <a:gd name="connsiteX7" fmla="*/ 82637 w 3502481"/>
                  <a:gd name="connsiteY7" fmla="*/ 742467 h 1440790"/>
                  <a:gd name="connsiteX8" fmla="*/ 153203 w 3502481"/>
                  <a:gd name="connsiteY8" fmla="*/ 702673 h 1440790"/>
                  <a:gd name="connsiteX9" fmla="*/ 1113005 w 3502481"/>
                  <a:gd name="connsiteY9" fmla="*/ 165055 h 1440790"/>
                  <a:gd name="connsiteX10" fmla="*/ 2236412 w 3502481"/>
                  <a:gd name="connsiteY10" fmla="*/ 1212742 h 1440790"/>
                  <a:gd name="connsiteX11" fmla="*/ 3178493 w 3502481"/>
                  <a:gd name="connsiteY11" fmla="*/ 1212742 h 1440790"/>
                  <a:gd name="connsiteX12" fmla="*/ 3091253 w 3502481"/>
                  <a:gd name="connsiteY12" fmla="*/ 1299982 h 1440790"/>
                  <a:gd name="connsiteX13" fmla="*/ 3091253 w 3502481"/>
                  <a:gd name="connsiteY13" fmla="*/ 1416625 h 1440790"/>
                  <a:gd name="connsiteX14" fmla="*/ 3149574 w 3502481"/>
                  <a:gd name="connsiteY14" fmla="*/ 1440791 h 1440790"/>
                  <a:gd name="connsiteX15" fmla="*/ 3207895 w 3502481"/>
                  <a:gd name="connsiteY15" fmla="*/ 1416625 h 1440790"/>
                  <a:gd name="connsiteX16" fmla="*/ 3502481 w 3502481"/>
                  <a:gd name="connsiteY16" fmla="*/ 1122038 h 1440790"/>
                  <a:gd name="connsiteX17" fmla="*/ 3188401 w 3502481"/>
                  <a:gd name="connsiteY17" fmla="*/ 807958 h 144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02481" h="1440790">
                    <a:moveTo>
                      <a:pt x="3188320" y="807877"/>
                    </a:moveTo>
                    <a:cubicBezTo>
                      <a:pt x="3156179" y="775656"/>
                      <a:pt x="3103819" y="775656"/>
                      <a:pt x="3071678" y="807877"/>
                    </a:cubicBezTo>
                    <a:cubicBezTo>
                      <a:pt x="3039456" y="840018"/>
                      <a:pt x="3039456" y="892378"/>
                      <a:pt x="3071678" y="924519"/>
                    </a:cubicBezTo>
                    <a:lnTo>
                      <a:pt x="3194845" y="1047687"/>
                    </a:lnTo>
                    <a:lnTo>
                      <a:pt x="2380927" y="1047687"/>
                    </a:lnTo>
                    <a:cubicBezTo>
                      <a:pt x="2266862" y="451747"/>
                      <a:pt x="1741649" y="0"/>
                      <a:pt x="1112924" y="0"/>
                    </a:cubicBezTo>
                    <a:cubicBezTo>
                      <a:pt x="647966" y="0"/>
                      <a:pt x="239557" y="247059"/>
                      <a:pt x="12314" y="616883"/>
                    </a:cubicBezTo>
                    <a:cubicBezTo>
                      <a:pt x="-21439" y="671821"/>
                      <a:pt x="18194" y="742467"/>
                      <a:pt x="82637" y="742467"/>
                    </a:cubicBezTo>
                    <a:cubicBezTo>
                      <a:pt x="111476" y="742467"/>
                      <a:pt x="138059" y="727242"/>
                      <a:pt x="153203" y="702673"/>
                    </a:cubicBezTo>
                    <a:cubicBezTo>
                      <a:pt x="351446" y="380377"/>
                      <a:pt x="707576" y="165055"/>
                      <a:pt x="1113005" y="165055"/>
                    </a:cubicBezTo>
                    <a:cubicBezTo>
                      <a:pt x="1707655" y="165055"/>
                      <a:pt x="2196055" y="628161"/>
                      <a:pt x="2236412" y="1212742"/>
                    </a:cubicBezTo>
                    <a:lnTo>
                      <a:pt x="3178493" y="1212742"/>
                    </a:lnTo>
                    <a:lnTo>
                      <a:pt x="3091253" y="1299982"/>
                    </a:lnTo>
                    <a:cubicBezTo>
                      <a:pt x="3059031" y="1332204"/>
                      <a:pt x="3059031" y="1384483"/>
                      <a:pt x="3091253" y="1416625"/>
                    </a:cubicBezTo>
                    <a:cubicBezTo>
                      <a:pt x="3107363" y="1432816"/>
                      <a:pt x="3128469" y="1440791"/>
                      <a:pt x="3149574" y="1440791"/>
                    </a:cubicBezTo>
                    <a:cubicBezTo>
                      <a:pt x="3170679" y="1440791"/>
                      <a:pt x="3191784" y="1432816"/>
                      <a:pt x="3207895" y="1416625"/>
                    </a:cubicBezTo>
                    <a:lnTo>
                      <a:pt x="3502481" y="1122038"/>
                    </a:lnTo>
                    <a:lnTo>
                      <a:pt x="3188401" y="807958"/>
                    </a:lnTo>
                    <a:close/>
                  </a:path>
                </a:pathLst>
              </a:custGeom>
              <a:grpFill/>
              <a:ln w="0" cap="flat">
                <a:noFill/>
                <a:prstDash val="solid"/>
                <a:miter/>
              </a:ln>
            </p:spPr>
            <p:txBody>
              <a:bodyPr rtlCol="0" anchor="ctr"/>
              <a:lstStyle/>
              <a:p>
                <a:endParaRPr lang="id-ID" sz="2200">
                  <a:solidFill>
                    <a:schemeClr val="tx1">
                      <a:lumMod val="75000"/>
                      <a:lumOff val="25000"/>
                    </a:schemeClr>
                  </a:solidFill>
                </a:endParaRPr>
              </a:p>
            </p:txBody>
          </p:sp>
        </p:grpSp>
        <p:sp>
          <p:nvSpPr>
            <p:cNvPr id="21" name="Freeform: Shape 20">
              <a:extLst>
                <a:ext uri="{FF2B5EF4-FFF2-40B4-BE49-F238E27FC236}">
                  <a16:creationId xmlns:a16="http://schemas.microsoft.com/office/drawing/2014/main" id="{F37EC9F1-8239-0CF4-8593-CA61FF715079}"/>
                </a:ext>
              </a:extLst>
            </p:cNvPr>
            <p:cNvSpPr/>
            <p:nvPr/>
          </p:nvSpPr>
          <p:spPr>
            <a:xfrm>
              <a:off x="1669456" y="1709059"/>
              <a:ext cx="3893877" cy="3893877"/>
            </a:xfrm>
            <a:custGeom>
              <a:avLst/>
              <a:gdLst>
                <a:gd name="connsiteX0" fmla="*/ 2920409 w 2920408"/>
                <a:gd name="connsiteY0" fmla="*/ 1460204 h 2920408"/>
                <a:gd name="connsiteX1" fmla="*/ 1460204 w 2920408"/>
                <a:gd name="connsiteY1" fmla="*/ 2920409 h 2920408"/>
                <a:gd name="connsiteX2" fmla="*/ 0 w 2920408"/>
                <a:gd name="connsiteY2" fmla="*/ 1460204 h 2920408"/>
                <a:gd name="connsiteX3" fmla="*/ 1460204 w 2920408"/>
                <a:gd name="connsiteY3" fmla="*/ 0 h 2920408"/>
                <a:gd name="connsiteX4" fmla="*/ 2920409 w 2920408"/>
                <a:gd name="connsiteY4" fmla="*/ 1460204 h 292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0408" h="2920408">
                  <a:moveTo>
                    <a:pt x="2920409" y="1460204"/>
                  </a:moveTo>
                  <a:cubicBezTo>
                    <a:pt x="2920409" y="2266653"/>
                    <a:pt x="2266653" y="2920409"/>
                    <a:pt x="1460204" y="2920409"/>
                  </a:cubicBezTo>
                  <a:cubicBezTo>
                    <a:pt x="653756" y="2920409"/>
                    <a:pt x="0" y="2266653"/>
                    <a:pt x="0" y="1460204"/>
                  </a:cubicBezTo>
                  <a:cubicBezTo>
                    <a:pt x="0" y="653756"/>
                    <a:pt x="653756" y="0"/>
                    <a:pt x="1460204" y="0"/>
                  </a:cubicBezTo>
                  <a:cubicBezTo>
                    <a:pt x="2266653" y="0"/>
                    <a:pt x="2920409" y="653756"/>
                    <a:pt x="2920409" y="1460204"/>
                  </a:cubicBezTo>
                  <a:close/>
                </a:path>
              </a:pathLst>
            </a:custGeom>
            <a:solidFill>
              <a:schemeClr val="bg1">
                <a:lumMod val="95000"/>
              </a:schemeClr>
            </a:solidFill>
            <a:ln w="0" cap="flat">
              <a:noFill/>
              <a:prstDash val="solid"/>
              <a:miter/>
            </a:ln>
          </p:spPr>
          <p:txBody>
            <a:bodyPr rtlCol="0" anchor="ctr"/>
            <a:lstStyle/>
            <a:p>
              <a:endParaRPr lang="id-ID" sz="2200">
                <a:solidFill>
                  <a:schemeClr val="tx1">
                    <a:lumMod val="75000"/>
                    <a:lumOff val="25000"/>
                  </a:schemeClr>
                </a:solidFill>
              </a:endParaRPr>
            </a:p>
          </p:txBody>
        </p:sp>
        <p:sp>
          <p:nvSpPr>
            <p:cNvPr id="22" name="Freeform: Shape 21">
              <a:extLst>
                <a:ext uri="{FF2B5EF4-FFF2-40B4-BE49-F238E27FC236}">
                  <a16:creationId xmlns:a16="http://schemas.microsoft.com/office/drawing/2014/main" id="{B26123D2-8BC4-E0B5-40D8-9EBB6594F006}"/>
                </a:ext>
              </a:extLst>
            </p:cNvPr>
            <p:cNvSpPr/>
            <p:nvPr/>
          </p:nvSpPr>
          <p:spPr>
            <a:xfrm>
              <a:off x="1900484" y="1940088"/>
              <a:ext cx="4907355" cy="3442881"/>
            </a:xfrm>
            <a:custGeom>
              <a:avLst/>
              <a:gdLst>
                <a:gd name="connsiteX0" fmla="*/ 3366437 w 3680516"/>
                <a:gd name="connsiteY0" fmla="*/ 807877 h 2582161"/>
                <a:gd name="connsiteX1" fmla="*/ 3249794 w 3680516"/>
                <a:gd name="connsiteY1" fmla="*/ 807877 h 2582161"/>
                <a:gd name="connsiteX2" fmla="*/ 3249794 w 3680516"/>
                <a:gd name="connsiteY2" fmla="*/ 924519 h 2582161"/>
                <a:gd name="connsiteX3" fmla="*/ 3372962 w 3680516"/>
                <a:gd name="connsiteY3" fmla="*/ 1047687 h 2582161"/>
                <a:gd name="connsiteX4" fmla="*/ 2559043 w 3680516"/>
                <a:gd name="connsiteY4" fmla="*/ 1047687 h 2582161"/>
                <a:gd name="connsiteX5" fmla="*/ 1291041 w 3680516"/>
                <a:gd name="connsiteY5" fmla="*/ 0 h 2582161"/>
                <a:gd name="connsiteX6" fmla="*/ 0 w 3680516"/>
                <a:gd name="connsiteY6" fmla="*/ 1291041 h 2582161"/>
                <a:gd name="connsiteX7" fmla="*/ 1291121 w 3680516"/>
                <a:gd name="connsiteY7" fmla="*/ 2582162 h 2582161"/>
                <a:gd name="connsiteX8" fmla="*/ 2559123 w 3680516"/>
                <a:gd name="connsiteY8" fmla="*/ 1534475 h 2582161"/>
                <a:gd name="connsiteX9" fmla="*/ 3030204 w 3680516"/>
                <a:gd name="connsiteY9" fmla="*/ 1534475 h 2582161"/>
                <a:gd name="connsiteX10" fmla="*/ 3101977 w 3680516"/>
                <a:gd name="connsiteY10" fmla="*/ 1451988 h 2582161"/>
                <a:gd name="connsiteX11" fmla="*/ 3030204 w 3680516"/>
                <a:gd name="connsiteY11" fmla="*/ 1369500 h 2582161"/>
                <a:gd name="connsiteX12" fmla="*/ 2414529 w 3680516"/>
                <a:gd name="connsiteY12" fmla="*/ 1369500 h 2582161"/>
                <a:gd name="connsiteX13" fmla="*/ 1291121 w 3680516"/>
                <a:gd name="connsiteY13" fmla="*/ 2417187 h 2582161"/>
                <a:gd name="connsiteX14" fmla="*/ 164975 w 3680516"/>
                <a:gd name="connsiteY14" fmla="*/ 1291041 h 2582161"/>
                <a:gd name="connsiteX15" fmla="*/ 1291041 w 3680516"/>
                <a:gd name="connsiteY15" fmla="*/ 164975 h 2582161"/>
                <a:gd name="connsiteX16" fmla="*/ 2414448 w 3680516"/>
                <a:gd name="connsiteY16" fmla="*/ 1212662 h 2582161"/>
                <a:gd name="connsiteX17" fmla="*/ 3356448 w 3680516"/>
                <a:gd name="connsiteY17" fmla="*/ 1212662 h 2582161"/>
                <a:gd name="connsiteX18" fmla="*/ 3269208 w 3680516"/>
                <a:gd name="connsiteY18" fmla="*/ 1299902 h 2582161"/>
                <a:gd name="connsiteX19" fmla="*/ 3269208 w 3680516"/>
                <a:gd name="connsiteY19" fmla="*/ 1416544 h 2582161"/>
                <a:gd name="connsiteX20" fmla="*/ 3327529 w 3680516"/>
                <a:gd name="connsiteY20" fmla="*/ 1440710 h 2582161"/>
                <a:gd name="connsiteX21" fmla="*/ 3385850 w 3680516"/>
                <a:gd name="connsiteY21" fmla="*/ 1416544 h 2582161"/>
                <a:gd name="connsiteX22" fmla="*/ 3680517 w 3680516"/>
                <a:gd name="connsiteY22" fmla="*/ 1121877 h 2582161"/>
                <a:gd name="connsiteX23" fmla="*/ 3366437 w 3680516"/>
                <a:gd name="connsiteY23" fmla="*/ 807797 h 2582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80516" h="2582161">
                  <a:moveTo>
                    <a:pt x="3366437" y="807877"/>
                  </a:moveTo>
                  <a:cubicBezTo>
                    <a:pt x="3334215" y="775656"/>
                    <a:pt x="3282016" y="775656"/>
                    <a:pt x="3249794" y="807877"/>
                  </a:cubicBezTo>
                  <a:cubicBezTo>
                    <a:pt x="3217573" y="840099"/>
                    <a:pt x="3217573" y="892298"/>
                    <a:pt x="3249794" y="924519"/>
                  </a:cubicBezTo>
                  <a:lnTo>
                    <a:pt x="3372962" y="1047687"/>
                  </a:lnTo>
                  <a:lnTo>
                    <a:pt x="2559043" y="1047687"/>
                  </a:lnTo>
                  <a:cubicBezTo>
                    <a:pt x="2444898" y="451747"/>
                    <a:pt x="1919765" y="0"/>
                    <a:pt x="1291041" y="0"/>
                  </a:cubicBezTo>
                  <a:cubicBezTo>
                    <a:pt x="579184" y="0"/>
                    <a:pt x="0" y="579184"/>
                    <a:pt x="0" y="1291041"/>
                  </a:cubicBezTo>
                  <a:cubicBezTo>
                    <a:pt x="0" y="2002897"/>
                    <a:pt x="579184" y="2582162"/>
                    <a:pt x="1291121" y="2582162"/>
                  </a:cubicBezTo>
                  <a:cubicBezTo>
                    <a:pt x="1919846" y="2582162"/>
                    <a:pt x="2444978" y="2130415"/>
                    <a:pt x="2559123" y="1534475"/>
                  </a:cubicBezTo>
                  <a:lnTo>
                    <a:pt x="3030204" y="1534475"/>
                  </a:lnTo>
                  <a:cubicBezTo>
                    <a:pt x="3069836" y="1534475"/>
                    <a:pt x="3101977" y="1497501"/>
                    <a:pt x="3101977" y="1451988"/>
                  </a:cubicBezTo>
                  <a:cubicBezTo>
                    <a:pt x="3101977" y="1406475"/>
                    <a:pt x="3069836" y="1369500"/>
                    <a:pt x="3030204" y="1369500"/>
                  </a:cubicBezTo>
                  <a:lnTo>
                    <a:pt x="2414529" y="1369500"/>
                  </a:lnTo>
                  <a:cubicBezTo>
                    <a:pt x="2374171" y="1954082"/>
                    <a:pt x="1885772" y="2417187"/>
                    <a:pt x="1291121" y="2417187"/>
                  </a:cubicBezTo>
                  <a:cubicBezTo>
                    <a:pt x="696471" y="2417187"/>
                    <a:pt x="164975" y="1912032"/>
                    <a:pt x="164975" y="1291041"/>
                  </a:cubicBezTo>
                  <a:cubicBezTo>
                    <a:pt x="164975" y="670049"/>
                    <a:pt x="670130" y="164975"/>
                    <a:pt x="1291041" y="164975"/>
                  </a:cubicBezTo>
                  <a:cubicBezTo>
                    <a:pt x="1911952" y="164975"/>
                    <a:pt x="2374091" y="628080"/>
                    <a:pt x="2414448" y="1212662"/>
                  </a:cubicBezTo>
                  <a:lnTo>
                    <a:pt x="3356448" y="1212662"/>
                  </a:lnTo>
                  <a:lnTo>
                    <a:pt x="3269208" y="1299902"/>
                  </a:lnTo>
                  <a:cubicBezTo>
                    <a:pt x="3236986" y="1332123"/>
                    <a:pt x="3236986" y="1384322"/>
                    <a:pt x="3269208" y="1416544"/>
                  </a:cubicBezTo>
                  <a:cubicBezTo>
                    <a:pt x="3285319" y="1432655"/>
                    <a:pt x="3306424" y="1440710"/>
                    <a:pt x="3327529" y="1440710"/>
                  </a:cubicBezTo>
                  <a:cubicBezTo>
                    <a:pt x="3348634" y="1440710"/>
                    <a:pt x="3369739" y="1432655"/>
                    <a:pt x="3385850" y="1416544"/>
                  </a:cubicBezTo>
                  <a:lnTo>
                    <a:pt x="3680517" y="1121877"/>
                  </a:lnTo>
                  <a:lnTo>
                    <a:pt x="3366437" y="807797"/>
                  </a:lnTo>
                  <a:close/>
                </a:path>
              </a:pathLst>
            </a:custGeom>
            <a:solidFill>
              <a:srgbClr val="A5A832"/>
            </a:solidFill>
            <a:ln w="0" cap="flat">
              <a:noFill/>
              <a:prstDash val="solid"/>
              <a:miter/>
            </a:ln>
          </p:spPr>
          <p:txBody>
            <a:bodyPr rtlCol="0" anchor="ctr"/>
            <a:lstStyle/>
            <a:p>
              <a:endParaRPr lang="id-ID" sz="2200">
                <a:solidFill>
                  <a:schemeClr val="tx1">
                    <a:lumMod val="75000"/>
                    <a:lumOff val="25000"/>
                  </a:schemeClr>
                </a:solidFill>
              </a:endParaRPr>
            </a:p>
          </p:txBody>
        </p:sp>
        <p:sp>
          <p:nvSpPr>
            <p:cNvPr id="23" name="Freeform: Shape 22">
              <a:extLst>
                <a:ext uri="{FF2B5EF4-FFF2-40B4-BE49-F238E27FC236}">
                  <a16:creationId xmlns:a16="http://schemas.microsoft.com/office/drawing/2014/main" id="{DE3CC2C5-744A-77B3-7B5C-58455E3B7255}"/>
                </a:ext>
              </a:extLst>
            </p:cNvPr>
            <p:cNvSpPr/>
            <p:nvPr/>
          </p:nvSpPr>
          <p:spPr>
            <a:xfrm>
              <a:off x="10757106" y="1933731"/>
              <a:ext cx="3363789" cy="3444533"/>
            </a:xfrm>
            <a:custGeom>
              <a:avLst/>
              <a:gdLst>
                <a:gd name="connsiteX0" fmla="*/ 1253395 w 2522842"/>
                <a:gd name="connsiteY0" fmla="*/ 192 h 2583400"/>
                <a:gd name="connsiteX1" fmla="*/ 162531 w 2522842"/>
                <a:gd name="connsiteY1" fmla="*/ 566729 h 2583400"/>
                <a:gd name="connsiteX2" fmla="*/ 248724 w 2522842"/>
                <a:gd name="connsiteY2" fmla="*/ 729207 h 2583400"/>
                <a:gd name="connsiteX3" fmla="*/ 248724 w 2522842"/>
                <a:gd name="connsiteY3" fmla="*/ 729207 h 2583400"/>
                <a:gd name="connsiteX4" fmla="*/ 335400 w 2522842"/>
                <a:gd name="connsiteY4" fmla="*/ 682727 h 2583400"/>
                <a:gd name="connsiteX5" fmla="*/ 1266203 w 2522842"/>
                <a:gd name="connsiteY5" fmla="*/ 208908 h 2583400"/>
                <a:gd name="connsiteX6" fmla="*/ 2313568 w 2522842"/>
                <a:gd name="connsiteY6" fmla="*/ 1248781 h 2583400"/>
                <a:gd name="connsiteX7" fmla="*/ 1231081 w 2522842"/>
                <a:gd name="connsiteY7" fmla="*/ 2375088 h 2583400"/>
                <a:gd name="connsiteX8" fmla="*/ 203372 w 2522842"/>
                <a:gd name="connsiteY8" fmla="*/ 1634635 h 2583400"/>
                <a:gd name="connsiteX9" fmla="*/ 104371 w 2522842"/>
                <a:gd name="connsiteY9" fmla="*/ 1562539 h 2583400"/>
                <a:gd name="connsiteX10" fmla="*/ 104210 w 2522842"/>
                <a:gd name="connsiteY10" fmla="*/ 1562539 h 2583400"/>
                <a:gd name="connsiteX11" fmla="*/ 5451 w 2522842"/>
                <a:gd name="connsiteY11" fmla="*/ 1699642 h 2583400"/>
                <a:gd name="connsiteX12" fmla="*/ 1231162 w 2522842"/>
                <a:gd name="connsiteY12" fmla="*/ 2583401 h 2583400"/>
                <a:gd name="connsiteX13" fmla="*/ 2522686 w 2522842"/>
                <a:gd name="connsiteY13" fmla="*/ 1271497 h 2583400"/>
                <a:gd name="connsiteX14" fmla="*/ 1253556 w 2522842"/>
                <a:gd name="connsiteY14" fmla="*/ 272 h 25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2842" h="2583400">
                  <a:moveTo>
                    <a:pt x="1253395" y="192"/>
                  </a:moveTo>
                  <a:cubicBezTo>
                    <a:pt x="800520" y="-7541"/>
                    <a:pt x="399038" y="219138"/>
                    <a:pt x="162531" y="566729"/>
                  </a:cubicBezTo>
                  <a:cubicBezTo>
                    <a:pt x="115568" y="635764"/>
                    <a:pt x="165270" y="729207"/>
                    <a:pt x="248724" y="729207"/>
                  </a:cubicBezTo>
                  <a:lnTo>
                    <a:pt x="248724" y="729207"/>
                  </a:lnTo>
                  <a:cubicBezTo>
                    <a:pt x="283604" y="729207"/>
                    <a:pt x="315745" y="711565"/>
                    <a:pt x="335400" y="682727"/>
                  </a:cubicBezTo>
                  <a:cubicBezTo>
                    <a:pt x="536785" y="387577"/>
                    <a:pt x="880027" y="196583"/>
                    <a:pt x="1266203" y="208908"/>
                  </a:cubicBezTo>
                  <a:cubicBezTo>
                    <a:pt x="1831451" y="226871"/>
                    <a:pt x="2291577" y="683613"/>
                    <a:pt x="2313568" y="1248781"/>
                  </a:cubicBezTo>
                  <a:cubicBezTo>
                    <a:pt x="2337492" y="1865664"/>
                    <a:pt x="1842729" y="2375088"/>
                    <a:pt x="1231081" y="2375088"/>
                  </a:cubicBezTo>
                  <a:cubicBezTo>
                    <a:pt x="753396" y="2375088"/>
                    <a:pt x="347081" y="2064391"/>
                    <a:pt x="203372" y="1634635"/>
                  </a:cubicBezTo>
                  <a:cubicBezTo>
                    <a:pt x="189034" y="1591860"/>
                    <a:pt x="149482" y="1562539"/>
                    <a:pt x="104371" y="1562539"/>
                  </a:cubicBezTo>
                  <a:lnTo>
                    <a:pt x="104210" y="1562539"/>
                  </a:lnTo>
                  <a:cubicBezTo>
                    <a:pt x="33162" y="1562539"/>
                    <a:pt x="-17104" y="1632218"/>
                    <a:pt x="5451" y="1699642"/>
                  </a:cubicBezTo>
                  <a:cubicBezTo>
                    <a:pt x="176709" y="2212530"/>
                    <a:pt x="661484" y="2583401"/>
                    <a:pt x="1231162" y="2583401"/>
                  </a:cubicBezTo>
                  <a:cubicBezTo>
                    <a:pt x="1950108" y="2583401"/>
                    <a:pt x="2533803" y="1992859"/>
                    <a:pt x="2522686" y="1271497"/>
                  </a:cubicBezTo>
                  <a:cubicBezTo>
                    <a:pt x="2511973" y="577926"/>
                    <a:pt x="1947047" y="12033"/>
                    <a:pt x="1253556" y="272"/>
                  </a:cubicBezTo>
                  <a:close/>
                </a:path>
              </a:pathLst>
            </a:custGeom>
            <a:solidFill>
              <a:srgbClr val="BB7BB3"/>
            </a:solidFill>
            <a:ln w="0" cap="flat">
              <a:noFill/>
              <a:prstDash val="solid"/>
              <a:miter/>
            </a:ln>
          </p:spPr>
          <p:txBody>
            <a:bodyPr rtlCol="0" anchor="ctr"/>
            <a:lstStyle/>
            <a:p>
              <a:endParaRPr lang="id-ID" sz="2200">
                <a:solidFill>
                  <a:schemeClr val="tx1">
                    <a:lumMod val="75000"/>
                    <a:lumOff val="25000"/>
                  </a:schemeClr>
                </a:solidFill>
              </a:endParaRPr>
            </a:p>
          </p:txBody>
        </p:sp>
        <p:sp>
          <p:nvSpPr>
            <p:cNvPr id="24" name="Text_1">
              <a:extLst>
                <a:ext uri="{FF2B5EF4-FFF2-40B4-BE49-F238E27FC236}">
                  <a16:creationId xmlns:a16="http://schemas.microsoft.com/office/drawing/2014/main" id="{AF339985-AD1A-F2DD-E87A-946B315DA899}"/>
                </a:ext>
              </a:extLst>
            </p:cNvPr>
            <p:cNvSpPr txBox="1"/>
            <p:nvPr/>
          </p:nvSpPr>
          <p:spPr>
            <a:xfrm>
              <a:off x="2374288" y="3349992"/>
              <a:ext cx="2496000" cy="556008"/>
            </a:xfrm>
            <a:prstGeom prst="rect">
              <a:avLst/>
            </a:prstGeom>
            <a:noFill/>
          </p:spPr>
          <p:txBody>
            <a:bodyPr wrap="square" rtlCol="0" anchor="ctr" anchorCtr="1">
              <a:spAutoFit/>
            </a:bodyPr>
            <a:lstStyle/>
            <a:p>
              <a:pPr algn="ctr">
                <a:lnSpc>
                  <a:spcPct val="114000"/>
                </a:lnSpc>
              </a:pPr>
              <a:r>
                <a:rPr lang="en-IN" sz="2200" dirty="0" err="1">
                  <a:solidFill>
                    <a:schemeClr val="tx1">
                      <a:lumMod val="75000"/>
                      <a:lumOff val="25000"/>
                    </a:schemeClr>
                  </a:solidFill>
                  <a:latin typeface="Open Sans" panose="020B0606030504020204" pitchFamily="34" charset="0"/>
                </a:rPr>
                <a:t>Generate</a:t>
              </a:r>
            </a:p>
          </p:txBody>
        </p:sp>
        <p:sp>
          <p:nvSpPr>
            <p:cNvPr id="25" name="Text_2">
              <a:extLst>
                <a:ext uri="{FF2B5EF4-FFF2-40B4-BE49-F238E27FC236}">
                  <a16:creationId xmlns:a16="http://schemas.microsoft.com/office/drawing/2014/main" id="{4F62A5BD-6812-E379-CD84-D9C4F6FE3065}"/>
                </a:ext>
              </a:extLst>
            </p:cNvPr>
            <p:cNvSpPr txBox="1"/>
            <p:nvPr/>
          </p:nvSpPr>
          <p:spPr>
            <a:xfrm>
              <a:off x="6856088" y="3349992"/>
              <a:ext cx="2496000" cy="556008"/>
            </a:xfrm>
            <a:prstGeom prst="rect">
              <a:avLst/>
            </a:prstGeom>
            <a:noFill/>
          </p:spPr>
          <p:txBody>
            <a:bodyPr wrap="square" rtlCol="0" anchor="ctr" anchorCtr="1">
              <a:spAutoFit/>
            </a:bodyPr>
            <a:lstStyle/>
            <a:p>
              <a:pPr algn="ctr">
                <a:lnSpc>
                  <a:spcPct val="114000"/>
                </a:lnSpc>
              </a:pPr>
              <a:r>
                <a:rPr lang="en-IN" sz="2200" dirty="0">
                  <a:solidFill>
                    <a:schemeClr val="tx1">
                      <a:lumMod val="75000"/>
                      <a:lumOff val="25000"/>
                    </a:schemeClr>
                  </a:solidFill>
                  <a:latin typeface="Open Sans" panose="020B0606030504020204" pitchFamily="34" charset="0"/>
                </a:rPr>
                <a:t>Check</a:t>
              </a:r>
            </a:p>
          </p:txBody>
        </p:sp>
        <p:sp>
          <p:nvSpPr>
            <p:cNvPr id="26" name="Text_3">
              <a:extLst>
                <a:ext uri="{FF2B5EF4-FFF2-40B4-BE49-F238E27FC236}">
                  <a16:creationId xmlns:a16="http://schemas.microsoft.com/office/drawing/2014/main" id="{F541F64C-46BA-5CA3-EC32-BA8F017A6A3A}"/>
                </a:ext>
              </a:extLst>
            </p:cNvPr>
            <p:cNvSpPr txBox="1"/>
            <p:nvPr/>
          </p:nvSpPr>
          <p:spPr>
            <a:xfrm>
              <a:off x="11195649" y="3349992"/>
              <a:ext cx="2496000" cy="556008"/>
            </a:xfrm>
            <a:prstGeom prst="rect">
              <a:avLst/>
            </a:prstGeom>
            <a:noFill/>
          </p:spPr>
          <p:txBody>
            <a:bodyPr wrap="square" rtlCol="0" anchor="ctr" anchorCtr="1">
              <a:spAutoFit/>
            </a:bodyPr>
            <a:lstStyle/>
            <a:p>
              <a:pPr algn="ctr">
                <a:lnSpc>
                  <a:spcPct val="114000"/>
                </a:lnSpc>
              </a:pPr>
              <a:r>
                <a:rPr lang="en-IN" sz="2200" dirty="0">
                  <a:solidFill>
                    <a:schemeClr val="tx1">
                      <a:lumMod val="75000"/>
                      <a:lumOff val="25000"/>
                    </a:schemeClr>
                  </a:solidFill>
                  <a:latin typeface="Open Sans" panose="020B0606030504020204" pitchFamily="34" charset="0"/>
                </a:rPr>
                <a:t>Fix</a:t>
              </a:r>
            </a:p>
          </p:txBody>
        </p:sp>
      </p:grpSp>
      <p:sp>
        <p:nvSpPr>
          <p:cNvPr id="6" name="Brandline_LVC">
            <a:extLst>
              <a:ext uri="{FF2B5EF4-FFF2-40B4-BE49-F238E27FC236}">
                <a16:creationId xmlns:a16="http://schemas.microsoft.com/office/drawing/2014/main" id="{32EAD781-3864-86AC-ED8D-23231FCE08B4}"/>
              </a:ext>
            </a:extLst>
          </p:cNvPr>
          <p:cNvSpPr/>
          <p:nvPr/>
        </p:nvSpPr>
        <p:spPr>
          <a:xfrm>
            <a:off x="5753100" y="816324"/>
            <a:ext cx="47486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4">
            <a:extLst>
              <a:ext uri="{FF2B5EF4-FFF2-40B4-BE49-F238E27FC236}">
                <a16:creationId xmlns:a16="http://schemas.microsoft.com/office/drawing/2014/main" id="{290D99DA-CFDD-509D-1421-96355E52E8FA}"/>
              </a:ext>
            </a:extLst>
          </p:cNvPr>
          <p:cNvSpPr txBox="1">
            <a:spLocks/>
          </p:cNvSpPr>
          <p:nvPr/>
        </p:nvSpPr>
        <p:spPr>
          <a:xfrm>
            <a:off x="1291857" y="3365400"/>
            <a:ext cx="13696999" cy="595710"/>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0" marR="0" lvl="0" indent="0" algn="ctr" rtl="0">
              <a:lnSpc>
                <a:spcPct val="115000"/>
              </a:lnSpc>
              <a:spcBef>
                <a:spcPts val="0"/>
              </a:spcBef>
              <a:spcAft>
                <a:spcPts val="0"/>
              </a:spcAft>
              <a:buClr>
                <a:srgbClr val="3F3F3F"/>
              </a:buClr>
              <a:buSzPts val="2800"/>
              <a:buFont typeface="Arial" panose="020B0604020202020204" pitchFamily="34" charset="0"/>
              <a:buNone/>
              <a:defRPr sz="2200" b="0" i="0" u="none" strike="noStrike" cap="none">
                <a:solidFill>
                  <a:schemeClr val="tx1">
                    <a:lumMod val="75000"/>
                    <a:lumOff val="25000"/>
                  </a:schemeClr>
                </a:solidFill>
                <a:latin typeface="Open Sans"/>
                <a:ea typeface="Open Sans"/>
                <a:cs typeface="Open Sans"/>
                <a:sym typeface="Open Sans"/>
              </a:defRPr>
            </a:lvl1pPr>
            <a:lvl2pPr marL="914400" marR="0" lvl="1" indent="-381000" algn="l" rtl="0">
              <a:lnSpc>
                <a:spcPct val="90000"/>
              </a:lnSpc>
              <a:spcBef>
                <a:spcPts val="500"/>
              </a:spcBef>
              <a:spcAft>
                <a:spcPts val="0"/>
              </a:spcAft>
              <a:buClr>
                <a:srgbClr val="3F3F3F"/>
              </a:buClr>
              <a:buSzPts val="2400"/>
              <a:buFont typeface="Arial"/>
              <a:buChar char="•"/>
              <a:defRPr sz="2200" b="0" i="0" u="none" strike="noStrike" cap="none">
                <a:solidFill>
                  <a:srgbClr val="3F3F3F"/>
                </a:solidFill>
                <a:latin typeface="Open Sans"/>
                <a:ea typeface="Open Sans"/>
                <a:cs typeface="Open Sans"/>
                <a:sym typeface="Open Sans"/>
              </a:defRPr>
            </a:lvl2pPr>
            <a:lvl3pPr marL="1371600" marR="0" lvl="2" indent="-355600" algn="l" rtl="0">
              <a:lnSpc>
                <a:spcPct val="90000"/>
              </a:lnSpc>
              <a:spcBef>
                <a:spcPts val="500"/>
              </a:spcBef>
              <a:spcAft>
                <a:spcPts val="0"/>
              </a:spcAft>
              <a:buClr>
                <a:srgbClr val="3F3F3F"/>
              </a:buClr>
              <a:buSzPts val="2000"/>
              <a:buFont typeface="Arial"/>
              <a:buChar char="•"/>
              <a:defRPr sz="2200" b="0" i="0" u="none" strike="noStrike" cap="none">
                <a:solidFill>
                  <a:srgbClr val="3F3F3F"/>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pPr>
              <a:spcBef>
                <a:spcPts val="600"/>
              </a:spcBef>
            </a:pPr>
            <a:r>
              <a:rPr lang="en-US" dirty="0"/>
              <a:t>For code: CodeGen → Tester → Debugger. In today’s demo: Writer → Checker → Fixer for HR answers.</a:t>
            </a:r>
          </a:p>
        </p:txBody>
      </p:sp>
    </p:spTree>
    <p:custDataLst>
      <p:tags r:id="rId1"/>
    </p:custDataLst>
    <p:extLst>
      <p:ext uri="{BB962C8B-B14F-4D97-AF65-F5344CB8AC3E}">
        <p14:creationId xmlns:p14="http://schemas.microsoft.com/office/powerpoint/2010/main" val="2672387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29BEE-6038-43CE-DEE6-3AC5792B800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6C91B6D-541B-009D-07C4-8A9669C21749}"/>
              </a:ext>
            </a:extLst>
          </p:cNvPr>
          <p:cNvSpPr>
            <a:spLocks noGrp="1"/>
          </p:cNvSpPr>
          <p:nvPr>
            <p:ph type="body" idx="10"/>
          </p:nvPr>
        </p:nvSpPr>
        <p:spPr>
          <a:xfrm>
            <a:off x="1291857" y="1512833"/>
            <a:ext cx="13696999" cy="903776"/>
          </a:xfrm>
        </p:spPr>
        <p:txBody>
          <a:bodyPr>
            <a:noAutofit/>
          </a:bodyPr>
          <a:lstStyle/>
          <a:p>
            <a:r>
              <a:rPr lang="en-US" dirty="0"/>
              <a:t>Every agent reads and adds to the same shared record: the question, the draft, the check results, the history. Nobody starts from scratch, like a hospital case file passed from doctor to nurse to pharmacist.</a:t>
            </a:r>
          </a:p>
        </p:txBody>
      </p:sp>
      <p:sp>
        <p:nvSpPr>
          <p:cNvPr id="3" name="Title 2">
            <a:extLst>
              <a:ext uri="{FF2B5EF4-FFF2-40B4-BE49-F238E27FC236}">
                <a16:creationId xmlns:a16="http://schemas.microsoft.com/office/drawing/2014/main" id="{5B3CC501-813E-9851-2CA0-2E2B904D0531}"/>
              </a:ext>
            </a:extLst>
          </p:cNvPr>
          <p:cNvSpPr>
            <a:spLocks noGrp="1"/>
          </p:cNvSpPr>
          <p:nvPr>
            <p:ph type="title"/>
          </p:nvPr>
        </p:nvSpPr>
        <p:spPr>
          <a:xfrm>
            <a:off x="-10160" y="229878"/>
            <a:ext cx="16276320" cy="687244"/>
          </a:xfrm>
        </p:spPr>
        <p:txBody>
          <a:bodyPr/>
          <a:lstStyle/>
          <a:p>
            <a:r>
              <a:rPr lang="en-US" dirty="0"/>
              <a:t>Shared Context: One Case File for the Whole Chain</a:t>
            </a:r>
          </a:p>
        </p:txBody>
      </p:sp>
      <p:sp>
        <p:nvSpPr>
          <p:cNvPr id="6" name="Brandline_LVC">
            <a:extLst>
              <a:ext uri="{FF2B5EF4-FFF2-40B4-BE49-F238E27FC236}">
                <a16:creationId xmlns:a16="http://schemas.microsoft.com/office/drawing/2014/main" id="{44F85C31-C4B4-CEC7-6744-2BEBDB23B57A}"/>
              </a:ext>
            </a:extLst>
          </p:cNvPr>
          <p:cNvSpPr/>
          <p:nvPr/>
        </p:nvSpPr>
        <p:spPr>
          <a:xfrm>
            <a:off x="5651500" y="816324"/>
            <a:ext cx="49590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14">
            <a:extLst>
              <a:ext uri="{FF2B5EF4-FFF2-40B4-BE49-F238E27FC236}">
                <a16:creationId xmlns:a16="http://schemas.microsoft.com/office/drawing/2014/main" id="{3FB93332-BAC3-2725-015B-AC363A04D254}"/>
              </a:ext>
            </a:extLst>
          </p:cNvPr>
          <p:cNvGrpSpPr>
            <a:grpSpLocks/>
          </p:cNvGrpSpPr>
          <p:nvPr/>
        </p:nvGrpSpPr>
        <p:grpSpPr bwMode="auto">
          <a:xfrm>
            <a:off x="7932705" y="2996927"/>
            <a:ext cx="392383" cy="3367953"/>
            <a:chOff x="11826421" y="1888218"/>
            <a:chExt cx="724808" cy="6213790"/>
          </a:xfrm>
        </p:grpSpPr>
        <p:cxnSp>
          <p:nvCxnSpPr>
            <p:cNvPr id="11" name="Straight Connector 10">
              <a:extLst>
                <a:ext uri="{FF2B5EF4-FFF2-40B4-BE49-F238E27FC236}">
                  <a16:creationId xmlns:a16="http://schemas.microsoft.com/office/drawing/2014/main" id="{A1D629AD-CAAF-D03A-968C-59BE41AD52F7}"/>
                </a:ext>
              </a:extLst>
            </p:cNvPr>
            <p:cNvCxnSpPr>
              <a:cxnSpLocks/>
            </p:cNvCxnSpPr>
            <p:nvPr/>
          </p:nvCxnSpPr>
          <p:spPr>
            <a:xfrm>
              <a:off x="12188826" y="2204146"/>
              <a:ext cx="0" cy="5735953"/>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5DF2334-6FD4-5EEE-6DCD-D3AB4C137248}"/>
                </a:ext>
              </a:extLst>
            </p:cNvPr>
            <p:cNvSpPr/>
            <p:nvPr/>
          </p:nvSpPr>
          <p:spPr>
            <a:xfrm>
              <a:off x="11826421" y="1888218"/>
              <a:ext cx="724808" cy="725525"/>
            </a:xfrm>
            <a:prstGeom prst="ellipse">
              <a:avLst/>
            </a:prstGeom>
            <a:solidFill>
              <a:schemeClr val="bg1"/>
            </a:solidFill>
            <a:ln w="76200">
              <a:solidFill>
                <a:srgbClr val="4EB0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13" name="Oval 12">
              <a:extLst>
                <a:ext uri="{FF2B5EF4-FFF2-40B4-BE49-F238E27FC236}">
                  <a16:creationId xmlns:a16="http://schemas.microsoft.com/office/drawing/2014/main" id="{1C38806B-2CB8-CBE7-7A19-8387EF661B0F}"/>
                </a:ext>
              </a:extLst>
            </p:cNvPr>
            <p:cNvSpPr/>
            <p:nvPr/>
          </p:nvSpPr>
          <p:spPr>
            <a:xfrm>
              <a:off x="11826421" y="4631557"/>
              <a:ext cx="724808" cy="725525"/>
            </a:xfrm>
            <a:prstGeom prst="ellipse">
              <a:avLst/>
            </a:prstGeom>
            <a:solidFill>
              <a:schemeClr val="bg1"/>
            </a:solidFill>
            <a:ln w="76200">
              <a:solidFill>
                <a:srgbClr val="848CD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14" name="Oval 13">
              <a:extLst>
                <a:ext uri="{FF2B5EF4-FFF2-40B4-BE49-F238E27FC236}">
                  <a16:creationId xmlns:a16="http://schemas.microsoft.com/office/drawing/2014/main" id="{99B3FF9F-2777-50CE-63F5-7275C1081E65}"/>
                </a:ext>
              </a:extLst>
            </p:cNvPr>
            <p:cNvSpPr/>
            <p:nvPr/>
          </p:nvSpPr>
          <p:spPr>
            <a:xfrm>
              <a:off x="11826421" y="7376484"/>
              <a:ext cx="724808" cy="725524"/>
            </a:xfrm>
            <a:prstGeom prst="ellipse">
              <a:avLst/>
            </a:prstGeom>
            <a:solidFill>
              <a:schemeClr val="bg1"/>
            </a:solidFill>
            <a:ln w="76200">
              <a:solidFill>
                <a:srgbClr val="DF9D3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grpSp>
      <p:sp>
        <p:nvSpPr>
          <p:cNvPr id="15" name="Rectangle 14">
            <a:extLst>
              <a:ext uri="{FF2B5EF4-FFF2-40B4-BE49-F238E27FC236}">
                <a16:creationId xmlns:a16="http://schemas.microsoft.com/office/drawing/2014/main" id="{E04E495B-2562-ED0A-F559-CB4674854738}"/>
              </a:ext>
            </a:extLst>
          </p:cNvPr>
          <p:cNvSpPr/>
          <p:nvPr/>
        </p:nvSpPr>
        <p:spPr>
          <a:xfrm>
            <a:off x="9229460" y="3544195"/>
            <a:ext cx="4460773" cy="20585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16" name="Rectangle 15">
            <a:extLst>
              <a:ext uri="{FF2B5EF4-FFF2-40B4-BE49-F238E27FC236}">
                <a16:creationId xmlns:a16="http://schemas.microsoft.com/office/drawing/2014/main" id="{28539196-E9FD-0398-2EEA-0BB54DFBA275}"/>
              </a:ext>
            </a:extLst>
          </p:cNvPr>
          <p:cNvSpPr/>
          <p:nvPr/>
        </p:nvSpPr>
        <p:spPr>
          <a:xfrm>
            <a:off x="9216552" y="6518906"/>
            <a:ext cx="4460773" cy="20585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17" name="Rectangle 16">
            <a:extLst>
              <a:ext uri="{FF2B5EF4-FFF2-40B4-BE49-F238E27FC236}">
                <a16:creationId xmlns:a16="http://schemas.microsoft.com/office/drawing/2014/main" id="{4B539C70-9469-CFC4-04AC-A9F56EC0B745}"/>
              </a:ext>
            </a:extLst>
          </p:cNvPr>
          <p:cNvSpPr/>
          <p:nvPr/>
        </p:nvSpPr>
        <p:spPr>
          <a:xfrm>
            <a:off x="2566696" y="5093075"/>
            <a:ext cx="4460773" cy="20585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29" name="Right Triangle 28">
            <a:extLst>
              <a:ext uri="{FF2B5EF4-FFF2-40B4-BE49-F238E27FC236}">
                <a16:creationId xmlns:a16="http://schemas.microsoft.com/office/drawing/2014/main" id="{06693486-EC4A-F447-F034-6A14314981DF}"/>
              </a:ext>
            </a:extLst>
          </p:cNvPr>
          <p:cNvSpPr/>
          <p:nvPr/>
        </p:nvSpPr>
        <p:spPr>
          <a:xfrm rot="5400000" flipV="1">
            <a:off x="2222071" y="5089205"/>
            <a:ext cx="345056" cy="344195"/>
          </a:xfrm>
          <a:prstGeom prst="rtTriangle">
            <a:avLst/>
          </a:prstGeom>
          <a:solidFill>
            <a:srgbClr val="4C60B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0" name="Rectangle 29">
            <a:extLst>
              <a:ext uri="{FF2B5EF4-FFF2-40B4-BE49-F238E27FC236}">
                <a16:creationId xmlns:a16="http://schemas.microsoft.com/office/drawing/2014/main" id="{C3D038B0-D78E-6471-EF5D-36CA56A298C6}"/>
              </a:ext>
            </a:extLst>
          </p:cNvPr>
          <p:cNvSpPr/>
          <p:nvPr/>
        </p:nvSpPr>
        <p:spPr>
          <a:xfrm rot="5400000">
            <a:off x="4330267" y="2213450"/>
            <a:ext cx="767556" cy="4983091"/>
          </a:xfrm>
          <a:prstGeom prst="rect">
            <a:avLst/>
          </a:prstGeom>
          <a:solidFill>
            <a:srgbClr val="848C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1" name="Right Triangle 30">
            <a:extLst>
              <a:ext uri="{FF2B5EF4-FFF2-40B4-BE49-F238E27FC236}">
                <a16:creationId xmlns:a16="http://schemas.microsoft.com/office/drawing/2014/main" id="{92C1DEE7-A395-EF65-9031-7438D3F62742}"/>
              </a:ext>
            </a:extLst>
          </p:cNvPr>
          <p:cNvSpPr/>
          <p:nvPr/>
        </p:nvSpPr>
        <p:spPr>
          <a:xfrm rot="16200000" flipH="1" flipV="1">
            <a:off x="13690664" y="3568721"/>
            <a:ext cx="344195" cy="345056"/>
          </a:xfrm>
          <a:prstGeom prst="rtTriangle">
            <a:avLst/>
          </a:prstGeom>
          <a:solidFill>
            <a:srgbClr val="35776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2" name="Rectangle 31">
            <a:extLst>
              <a:ext uri="{FF2B5EF4-FFF2-40B4-BE49-F238E27FC236}">
                <a16:creationId xmlns:a16="http://schemas.microsoft.com/office/drawing/2014/main" id="{BE89A6D8-EDA9-7E13-6DA9-DD20430193A2}"/>
              </a:ext>
            </a:extLst>
          </p:cNvPr>
          <p:cNvSpPr/>
          <p:nvPr/>
        </p:nvSpPr>
        <p:spPr>
          <a:xfrm rot="16200000" flipH="1">
            <a:off x="11162978" y="696839"/>
            <a:ext cx="767556" cy="4977067"/>
          </a:xfrm>
          <a:prstGeom prst="rect">
            <a:avLst/>
          </a:prstGeom>
          <a:solidFill>
            <a:srgbClr val="4EB0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3" name="Right Triangle 32">
            <a:extLst>
              <a:ext uri="{FF2B5EF4-FFF2-40B4-BE49-F238E27FC236}">
                <a16:creationId xmlns:a16="http://schemas.microsoft.com/office/drawing/2014/main" id="{52ED72B3-689D-4261-7609-AB4FDA0AC6E0}"/>
              </a:ext>
            </a:extLst>
          </p:cNvPr>
          <p:cNvSpPr/>
          <p:nvPr/>
        </p:nvSpPr>
        <p:spPr>
          <a:xfrm rot="16200000" flipH="1" flipV="1">
            <a:off x="13673452" y="6519337"/>
            <a:ext cx="345056" cy="344195"/>
          </a:xfrm>
          <a:prstGeom prst="rtTriangle">
            <a:avLst/>
          </a:prstGeom>
          <a:solidFill>
            <a:srgbClr val="A86F1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4" name="Rectangle 33">
            <a:extLst>
              <a:ext uri="{FF2B5EF4-FFF2-40B4-BE49-F238E27FC236}">
                <a16:creationId xmlns:a16="http://schemas.microsoft.com/office/drawing/2014/main" id="{8F818A80-EDE8-3F01-6F67-9E4F5AC050C5}"/>
              </a:ext>
            </a:extLst>
          </p:cNvPr>
          <p:cNvSpPr/>
          <p:nvPr/>
        </p:nvSpPr>
        <p:spPr>
          <a:xfrm rot="16200000" flipH="1">
            <a:off x="11154373" y="3655200"/>
            <a:ext cx="767556" cy="4959857"/>
          </a:xfrm>
          <a:prstGeom prst="rect">
            <a:avLst/>
          </a:prstGeom>
          <a:solidFill>
            <a:srgbClr val="DF9D3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5" name="Right Triangle 34">
            <a:extLst>
              <a:ext uri="{FF2B5EF4-FFF2-40B4-BE49-F238E27FC236}">
                <a16:creationId xmlns:a16="http://schemas.microsoft.com/office/drawing/2014/main" id="{3092A6F9-C715-AD88-4E86-F5DC8CF658F5}"/>
              </a:ext>
            </a:extLst>
          </p:cNvPr>
          <p:cNvSpPr/>
          <p:nvPr/>
        </p:nvSpPr>
        <p:spPr>
          <a:xfrm rot="13500000">
            <a:off x="6928482" y="4434373"/>
            <a:ext cx="545551" cy="546411"/>
          </a:xfrm>
          <a:prstGeom prst="rtTriangle">
            <a:avLst/>
          </a:prstGeom>
          <a:solidFill>
            <a:srgbClr val="848C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6" name="Right Triangle 35">
            <a:extLst>
              <a:ext uri="{FF2B5EF4-FFF2-40B4-BE49-F238E27FC236}">
                <a16:creationId xmlns:a16="http://schemas.microsoft.com/office/drawing/2014/main" id="{84939B01-05D1-1FE9-8623-8249D12DDC90}"/>
              </a:ext>
            </a:extLst>
          </p:cNvPr>
          <p:cNvSpPr/>
          <p:nvPr/>
        </p:nvSpPr>
        <p:spPr>
          <a:xfrm rot="8100000" flipH="1">
            <a:off x="8787169" y="2914320"/>
            <a:ext cx="545551" cy="545551"/>
          </a:xfrm>
          <a:prstGeom prst="rtTriangle">
            <a:avLst/>
          </a:prstGeom>
          <a:solidFill>
            <a:srgbClr val="4EB0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7" name="Right Triangle 36">
            <a:extLst>
              <a:ext uri="{FF2B5EF4-FFF2-40B4-BE49-F238E27FC236}">
                <a16:creationId xmlns:a16="http://schemas.microsoft.com/office/drawing/2014/main" id="{07FD93DE-4C90-9391-0085-7E233FC8DC47}"/>
              </a:ext>
            </a:extLst>
          </p:cNvPr>
          <p:cNvSpPr/>
          <p:nvPr/>
        </p:nvSpPr>
        <p:spPr>
          <a:xfrm rot="8100000" flipH="1">
            <a:off x="8787169" y="5864935"/>
            <a:ext cx="545551" cy="545551"/>
          </a:xfrm>
          <a:prstGeom prst="rtTriangle">
            <a:avLst/>
          </a:prstGeom>
          <a:solidFill>
            <a:srgbClr val="DF9D3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15000"/>
              </a:lnSpc>
              <a:defRPr/>
            </a:pPr>
            <a:endParaRPr lang="ru-RU" sz="2200">
              <a:solidFill>
                <a:srgbClr val="404040"/>
              </a:solidFill>
              <a:latin typeface="Open Sans" panose="020B0606030504020204" pitchFamily="34" charset="0"/>
            </a:endParaRPr>
          </a:p>
        </p:txBody>
      </p:sp>
      <p:sp>
        <p:nvSpPr>
          <p:cNvPr id="38" name="Text_2">
            <a:extLst>
              <a:ext uri="{FF2B5EF4-FFF2-40B4-BE49-F238E27FC236}">
                <a16:creationId xmlns:a16="http://schemas.microsoft.com/office/drawing/2014/main" id="{177F3D44-47B7-FB1D-BCCA-969BBD8B028C}"/>
              </a:ext>
            </a:extLst>
          </p:cNvPr>
          <p:cNvSpPr txBox="1">
            <a:spLocks noChangeArrowheads="1"/>
          </p:cNvSpPr>
          <p:nvPr/>
        </p:nvSpPr>
        <p:spPr bwMode="auto">
          <a:xfrm>
            <a:off x="2625999" y="5690796"/>
            <a:ext cx="4352281" cy="1235851"/>
          </a:xfrm>
          <a:prstGeom prst="rect">
            <a:avLst/>
          </a:prstGeom>
          <a:scene3d>
            <a:camera prst="orthographicFront"/>
            <a:lightRig rig="threePt" dir="t"/>
          </a:scene3d>
        </p:spPr>
        <p:txBody>
          <a:bodyPr wrap="square" anchor="t" anchorCtr="0">
            <a:spAutoFit/>
          </a:bodyPr>
          <a:lstStyle>
            <a:defPPr>
              <a:defRPr lang="en-US"/>
            </a:defPPr>
            <a:lvl1pPr>
              <a:lnSpc>
                <a:spcPct val="115000"/>
              </a:lnSpc>
              <a:defRPr sz="2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US" altLang="en-US" dirty="0">
                <a:solidFill>
                  <a:schemeClr val="tx1">
                    <a:lumMod val="75000"/>
                    <a:lumOff val="25000"/>
                  </a:schemeClr>
                </a:solidFill>
              </a:rPr>
              <a:t>Tests the draft and adds the results to the same record</a:t>
            </a:r>
          </a:p>
        </p:txBody>
      </p:sp>
      <p:sp>
        <p:nvSpPr>
          <p:cNvPr id="39" name="T_Text_2">
            <a:extLst>
              <a:ext uri="{FF2B5EF4-FFF2-40B4-BE49-F238E27FC236}">
                <a16:creationId xmlns:a16="http://schemas.microsoft.com/office/drawing/2014/main" id="{DA83F5F2-E8FF-D281-2BCF-77446FA1C612}"/>
              </a:ext>
            </a:extLst>
          </p:cNvPr>
          <p:cNvSpPr txBox="1"/>
          <p:nvPr/>
        </p:nvSpPr>
        <p:spPr>
          <a:xfrm>
            <a:off x="2922562" y="5281639"/>
            <a:ext cx="3749040" cy="457176"/>
          </a:xfrm>
          <a:prstGeom prst="rect">
            <a:avLst/>
          </a:prstGeom>
          <a:noFill/>
        </p:spPr>
        <p:txBody>
          <a:bodyPr wrap="square" rtlCol="0" anchor="ctr" anchorCtr="0">
            <a:spAutoFit/>
          </a:bodyPr>
          <a:lstStyle/>
          <a:p>
            <a:pPr algn="ctr">
              <a:lnSpc>
                <a:spcPct val="115000"/>
              </a:lnSpc>
            </a:pPr>
            <a:r>
              <a:rPr lang="en-US" sz="2200" b="1">
                <a:solidFill>
                  <a:srgbClr val="404040"/>
                </a:solidFill>
                <a:latin typeface="Open Sans" panose="020B0606030504020204" pitchFamily="34" charset="0"/>
                <a:cs typeface="Sora ExtraBold" pitchFamily="2" charset="0"/>
              </a:rPr>
              <a:t>Check</a:t>
            </a:r>
          </a:p>
        </p:txBody>
      </p:sp>
      <p:sp>
        <p:nvSpPr>
          <p:cNvPr id="40" name="Text_3">
            <a:extLst>
              <a:ext uri="{FF2B5EF4-FFF2-40B4-BE49-F238E27FC236}">
                <a16:creationId xmlns:a16="http://schemas.microsoft.com/office/drawing/2014/main" id="{ABDD8D70-6909-4C93-D165-5C4497663C7E}"/>
              </a:ext>
            </a:extLst>
          </p:cNvPr>
          <p:cNvSpPr txBox="1">
            <a:spLocks noChangeArrowheads="1"/>
          </p:cNvSpPr>
          <p:nvPr/>
        </p:nvSpPr>
        <p:spPr bwMode="auto">
          <a:xfrm>
            <a:off x="9058223" y="7151576"/>
            <a:ext cx="4569914" cy="1235851"/>
          </a:xfrm>
          <a:prstGeom prst="rect">
            <a:avLst/>
          </a:prstGeom>
          <a:scene3d>
            <a:camera prst="orthographicFront"/>
            <a:lightRig rig="threePt" dir="t"/>
          </a:scene3d>
        </p:spPr>
        <p:txBody>
          <a:bodyPr wrap="square" anchor="t" anchorCtr="0">
            <a:spAutoFit/>
          </a:bodyPr>
          <a:lstStyle>
            <a:defPPr>
              <a:defRPr lang="en-US"/>
            </a:defPPr>
            <a:lvl1pPr>
              <a:lnSpc>
                <a:spcPct val="115000"/>
              </a:lnSpc>
              <a:defRPr sz="2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US" altLang="en-US" dirty="0">
                <a:solidFill>
                  <a:schemeClr val="tx1">
                    <a:lumMod val="75000"/>
                    <a:lumOff val="25000"/>
                  </a:schemeClr>
                </a:solidFill>
              </a:rPr>
              <a:t>Uses the draft, the results and the history to correct it</a:t>
            </a:r>
          </a:p>
        </p:txBody>
      </p:sp>
      <p:sp>
        <p:nvSpPr>
          <p:cNvPr id="41" name="T_Text_3">
            <a:extLst>
              <a:ext uri="{FF2B5EF4-FFF2-40B4-BE49-F238E27FC236}">
                <a16:creationId xmlns:a16="http://schemas.microsoft.com/office/drawing/2014/main" id="{58799E9C-3BD6-AD5D-56B9-B220FC160EC3}"/>
              </a:ext>
            </a:extLst>
          </p:cNvPr>
          <p:cNvSpPr txBox="1"/>
          <p:nvPr/>
        </p:nvSpPr>
        <p:spPr>
          <a:xfrm>
            <a:off x="9572418" y="6742419"/>
            <a:ext cx="3749040" cy="457176"/>
          </a:xfrm>
          <a:prstGeom prst="rect">
            <a:avLst/>
          </a:prstGeom>
          <a:noFill/>
        </p:spPr>
        <p:txBody>
          <a:bodyPr wrap="square" rtlCol="0" anchor="ctr" anchorCtr="0">
            <a:spAutoFit/>
          </a:bodyPr>
          <a:lstStyle/>
          <a:p>
            <a:pPr algn="ctr">
              <a:lnSpc>
                <a:spcPct val="115000"/>
              </a:lnSpc>
            </a:pPr>
            <a:r>
              <a:rPr lang="en-US" sz="2200" b="1">
                <a:solidFill>
                  <a:srgbClr val="404040"/>
                </a:solidFill>
                <a:latin typeface="Open Sans" panose="020B0606030504020204" pitchFamily="34" charset="0"/>
                <a:cs typeface="Sora ExtraBold" pitchFamily="2" charset="0"/>
              </a:rPr>
              <a:t>Fix</a:t>
            </a:r>
          </a:p>
        </p:txBody>
      </p:sp>
      <p:sp>
        <p:nvSpPr>
          <p:cNvPr id="42" name="Text_1">
            <a:extLst>
              <a:ext uri="{FF2B5EF4-FFF2-40B4-BE49-F238E27FC236}">
                <a16:creationId xmlns:a16="http://schemas.microsoft.com/office/drawing/2014/main" id="{B62F267C-3D9E-1C6B-5B9C-6E70D9355501}"/>
              </a:ext>
            </a:extLst>
          </p:cNvPr>
          <p:cNvSpPr txBox="1">
            <a:spLocks noChangeArrowheads="1"/>
          </p:cNvSpPr>
          <p:nvPr/>
        </p:nvSpPr>
        <p:spPr bwMode="auto">
          <a:xfrm>
            <a:off x="9288763" y="4166796"/>
            <a:ext cx="4352281" cy="846514"/>
          </a:xfrm>
          <a:prstGeom prst="rect">
            <a:avLst/>
          </a:prstGeom>
          <a:scene3d>
            <a:camera prst="orthographicFront"/>
            <a:lightRig rig="threePt" dir="t"/>
          </a:scene3d>
        </p:spPr>
        <p:txBody>
          <a:bodyPr wrap="square" anchor="t" anchorCtr="0">
            <a:spAutoFit/>
          </a:bodyPr>
          <a:lstStyle>
            <a:defPPr>
              <a:defRPr lang="en-US"/>
            </a:defPPr>
            <a:lvl1pPr>
              <a:lnSpc>
                <a:spcPct val="115000"/>
              </a:lnSpc>
              <a:defRPr sz="2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algn="ctr"/>
            <a:r>
              <a:rPr lang="en-US" altLang="en-US" dirty="0">
                <a:solidFill>
                  <a:schemeClr val="tx1">
                    <a:lumMod val="75000"/>
                    <a:lumOff val="25000"/>
                  </a:schemeClr>
                </a:solidFill>
              </a:rPr>
              <a:t>Writes the first draft into the shared record</a:t>
            </a:r>
          </a:p>
        </p:txBody>
      </p:sp>
      <p:sp>
        <p:nvSpPr>
          <p:cNvPr id="43" name="T_Text_1">
            <a:extLst>
              <a:ext uri="{FF2B5EF4-FFF2-40B4-BE49-F238E27FC236}">
                <a16:creationId xmlns:a16="http://schemas.microsoft.com/office/drawing/2014/main" id="{A9F48F7C-49C4-8BBA-7B7D-9B341A61F8D3}"/>
              </a:ext>
            </a:extLst>
          </p:cNvPr>
          <p:cNvSpPr txBox="1"/>
          <p:nvPr/>
        </p:nvSpPr>
        <p:spPr>
          <a:xfrm>
            <a:off x="9585326" y="3757639"/>
            <a:ext cx="3749040" cy="457176"/>
          </a:xfrm>
          <a:prstGeom prst="rect">
            <a:avLst/>
          </a:prstGeom>
          <a:noFill/>
        </p:spPr>
        <p:txBody>
          <a:bodyPr wrap="square" rtlCol="0" anchor="ctr" anchorCtr="0">
            <a:spAutoFit/>
          </a:bodyPr>
          <a:lstStyle/>
          <a:p>
            <a:pPr algn="ctr">
              <a:lnSpc>
                <a:spcPct val="115000"/>
              </a:lnSpc>
            </a:pPr>
            <a:r>
              <a:rPr lang="en-US" sz="2200" b="1" dirty="0">
                <a:solidFill>
                  <a:srgbClr val="404040"/>
                </a:solidFill>
                <a:latin typeface="Open Sans" panose="020B0606030504020204" pitchFamily="34" charset="0"/>
                <a:cs typeface="Sora ExtraBold" pitchFamily="2" charset="0"/>
              </a:rPr>
              <a:t>Generate</a:t>
            </a:r>
          </a:p>
        </p:txBody>
      </p:sp>
      <p:sp>
        <p:nvSpPr>
          <p:cNvPr id="44" name="TextBox 30">
            <a:extLst>
              <a:ext uri="{FF2B5EF4-FFF2-40B4-BE49-F238E27FC236}">
                <a16:creationId xmlns:a16="http://schemas.microsoft.com/office/drawing/2014/main" id="{1CA8D976-645C-610D-9CAC-F3AE079BD282}"/>
              </a:ext>
            </a:extLst>
          </p:cNvPr>
          <p:cNvSpPr txBox="1">
            <a:spLocks noChangeArrowheads="1"/>
          </p:cNvSpPr>
          <p:nvPr/>
        </p:nvSpPr>
        <p:spPr bwMode="auto">
          <a:xfrm>
            <a:off x="11080693" y="2928276"/>
            <a:ext cx="878299" cy="49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600">
                <a:solidFill>
                  <a:schemeClr val="tx1"/>
                </a:solidFill>
                <a:latin typeface="Lato Light" panose="020F0302020204030203" pitchFamily="34" charset="0"/>
              </a:defRPr>
            </a:lvl1pPr>
            <a:lvl2pPr marL="742950" indent="-285750">
              <a:defRPr sz="3600">
                <a:solidFill>
                  <a:schemeClr val="tx1"/>
                </a:solidFill>
                <a:latin typeface="Lato Light" panose="020F0302020204030203" pitchFamily="34" charset="0"/>
              </a:defRPr>
            </a:lvl2pPr>
            <a:lvl3pPr marL="1143000" indent="-228600">
              <a:defRPr sz="3600">
                <a:solidFill>
                  <a:schemeClr val="tx1"/>
                </a:solidFill>
                <a:latin typeface="Lato Light" panose="020F0302020204030203" pitchFamily="34" charset="0"/>
              </a:defRPr>
            </a:lvl3pPr>
            <a:lvl4pPr marL="1600200" indent="-228600">
              <a:defRPr sz="3600">
                <a:solidFill>
                  <a:schemeClr val="tx1"/>
                </a:solidFill>
                <a:latin typeface="Lato Light" panose="020F0302020204030203" pitchFamily="34" charset="0"/>
              </a:defRPr>
            </a:lvl4pPr>
            <a:lvl5pPr marL="2057400" indent="-228600">
              <a:defRPr sz="3600">
                <a:solidFill>
                  <a:schemeClr val="tx1"/>
                </a:solidFill>
                <a:latin typeface="Lato Light" panose="020F0302020204030203" pitchFamily="34" charset="0"/>
              </a:defRPr>
            </a:lvl5pPr>
            <a:lvl6pPr marL="2514600" indent="-228600" defTabSz="1827213" eaLnBrk="0" fontAlgn="base" hangingPunct="0">
              <a:spcBef>
                <a:spcPct val="0"/>
              </a:spcBef>
              <a:spcAft>
                <a:spcPct val="0"/>
              </a:spcAft>
              <a:defRPr sz="3600">
                <a:solidFill>
                  <a:schemeClr val="tx1"/>
                </a:solidFill>
                <a:latin typeface="Lato Light" panose="020F0302020204030203" pitchFamily="34" charset="0"/>
              </a:defRPr>
            </a:lvl6pPr>
            <a:lvl7pPr marL="2971800" indent="-228600" defTabSz="1827213" eaLnBrk="0" fontAlgn="base" hangingPunct="0">
              <a:spcBef>
                <a:spcPct val="0"/>
              </a:spcBef>
              <a:spcAft>
                <a:spcPct val="0"/>
              </a:spcAft>
              <a:defRPr sz="3600">
                <a:solidFill>
                  <a:schemeClr val="tx1"/>
                </a:solidFill>
                <a:latin typeface="Lato Light" panose="020F0302020204030203" pitchFamily="34" charset="0"/>
              </a:defRPr>
            </a:lvl7pPr>
            <a:lvl8pPr marL="3429000" indent="-228600" defTabSz="1827213" eaLnBrk="0" fontAlgn="base" hangingPunct="0">
              <a:spcBef>
                <a:spcPct val="0"/>
              </a:spcBef>
              <a:spcAft>
                <a:spcPct val="0"/>
              </a:spcAft>
              <a:defRPr sz="3600">
                <a:solidFill>
                  <a:schemeClr val="tx1"/>
                </a:solidFill>
                <a:latin typeface="Lato Light" panose="020F0302020204030203" pitchFamily="34" charset="0"/>
              </a:defRPr>
            </a:lvl8pPr>
            <a:lvl9pPr marL="3886200" indent="-228600" defTabSz="1827213" eaLnBrk="0" fontAlgn="base" hangingPunct="0">
              <a:spcBef>
                <a:spcPct val="0"/>
              </a:spcBef>
              <a:spcAft>
                <a:spcPct val="0"/>
              </a:spcAft>
              <a:defRPr sz="3600">
                <a:solidFill>
                  <a:schemeClr val="tx1"/>
                </a:solidFill>
                <a:latin typeface="Lato Light" panose="020F0302020204030203" pitchFamily="34" charset="0"/>
              </a:defRPr>
            </a:lvl9pPr>
          </a:lstStyle>
          <a:p>
            <a:pPr algn="ctr">
              <a:lnSpc>
                <a:spcPct val="115000"/>
              </a:lnSpc>
            </a:pPr>
            <a:r>
              <a:rPr lang="en-US" altLang="ru-RU" sz="2400" b="1" dirty="0">
                <a:solidFill>
                  <a:schemeClr val="bg1"/>
                </a:solidFill>
                <a:latin typeface="Open Sans" panose="020B0606030504020204" pitchFamily="34" charset="0"/>
              </a:rPr>
              <a:t>01</a:t>
            </a:r>
          </a:p>
        </p:txBody>
      </p:sp>
      <p:sp>
        <p:nvSpPr>
          <p:cNvPr id="45" name="TextBox 30">
            <a:extLst>
              <a:ext uri="{FF2B5EF4-FFF2-40B4-BE49-F238E27FC236}">
                <a16:creationId xmlns:a16="http://schemas.microsoft.com/office/drawing/2014/main" id="{39651792-E6B3-18B6-FCB5-FF3A92E546A3}"/>
              </a:ext>
            </a:extLst>
          </p:cNvPr>
          <p:cNvSpPr txBox="1">
            <a:spLocks noChangeArrowheads="1"/>
          </p:cNvSpPr>
          <p:nvPr/>
        </p:nvSpPr>
        <p:spPr bwMode="auto">
          <a:xfrm>
            <a:off x="4415199" y="4460297"/>
            <a:ext cx="878299" cy="49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600">
                <a:solidFill>
                  <a:schemeClr val="tx1"/>
                </a:solidFill>
                <a:latin typeface="Lato Light" panose="020F0302020204030203" pitchFamily="34" charset="0"/>
              </a:defRPr>
            </a:lvl1pPr>
            <a:lvl2pPr marL="742950" indent="-285750">
              <a:defRPr sz="3600">
                <a:solidFill>
                  <a:schemeClr val="tx1"/>
                </a:solidFill>
                <a:latin typeface="Lato Light" panose="020F0302020204030203" pitchFamily="34" charset="0"/>
              </a:defRPr>
            </a:lvl2pPr>
            <a:lvl3pPr marL="1143000" indent="-228600">
              <a:defRPr sz="3600">
                <a:solidFill>
                  <a:schemeClr val="tx1"/>
                </a:solidFill>
                <a:latin typeface="Lato Light" panose="020F0302020204030203" pitchFamily="34" charset="0"/>
              </a:defRPr>
            </a:lvl3pPr>
            <a:lvl4pPr marL="1600200" indent="-228600">
              <a:defRPr sz="3600">
                <a:solidFill>
                  <a:schemeClr val="tx1"/>
                </a:solidFill>
                <a:latin typeface="Lato Light" panose="020F0302020204030203" pitchFamily="34" charset="0"/>
              </a:defRPr>
            </a:lvl4pPr>
            <a:lvl5pPr marL="2057400" indent="-228600">
              <a:defRPr sz="3600">
                <a:solidFill>
                  <a:schemeClr val="tx1"/>
                </a:solidFill>
                <a:latin typeface="Lato Light" panose="020F0302020204030203" pitchFamily="34" charset="0"/>
              </a:defRPr>
            </a:lvl5pPr>
            <a:lvl6pPr marL="2514600" indent="-228600" defTabSz="1827213" eaLnBrk="0" fontAlgn="base" hangingPunct="0">
              <a:spcBef>
                <a:spcPct val="0"/>
              </a:spcBef>
              <a:spcAft>
                <a:spcPct val="0"/>
              </a:spcAft>
              <a:defRPr sz="3600">
                <a:solidFill>
                  <a:schemeClr val="tx1"/>
                </a:solidFill>
                <a:latin typeface="Lato Light" panose="020F0302020204030203" pitchFamily="34" charset="0"/>
              </a:defRPr>
            </a:lvl6pPr>
            <a:lvl7pPr marL="2971800" indent="-228600" defTabSz="1827213" eaLnBrk="0" fontAlgn="base" hangingPunct="0">
              <a:spcBef>
                <a:spcPct val="0"/>
              </a:spcBef>
              <a:spcAft>
                <a:spcPct val="0"/>
              </a:spcAft>
              <a:defRPr sz="3600">
                <a:solidFill>
                  <a:schemeClr val="tx1"/>
                </a:solidFill>
                <a:latin typeface="Lato Light" panose="020F0302020204030203" pitchFamily="34" charset="0"/>
              </a:defRPr>
            </a:lvl7pPr>
            <a:lvl8pPr marL="3429000" indent="-228600" defTabSz="1827213" eaLnBrk="0" fontAlgn="base" hangingPunct="0">
              <a:spcBef>
                <a:spcPct val="0"/>
              </a:spcBef>
              <a:spcAft>
                <a:spcPct val="0"/>
              </a:spcAft>
              <a:defRPr sz="3600">
                <a:solidFill>
                  <a:schemeClr val="tx1"/>
                </a:solidFill>
                <a:latin typeface="Lato Light" panose="020F0302020204030203" pitchFamily="34" charset="0"/>
              </a:defRPr>
            </a:lvl8pPr>
            <a:lvl9pPr marL="3886200" indent="-228600" defTabSz="1827213" eaLnBrk="0" fontAlgn="base" hangingPunct="0">
              <a:spcBef>
                <a:spcPct val="0"/>
              </a:spcBef>
              <a:spcAft>
                <a:spcPct val="0"/>
              </a:spcAft>
              <a:defRPr sz="3600">
                <a:solidFill>
                  <a:schemeClr val="tx1"/>
                </a:solidFill>
                <a:latin typeface="Lato Light" panose="020F0302020204030203" pitchFamily="34" charset="0"/>
              </a:defRPr>
            </a:lvl9pPr>
          </a:lstStyle>
          <a:p>
            <a:pPr algn="ctr">
              <a:lnSpc>
                <a:spcPct val="115000"/>
              </a:lnSpc>
            </a:pPr>
            <a:r>
              <a:rPr lang="en-US" altLang="ru-RU" sz="2400" b="1" dirty="0">
                <a:solidFill>
                  <a:schemeClr val="bg1"/>
                </a:solidFill>
                <a:latin typeface="Open Sans" panose="020B0606030504020204" pitchFamily="34" charset="0"/>
              </a:rPr>
              <a:t>02</a:t>
            </a:r>
          </a:p>
        </p:txBody>
      </p:sp>
      <p:sp>
        <p:nvSpPr>
          <p:cNvPr id="46" name="TextBox 30">
            <a:extLst>
              <a:ext uri="{FF2B5EF4-FFF2-40B4-BE49-F238E27FC236}">
                <a16:creationId xmlns:a16="http://schemas.microsoft.com/office/drawing/2014/main" id="{411FF828-8D84-6676-855B-CA463499CD93}"/>
              </a:ext>
            </a:extLst>
          </p:cNvPr>
          <p:cNvSpPr txBox="1">
            <a:spLocks noChangeArrowheads="1"/>
          </p:cNvSpPr>
          <p:nvPr/>
        </p:nvSpPr>
        <p:spPr bwMode="auto">
          <a:xfrm>
            <a:off x="11064652" y="5853697"/>
            <a:ext cx="878299" cy="49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600">
                <a:solidFill>
                  <a:schemeClr val="tx1"/>
                </a:solidFill>
                <a:latin typeface="Lato Light" panose="020F0302020204030203" pitchFamily="34" charset="0"/>
              </a:defRPr>
            </a:lvl1pPr>
            <a:lvl2pPr marL="742950" indent="-285750">
              <a:defRPr sz="3600">
                <a:solidFill>
                  <a:schemeClr val="tx1"/>
                </a:solidFill>
                <a:latin typeface="Lato Light" panose="020F0302020204030203" pitchFamily="34" charset="0"/>
              </a:defRPr>
            </a:lvl2pPr>
            <a:lvl3pPr marL="1143000" indent="-228600">
              <a:defRPr sz="3600">
                <a:solidFill>
                  <a:schemeClr val="tx1"/>
                </a:solidFill>
                <a:latin typeface="Lato Light" panose="020F0302020204030203" pitchFamily="34" charset="0"/>
              </a:defRPr>
            </a:lvl3pPr>
            <a:lvl4pPr marL="1600200" indent="-228600">
              <a:defRPr sz="3600">
                <a:solidFill>
                  <a:schemeClr val="tx1"/>
                </a:solidFill>
                <a:latin typeface="Lato Light" panose="020F0302020204030203" pitchFamily="34" charset="0"/>
              </a:defRPr>
            </a:lvl4pPr>
            <a:lvl5pPr marL="2057400" indent="-228600">
              <a:defRPr sz="3600">
                <a:solidFill>
                  <a:schemeClr val="tx1"/>
                </a:solidFill>
                <a:latin typeface="Lato Light" panose="020F0302020204030203" pitchFamily="34" charset="0"/>
              </a:defRPr>
            </a:lvl5pPr>
            <a:lvl6pPr marL="2514600" indent="-228600" defTabSz="1827213" eaLnBrk="0" fontAlgn="base" hangingPunct="0">
              <a:spcBef>
                <a:spcPct val="0"/>
              </a:spcBef>
              <a:spcAft>
                <a:spcPct val="0"/>
              </a:spcAft>
              <a:defRPr sz="3600">
                <a:solidFill>
                  <a:schemeClr val="tx1"/>
                </a:solidFill>
                <a:latin typeface="Lato Light" panose="020F0302020204030203" pitchFamily="34" charset="0"/>
              </a:defRPr>
            </a:lvl6pPr>
            <a:lvl7pPr marL="2971800" indent="-228600" defTabSz="1827213" eaLnBrk="0" fontAlgn="base" hangingPunct="0">
              <a:spcBef>
                <a:spcPct val="0"/>
              </a:spcBef>
              <a:spcAft>
                <a:spcPct val="0"/>
              </a:spcAft>
              <a:defRPr sz="3600">
                <a:solidFill>
                  <a:schemeClr val="tx1"/>
                </a:solidFill>
                <a:latin typeface="Lato Light" panose="020F0302020204030203" pitchFamily="34" charset="0"/>
              </a:defRPr>
            </a:lvl7pPr>
            <a:lvl8pPr marL="3429000" indent="-228600" defTabSz="1827213" eaLnBrk="0" fontAlgn="base" hangingPunct="0">
              <a:spcBef>
                <a:spcPct val="0"/>
              </a:spcBef>
              <a:spcAft>
                <a:spcPct val="0"/>
              </a:spcAft>
              <a:defRPr sz="3600">
                <a:solidFill>
                  <a:schemeClr val="tx1"/>
                </a:solidFill>
                <a:latin typeface="Lato Light" panose="020F0302020204030203" pitchFamily="34" charset="0"/>
              </a:defRPr>
            </a:lvl8pPr>
            <a:lvl9pPr marL="3886200" indent="-228600" defTabSz="1827213" eaLnBrk="0" fontAlgn="base" hangingPunct="0">
              <a:spcBef>
                <a:spcPct val="0"/>
              </a:spcBef>
              <a:spcAft>
                <a:spcPct val="0"/>
              </a:spcAft>
              <a:defRPr sz="3600">
                <a:solidFill>
                  <a:schemeClr val="tx1"/>
                </a:solidFill>
                <a:latin typeface="Lato Light" panose="020F0302020204030203" pitchFamily="34" charset="0"/>
              </a:defRPr>
            </a:lvl9pPr>
          </a:lstStyle>
          <a:p>
            <a:pPr algn="ctr">
              <a:lnSpc>
                <a:spcPct val="115000"/>
              </a:lnSpc>
            </a:pPr>
            <a:r>
              <a:rPr lang="en-US" altLang="ru-RU" sz="2400" b="1" dirty="0">
                <a:solidFill>
                  <a:schemeClr val="bg1"/>
                </a:solidFill>
                <a:latin typeface="Open Sans" panose="020B0606030504020204" pitchFamily="34" charset="0"/>
              </a:rPr>
              <a:t>03</a:t>
            </a:r>
          </a:p>
        </p:txBody>
      </p:sp>
    </p:spTree>
    <p:custDataLst>
      <p:tags r:id="rId1"/>
    </p:custDataLst>
    <p:extLst>
      <p:ext uri="{BB962C8B-B14F-4D97-AF65-F5344CB8AC3E}">
        <p14:creationId xmlns:p14="http://schemas.microsoft.com/office/powerpoint/2010/main" val="322078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ABF6070-2D8F-4475-53A3-D801FA115667}"/>
              </a:ext>
            </a:extLst>
          </p:cNvPr>
          <p:cNvSpPr>
            <a:spLocks noGrp="1"/>
          </p:cNvSpPr>
          <p:nvPr>
            <p:ph type="body" idx="1"/>
          </p:nvPr>
        </p:nvSpPr>
        <p:spPr>
          <a:xfrm>
            <a:off x="8128000" y="3371850"/>
            <a:ext cx="7315200" cy="2442656"/>
          </a:xfrm>
        </p:spPr>
        <p:txBody>
          <a:bodyPr/>
          <a:lstStyle/>
          <a:p>
            <a:r>
              <a:rPr lang="en-US" dirty="0"/>
              <a:t>Writes the first draft</a:t>
            </a:r>
          </a:p>
          <a:p>
            <a:r>
              <a:rPr lang="en-US" dirty="0"/>
              <a:t>Tests the draft and reports what failed</a:t>
            </a:r>
          </a:p>
          <a:p>
            <a:r>
              <a:rPr lang="en-US" dirty="0"/>
              <a:t>Rewrites everything from scratch each time</a:t>
            </a:r>
          </a:p>
          <a:p>
            <a:r>
              <a:rPr lang="fr-FR" dirty="0"/>
              <a:t>Chooses which AI model to use</a:t>
            </a:r>
          </a:p>
        </p:txBody>
      </p:sp>
      <p:sp>
        <p:nvSpPr>
          <p:cNvPr id="6" name="Text Placeholder 5">
            <a:extLst>
              <a:ext uri="{FF2B5EF4-FFF2-40B4-BE49-F238E27FC236}">
                <a16:creationId xmlns:a16="http://schemas.microsoft.com/office/drawing/2014/main" id="{F34AD2A8-CAFA-41FE-B027-39A34691B2C6}"/>
              </a:ext>
            </a:extLst>
          </p:cNvPr>
          <p:cNvSpPr>
            <a:spLocks noGrp="1"/>
          </p:cNvSpPr>
          <p:nvPr>
            <p:ph type="body" idx="2"/>
          </p:nvPr>
        </p:nvSpPr>
        <p:spPr>
          <a:xfrm>
            <a:off x="8128000" y="2499874"/>
            <a:ext cx="7315200" cy="771878"/>
          </a:xfrm>
        </p:spPr>
        <p:txBody>
          <a:bodyPr/>
          <a:lstStyle/>
          <a:p>
            <a:pPr marL="0"/>
            <a:r>
              <a:rPr lang="en-US" dirty="0"/>
              <a:t>In a Generate → Check → Fix chain, what does the Checker do?</a:t>
            </a:r>
          </a:p>
        </p:txBody>
      </p:sp>
    </p:spTree>
    <p:extLst>
      <p:ext uri="{BB962C8B-B14F-4D97-AF65-F5344CB8AC3E}">
        <p14:creationId xmlns:p14="http://schemas.microsoft.com/office/powerpoint/2010/main" val="3231234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42C9-CC6B-55A1-EE59-08E3EF59029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42F826E0-AA19-87EC-15EB-89465AC3C363}"/>
              </a:ext>
            </a:extLst>
          </p:cNvPr>
          <p:cNvSpPr>
            <a:spLocks noGrp="1"/>
          </p:cNvSpPr>
          <p:nvPr>
            <p:ph type="body" idx="10"/>
          </p:nvPr>
        </p:nvSpPr>
        <p:spPr/>
        <p:txBody>
          <a:bodyPr/>
          <a:lstStyle/>
          <a:p>
            <a:r>
              <a:rPr lang="en-US" dirty="0"/>
              <a:t>Part 2: Making the Chain Reliable</a:t>
            </a:r>
          </a:p>
        </p:txBody>
      </p:sp>
    </p:spTree>
    <p:custDataLst>
      <p:tags r:id="rId1"/>
    </p:custDataLst>
    <p:extLst>
      <p:ext uri="{BB962C8B-B14F-4D97-AF65-F5344CB8AC3E}">
        <p14:creationId xmlns:p14="http://schemas.microsoft.com/office/powerpoint/2010/main" val="679997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2585-E979-4E21-C9D2-7A50F1458BD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BDE5300-7BE2-5F1E-ABC9-3290C0DEDD72}"/>
              </a:ext>
            </a:extLst>
          </p:cNvPr>
          <p:cNvSpPr>
            <a:spLocks noGrp="1"/>
          </p:cNvSpPr>
          <p:nvPr>
            <p:ph type="body" idx="10"/>
          </p:nvPr>
        </p:nvSpPr>
        <p:spPr>
          <a:xfrm>
            <a:off x="1291857" y="1512832"/>
            <a:ext cx="13696999" cy="1344668"/>
          </a:xfrm>
        </p:spPr>
        <p:txBody>
          <a:bodyPr>
            <a:noAutofit/>
          </a:bodyPr>
          <a:lstStyle/>
          <a:p>
            <a:pPr>
              <a:spcBef>
                <a:spcPts val="600"/>
              </a:spcBef>
            </a:pPr>
            <a:r>
              <a:rPr lang="en-US" dirty="0"/>
              <a:t>Connections time out and models have bad moments. A retry means the chain tries again automatically, with a limit. Like redialling a dropped call, but not 50 times.</a:t>
            </a:r>
          </a:p>
        </p:txBody>
      </p:sp>
      <p:sp>
        <p:nvSpPr>
          <p:cNvPr id="3" name="Title 2">
            <a:extLst>
              <a:ext uri="{FF2B5EF4-FFF2-40B4-BE49-F238E27FC236}">
                <a16:creationId xmlns:a16="http://schemas.microsoft.com/office/drawing/2014/main" id="{9E156C93-E61D-9F39-F626-BE9B9A96B759}"/>
              </a:ext>
            </a:extLst>
          </p:cNvPr>
          <p:cNvSpPr>
            <a:spLocks noGrp="1"/>
          </p:cNvSpPr>
          <p:nvPr>
            <p:ph type="title"/>
          </p:nvPr>
        </p:nvSpPr>
        <p:spPr/>
        <p:txBody>
          <a:bodyPr/>
          <a:lstStyle/>
          <a:p>
            <a:r>
              <a:rPr lang="en-IN" dirty="0"/>
              <a:t>Retries: Try Again, But Not Forever</a:t>
            </a:r>
          </a:p>
        </p:txBody>
      </p:sp>
      <p:grpSp>
        <p:nvGrpSpPr>
          <p:cNvPr id="2" name="Group 1">
            <a:extLst>
              <a:ext uri="{FF2B5EF4-FFF2-40B4-BE49-F238E27FC236}">
                <a16:creationId xmlns:a16="http://schemas.microsoft.com/office/drawing/2014/main" id="{7347964E-61AF-ED37-598D-9A02A6127261}"/>
              </a:ext>
            </a:extLst>
          </p:cNvPr>
          <p:cNvGrpSpPr/>
          <p:nvPr/>
        </p:nvGrpSpPr>
        <p:grpSpPr>
          <a:xfrm>
            <a:off x="2011590" y="3144179"/>
            <a:ext cx="12232820" cy="4576286"/>
            <a:chOff x="2334079" y="3144179"/>
            <a:chExt cx="12232820" cy="4576286"/>
          </a:xfrm>
        </p:grpSpPr>
        <p:sp>
          <p:nvSpPr>
            <p:cNvPr id="15" name="TextBox 14">
              <a:extLst>
                <a:ext uri="{FF2B5EF4-FFF2-40B4-BE49-F238E27FC236}">
                  <a16:creationId xmlns:a16="http://schemas.microsoft.com/office/drawing/2014/main" id="{46032E05-447A-97C9-C65C-0006E01DE400}"/>
                </a:ext>
              </a:extLst>
            </p:cNvPr>
            <p:cNvSpPr txBox="1"/>
            <p:nvPr/>
          </p:nvSpPr>
          <p:spPr>
            <a:xfrm>
              <a:off x="9686694" y="5966734"/>
              <a:ext cx="445956" cy="639534"/>
            </a:xfrm>
            <a:prstGeom prst="rect">
              <a:avLst/>
            </a:prstGeom>
            <a:noFill/>
          </p:spPr>
          <p:txBody>
            <a:bodyPr wrap="none" rtlCol="0">
              <a:spAutoFit/>
            </a:bodyPr>
            <a:lstStyle/>
            <a:p>
              <a:pPr defTabSz="1625620"/>
              <a:r>
                <a:rPr lang="en-US" sz="3556" b="1" dirty="0">
                  <a:solidFill>
                    <a:schemeClr val="bg1"/>
                  </a:solidFill>
                </a:rPr>
                <a:t>3</a:t>
              </a:r>
            </a:p>
          </p:txBody>
        </p:sp>
        <p:sp>
          <p:nvSpPr>
            <p:cNvPr id="17" name="TextBox 16">
              <a:extLst>
                <a:ext uri="{FF2B5EF4-FFF2-40B4-BE49-F238E27FC236}">
                  <a16:creationId xmlns:a16="http://schemas.microsoft.com/office/drawing/2014/main" id="{29683DFF-52F8-F3C2-B3E6-437D1F5C0280}"/>
                </a:ext>
              </a:extLst>
            </p:cNvPr>
            <p:cNvSpPr txBox="1"/>
            <p:nvPr/>
          </p:nvSpPr>
          <p:spPr>
            <a:xfrm>
              <a:off x="8317876" y="4561228"/>
              <a:ext cx="445956" cy="639534"/>
            </a:xfrm>
            <a:prstGeom prst="rect">
              <a:avLst/>
            </a:prstGeom>
            <a:noFill/>
          </p:spPr>
          <p:txBody>
            <a:bodyPr wrap="none" rtlCol="0">
              <a:spAutoFit/>
            </a:bodyPr>
            <a:lstStyle/>
            <a:p>
              <a:pPr defTabSz="1625620"/>
              <a:r>
                <a:rPr lang="en-US" sz="3556" b="1" dirty="0">
                  <a:solidFill>
                    <a:schemeClr val="bg1"/>
                  </a:solidFill>
                </a:rPr>
                <a:t>2</a:t>
              </a:r>
            </a:p>
          </p:txBody>
        </p:sp>
        <p:sp>
          <p:nvSpPr>
            <p:cNvPr id="18" name="TextBox 17">
              <a:extLst>
                <a:ext uri="{FF2B5EF4-FFF2-40B4-BE49-F238E27FC236}">
                  <a16:creationId xmlns:a16="http://schemas.microsoft.com/office/drawing/2014/main" id="{A7D35218-2524-BD59-2C7C-79AB5D9BDDDE}"/>
                </a:ext>
              </a:extLst>
            </p:cNvPr>
            <p:cNvSpPr txBox="1"/>
            <p:nvPr/>
          </p:nvSpPr>
          <p:spPr>
            <a:xfrm>
              <a:off x="7010893" y="6030115"/>
              <a:ext cx="445956" cy="639534"/>
            </a:xfrm>
            <a:prstGeom prst="rect">
              <a:avLst/>
            </a:prstGeom>
            <a:noFill/>
          </p:spPr>
          <p:txBody>
            <a:bodyPr wrap="none" rtlCol="0">
              <a:spAutoFit/>
            </a:bodyPr>
            <a:lstStyle/>
            <a:p>
              <a:pPr defTabSz="1625620"/>
              <a:r>
                <a:rPr lang="en-US" sz="3556" b="1" dirty="0">
                  <a:solidFill>
                    <a:schemeClr val="bg1"/>
                  </a:solidFill>
                </a:rPr>
                <a:t>1</a:t>
              </a:r>
            </a:p>
          </p:txBody>
        </p:sp>
        <p:sp>
          <p:nvSpPr>
            <p:cNvPr id="19" name="Text_3">
              <a:extLst>
                <a:ext uri="{FF2B5EF4-FFF2-40B4-BE49-F238E27FC236}">
                  <a16:creationId xmlns:a16="http://schemas.microsoft.com/office/drawing/2014/main" id="{D31D79A2-22CB-9112-8396-EB6B1D2E6D2F}"/>
                </a:ext>
              </a:extLst>
            </p:cNvPr>
            <p:cNvSpPr txBox="1"/>
            <p:nvPr/>
          </p:nvSpPr>
          <p:spPr>
            <a:xfrm>
              <a:off x="10321920" y="6125275"/>
              <a:ext cx="4244979" cy="1234056"/>
            </a:xfrm>
            <a:prstGeom prst="rect">
              <a:avLst/>
            </a:prstGeom>
            <a:noFill/>
          </p:spPr>
          <p:txBody>
            <a:bodyPr wrap="square" numCol="1" spcCol="640080" rtlCol="0" anchor="ctr" anchorCtr="1">
              <a:spAutoFit/>
            </a:bodyPr>
            <a:lstStyle/>
            <a:p>
              <a:pPr algn="ctr" defTabSz="1625620">
                <a:lnSpc>
                  <a:spcPct val="115000"/>
                </a:lnSpc>
              </a:pPr>
              <a:r>
                <a:rPr lang="en-US" sz="2200" dirty="0">
                  <a:solidFill>
                    <a:srgbClr val="404040"/>
                  </a:solidFill>
                  <a:latin typeface="Open Sans" panose="020B0606030504020204" pitchFamily="34" charset="0"/>
                  <a:cs typeface="Mongolian Baiti" panose="03000500000000000000" pitchFamily="66" charset="0"/>
                </a:rPr>
                <a:t>Recover on its own, or stop and flag a human</a:t>
              </a:r>
            </a:p>
          </p:txBody>
        </p:sp>
        <p:sp>
          <p:nvSpPr>
            <p:cNvPr id="20" name="Text_1">
              <a:extLst>
                <a:ext uri="{FF2B5EF4-FFF2-40B4-BE49-F238E27FC236}">
                  <a16:creationId xmlns:a16="http://schemas.microsoft.com/office/drawing/2014/main" id="{FC94967F-A8D3-77E8-E9B1-73983028D2A7}"/>
                </a:ext>
              </a:extLst>
            </p:cNvPr>
            <p:cNvSpPr txBox="1"/>
            <p:nvPr/>
          </p:nvSpPr>
          <p:spPr>
            <a:xfrm>
              <a:off x="2334079" y="6125275"/>
              <a:ext cx="4173763" cy="1234056"/>
            </a:xfrm>
            <a:prstGeom prst="rect">
              <a:avLst/>
            </a:prstGeom>
            <a:noFill/>
          </p:spPr>
          <p:txBody>
            <a:bodyPr wrap="square" numCol="1" spcCol="640080" rtlCol="0" anchor="ctr" anchorCtr="1">
              <a:spAutoFit/>
            </a:bodyPr>
            <a:lstStyle/>
            <a:p>
              <a:pPr algn="ctr" defTabSz="1625620">
                <a:lnSpc>
                  <a:spcPct val="115000"/>
                </a:lnSpc>
              </a:pPr>
              <a:r>
                <a:rPr lang="en-US" sz="2200" dirty="0">
                  <a:solidFill>
                    <a:srgbClr val="404040"/>
                  </a:solidFill>
                  <a:latin typeface="Open Sans" panose="020B0606030504020204" pitchFamily="34" charset="0"/>
                  <a:cs typeface="Mongolian Baiti" panose="03000500000000000000" pitchFamily="66" charset="0"/>
                </a:rPr>
                <a:t>Set a limit, e.g. 3 tries, waiting a little longer each time</a:t>
              </a:r>
            </a:p>
          </p:txBody>
        </p:sp>
        <p:sp>
          <p:nvSpPr>
            <p:cNvPr id="21" name="Text_2">
              <a:extLst>
                <a:ext uri="{FF2B5EF4-FFF2-40B4-BE49-F238E27FC236}">
                  <a16:creationId xmlns:a16="http://schemas.microsoft.com/office/drawing/2014/main" id="{1A580FDA-9C39-971B-BEED-3A4075F1A45F}"/>
                </a:ext>
              </a:extLst>
            </p:cNvPr>
            <p:cNvSpPr txBox="1"/>
            <p:nvPr/>
          </p:nvSpPr>
          <p:spPr>
            <a:xfrm>
              <a:off x="6279662" y="3144179"/>
              <a:ext cx="4244979" cy="1234056"/>
            </a:xfrm>
            <a:prstGeom prst="rect">
              <a:avLst/>
            </a:prstGeom>
            <a:noFill/>
          </p:spPr>
          <p:txBody>
            <a:bodyPr wrap="square" rtlCol="0" anchor="ctr" anchorCtr="1">
              <a:spAutoFit/>
            </a:bodyPr>
            <a:lstStyle/>
            <a:p>
              <a:pPr marL="0" marR="0" lvl="0" indent="0" algn="ctr" rtl="0">
                <a:lnSpc>
                  <a:spcPct val="115000"/>
                </a:lnSpc>
                <a:spcBef>
                  <a:spcPts val="0"/>
                </a:spcBef>
                <a:spcAft>
                  <a:spcPts val="0"/>
                </a:spcAft>
                <a:buClr>
                  <a:srgbClr val="000000"/>
                </a:buClr>
                <a:buSzPts val="2200"/>
                <a:buFont typeface="Arial"/>
                <a:buNone/>
              </a:pPr>
              <a:r>
                <a:rPr lang="en-US" sz="2200" dirty="0">
                  <a:solidFill>
                    <a:srgbClr val="404040"/>
                  </a:solidFill>
                  <a:latin typeface="Open Sans" panose="020B0606030504020204" pitchFamily="34" charset="0"/>
                  <a:cs typeface="Mongolian Baiti" panose="03000500000000000000" pitchFamily="66" charset="0"/>
                  <a:sym typeface="Open Sans"/>
                </a:rPr>
                <a:t>Improve each try: send the checker’s feedback with it</a:t>
              </a:r>
            </a:p>
          </p:txBody>
        </p:sp>
        <p:grpSp>
          <p:nvGrpSpPr>
            <p:cNvPr id="22" name="Group 21">
              <a:extLst>
                <a:ext uri="{FF2B5EF4-FFF2-40B4-BE49-F238E27FC236}">
                  <a16:creationId xmlns:a16="http://schemas.microsoft.com/office/drawing/2014/main" id="{4DB6D5CB-2C18-524F-F42F-B37A1EB8A9AE}"/>
                </a:ext>
              </a:extLst>
            </p:cNvPr>
            <p:cNvGrpSpPr/>
            <p:nvPr/>
          </p:nvGrpSpPr>
          <p:grpSpPr>
            <a:xfrm>
              <a:off x="6391656" y="4594829"/>
              <a:ext cx="4019994" cy="3125636"/>
              <a:chOff x="5351064" y="3600931"/>
              <a:chExt cx="5547081" cy="4312984"/>
            </a:xfrm>
          </p:grpSpPr>
          <p:sp>
            <p:nvSpPr>
              <p:cNvPr id="23" name="Freeform 7">
                <a:extLst>
                  <a:ext uri="{FF2B5EF4-FFF2-40B4-BE49-F238E27FC236}">
                    <a16:creationId xmlns:a16="http://schemas.microsoft.com/office/drawing/2014/main" id="{0AE1420E-9D7F-3993-FCE0-CBF09D93D2C9}"/>
                  </a:ext>
                </a:extLst>
              </p:cNvPr>
              <p:cNvSpPr>
                <a:spLocks/>
              </p:cNvSpPr>
              <p:nvPr/>
            </p:nvSpPr>
            <p:spPr bwMode="auto">
              <a:xfrm>
                <a:off x="9265405" y="5089484"/>
                <a:ext cx="1632740" cy="2824431"/>
              </a:xfrm>
              <a:custGeom>
                <a:avLst/>
                <a:gdLst>
                  <a:gd name="T0" fmla="*/ 48 w 433"/>
                  <a:gd name="T1" fmla="*/ 176 h 749"/>
                  <a:gd name="T2" fmla="*/ 12 w 433"/>
                  <a:gd name="T3" fmla="*/ 551 h 749"/>
                  <a:gd name="T4" fmla="*/ 0 w 433"/>
                  <a:gd name="T5" fmla="*/ 567 h 749"/>
                  <a:gd name="T6" fmla="*/ 256 w 433"/>
                  <a:gd name="T7" fmla="*/ 749 h 749"/>
                  <a:gd name="T8" fmla="*/ 268 w 433"/>
                  <a:gd name="T9" fmla="*/ 733 h 749"/>
                  <a:gd name="T10" fmla="*/ 310 w 433"/>
                  <a:gd name="T11" fmla="*/ 0 h 749"/>
                  <a:gd name="T12" fmla="*/ 48 w 433"/>
                  <a:gd name="T13" fmla="*/ 176 h 749"/>
                </a:gdLst>
                <a:ahLst/>
                <a:cxnLst>
                  <a:cxn ang="0">
                    <a:pos x="T0" y="T1"/>
                  </a:cxn>
                  <a:cxn ang="0">
                    <a:pos x="T2" y="T3"/>
                  </a:cxn>
                  <a:cxn ang="0">
                    <a:pos x="T4" y="T5"/>
                  </a:cxn>
                  <a:cxn ang="0">
                    <a:pos x="T6" y="T7"/>
                  </a:cxn>
                  <a:cxn ang="0">
                    <a:pos x="T8" y="T9"/>
                  </a:cxn>
                  <a:cxn ang="0">
                    <a:pos x="T10" y="T11"/>
                  </a:cxn>
                  <a:cxn ang="0">
                    <a:pos x="T12" y="T13"/>
                  </a:cxn>
                </a:cxnLst>
                <a:rect l="0" t="0" r="r" b="b"/>
                <a:pathLst>
                  <a:path w="433" h="749">
                    <a:moveTo>
                      <a:pt x="48" y="176"/>
                    </a:moveTo>
                    <a:cubicBezTo>
                      <a:pt x="102" y="294"/>
                      <a:pt x="93" y="438"/>
                      <a:pt x="12" y="551"/>
                    </a:cubicBezTo>
                    <a:cubicBezTo>
                      <a:pt x="8" y="557"/>
                      <a:pt x="5" y="562"/>
                      <a:pt x="0" y="567"/>
                    </a:cubicBezTo>
                    <a:cubicBezTo>
                      <a:pt x="256" y="749"/>
                      <a:pt x="256" y="749"/>
                      <a:pt x="256" y="749"/>
                    </a:cubicBezTo>
                    <a:cubicBezTo>
                      <a:pt x="260" y="743"/>
                      <a:pt x="264" y="738"/>
                      <a:pt x="268" y="733"/>
                    </a:cubicBezTo>
                    <a:cubicBezTo>
                      <a:pt x="426" y="510"/>
                      <a:pt x="433" y="225"/>
                      <a:pt x="310" y="0"/>
                    </a:cubicBezTo>
                    <a:lnTo>
                      <a:pt x="48" y="176"/>
                    </a:lnTo>
                    <a:close/>
                  </a:path>
                </a:pathLst>
              </a:custGeom>
              <a:solidFill>
                <a:srgbClr val="2DA99D"/>
              </a:solidFill>
              <a:ln>
                <a:noFill/>
              </a:ln>
            </p:spPr>
            <p:txBody>
              <a:bodyPr vert="horz" wrap="square" lIns="91440" tIns="45720" rIns="91440" bIns="45720" numCol="1" anchor="t" anchorCtr="0" compatLnSpc="1">
                <a:prstTxWarp prst="textNoShape">
                  <a:avLst/>
                </a:prstTxWarp>
              </a:bodyPr>
              <a:lstStyle/>
              <a:p>
                <a:pPr defTabSz="1248305">
                  <a:defRPr/>
                </a:pPr>
                <a:endParaRPr lang="en-US" sz="2457" kern="0" dirty="0">
                  <a:solidFill>
                    <a:schemeClr val="bg1"/>
                  </a:solidFill>
                  <a:latin typeface="Calibri"/>
                </a:endParaRPr>
              </a:p>
            </p:txBody>
          </p:sp>
          <p:grpSp>
            <p:nvGrpSpPr>
              <p:cNvPr id="24" name="Group 23">
                <a:extLst>
                  <a:ext uri="{FF2B5EF4-FFF2-40B4-BE49-F238E27FC236}">
                    <a16:creationId xmlns:a16="http://schemas.microsoft.com/office/drawing/2014/main" id="{C22D8956-5C65-FA36-8A14-9C8B274216B2}"/>
                  </a:ext>
                </a:extLst>
              </p:cNvPr>
              <p:cNvGrpSpPr/>
              <p:nvPr/>
            </p:nvGrpSpPr>
            <p:grpSpPr>
              <a:xfrm>
                <a:off x="5974476" y="3600931"/>
                <a:ext cx="4478402" cy="2114161"/>
                <a:chOff x="5974476" y="3992816"/>
                <a:chExt cx="4478402" cy="2114161"/>
              </a:xfrm>
            </p:grpSpPr>
            <p:sp>
              <p:nvSpPr>
                <p:cNvPr id="28" name="Freeform 5">
                  <a:extLst>
                    <a:ext uri="{FF2B5EF4-FFF2-40B4-BE49-F238E27FC236}">
                      <a16:creationId xmlns:a16="http://schemas.microsoft.com/office/drawing/2014/main" id="{3DAB44BF-B826-ACE3-0AAC-9C6E8F53E387}"/>
                    </a:ext>
                  </a:extLst>
                </p:cNvPr>
                <p:cNvSpPr>
                  <a:spLocks/>
                </p:cNvSpPr>
                <p:nvPr/>
              </p:nvSpPr>
              <p:spPr bwMode="auto">
                <a:xfrm>
                  <a:off x="5974476" y="3992816"/>
                  <a:ext cx="4402041" cy="2031386"/>
                </a:xfrm>
                <a:custGeom>
                  <a:avLst/>
                  <a:gdLst>
                    <a:gd name="T0" fmla="*/ 12 w 1168"/>
                    <a:gd name="T1" fmla="*/ 322 h 538"/>
                    <a:gd name="T2" fmla="*/ 0 w 1168"/>
                    <a:gd name="T3" fmla="*/ 338 h 538"/>
                    <a:gd name="T4" fmla="*/ 256 w 1168"/>
                    <a:gd name="T5" fmla="*/ 519 h 538"/>
                    <a:gd name="T6" fmla="*/ 267 w 1168"/>
                    <a:gd name="T7" fmla="*/ 503 h 538"/>
                    <a:gd name="T8" fmla="*/ 795 w 1168"/>
                    <a:gd name="T9" fmla="*/ 413 h 538"/>
                    <a:gd name="T10" fmla="*/ 907 w 1168"/>
                    <a:gd name="T11" fmla="*/ 538 h 538"/>
                    <a:gd name="T12" fmla="*/ 1168 w 1168"/>
                    <a:gd name="T13" fmla="*/ 363 h 538"/>
                    <a:gd name="T14" fmla="*/ 977 w 1168"/>
                    <a:gd name="T15" fmla="*/ 157 h 538"/>
                    <a:gd name="T16" fmla="*/ 678 w 1168"/>
                    <a:gd name="T17" fmla="*/ 37 h 538"/>
                    <a:gd name="T18" fmla="*/ 12 w 1168"/>
                    <a:gd name="T19" fmla="*/ 322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8" h="538">
                      <a:moveTo>
                        <a:pt x="12" y="322"/>
                      </a:moveTo>
                      <a:cubicBezTo>
                        <a:pt x="8" y="327"/>
                        <a:pt x="4" y="332"/>
                        <a:pt x="0" y="338"/>
                      </a:cubicBezTo>
                      <a:cubicBezTo>
                        <a:pt x="256" y="519"/>
                        <a:pt x="256" y="519"/>
                        <a:pt x="256" y="519"/>
                      </a:cubicBezTo>
                      <a:cubicBezTo>
                        <a:pt x="260" y="513"/>
                        <a:pt x="263" y="508"/>
                        <a:pt x="267" y="503"/>
                      </a:cubicBezTo>
                      <a:cubicBezTo>
                        <a:pt x="388" y="332"/>
                        <a:pt x="625" y="292"/>
                        <a:pt x="795" y="413"/>
                      </a:cubicBezTo>
                      <a:cubicBezTo>
                        <a:pt x="843" y="447"/>
                        <a:pt x="881" y="490"/>
                        <a:pt x="907" y="538"/>
                      </a:cubicBezTo>
                      <a:cubicBezTo>
                        <a:pt x="1168" y="363"/>
                        <a:pt x="1168" y="363"/>
                        <a:pt x="1168" y="363"/>
                      </a:cubicBezTo>
                      <a:cubicBezTo>
                        <a:pt x="1120" y="284"/>
                        <a:pt x="1056" y="214"/>
                        <a:pt x="977" y="157"/>
                      </a:cubicBezTo>
                      <a:cubicBezTo>
                        <a:pt x="885" y="92"/>
                        <a:pt x="782" y="53"/>
                        <a:pt x="678" y="37"/>
                      </a:cubicBezTo>
                      <a:cubicBezTo>
                        <a:pt x="429" y="0"/>
                        <a:pt x="168" y="102"/>
                        <a:pt x="12" y="322"/>
                      </a:cubicBezTo>
                    </a:path>
                  </a:pathLst>
                </a:custGeom>
                <a:solidFill>
                  <a:srgbClr val="9BBB5C"/>
                </a:solidFill>
                <a:ln>
                  <a:noFill/>
                </a:ln>
              </p:spPr>
              <p:txBody>
                <a:bodyPr vert="horz" wrap="square" lIns="91440" tIns="45720" rIns="91440" bIns="45720" numCol="1" anchor="t" anchorCtr="0" compatLnSpc="1">
                  <a:prstTxWarp prst="textNoShape">
                    <a:avLst/>
                  </a:prstTxWarp>
                </a:bodyPr>
                <a:lstStyle/>
                <a:p>
                  <a:pPr marL="0" marR="0" lvl="0" indent="0" defTabSz="1248305" eaLnBrk="1" fontAlgn="auto" latinLnBrk="0" hangingPunct="1">
                    <a:lnSpc>
                      <a:spcPct val="100000"/>
                    </a:lnSpc>
                    <a:spcBef>
                      <a:spcPts val="0"/>
                    </a:spcBef>
                    <a:spcAft>
                      <a:spcPts val="0"/>
                    </a:spcAft>
                    <a:buClrTx/>
                    <a:buSzTx/>
                    <a:buFontTx/>
                    <a:buNone/>
                    <a:tabLst/>
                    <a:defRPr/>
                  </a:pPr>
                  <a:endParaRPr kumimoji="0" lang="en-US" sz="2457" b="0" i="0" u="none" strike="noStrike" kern="0" cap="none" spc="0" normalizeH="0" baseline="0" noProof="0" dirty="0">
                    <a:ln>
                      <a:noFill/>
                    </a:ln>
                    <a:solidFill>
                      <a:schemeClr val="bg1"/>
                    </a:solidFill>
                    <a:effectLst/>
                    <a:uLnTx/>
                    <a:uFillTx/>
                    <a:latin typeface="Calibri"/>
                  </a:endParaRPr>
                </a:p>
              </p:txBody>
            </p:sp>
            <p:sp>
              <p:nvSpPr>
                <p:cNvPr id="29" name="Up Arrow 15">
                  <a:extLst>
                    <a:ext uri="{FF2B5EF4-FFF2-40B4-BE49-F238E27FC236}">
                      <a16:creationId xmlns:a16="http://schemas.microsoft.com/office/drawing/2014/main" id="{CA3F6A2A-B9BA-EBF7-C95B-E0EA58BD4060}"/>
                    </a:ext>
                  </a:extLst>
                </p:cNvPr>
                <p:cNvSpPr/>
                <p:nvPr/>
              </p:nvSpPr>
              <p:spPr>
                <a:xfrm rot="8784812">
                  <a:off x="9406247" y="5511891"/>
                  <a:ext cx="1046631" cy="595086"/>
                </a:xfrm>
                <a:prstGeom prst="upArrow">
                  <a:avLst/>
                </a:prstGeom>
                <a:solidFill>
                  <a:srgbClr val="9BBB5C"/>
                </a:solidFill>
                <a:ln w="12700" cap="flat" cmpd="sng" algn="ctr">
                  <a:solidFill>
                    <a:srgbClr val="9BBB5C"/>
                  </a:solidFill>
                  <a:prstDash val="solid"/>
                  <a:miter lim="800000"/>
                </a:ln>
                <a:effectLst/>
              </p:spPr>
              <p:txBody>
                <a:bodyPr rtlCol="0" anchor="ctr"/>
                <a:lstStyle/>
                <a:p>
                  <a:pPr marL="0" marR="0" lvl="0" indent="0" algn="ctr" defTabSz="1248305" eaLnBrk="1" fontAlgn="auto" latinLnBrk="0" hangingPunct="1">
                    <a:lnSpc>
                      <a:spcPct val="100000"/>
                    </a:lnSpc>
                    <a:spcBef>
                      <a:spcPts val="0"/>
                    </a:spcBef>
                    <a:spcAft>
                      <a:spcPts val="0"/>
                    </a:spcAft>
                    <a:buClrTx/>
                    <a:buSzTx/>
                    <a:buFontTx/>
                    <a:buNone/>
                    <a:tabLst/>
                    <a:defRPr/>
                  </a:pPr>
                  <a:endParaRPr kumimoji="0" lang="en-GB" sz="2457" b="0" i="0" u="none" strike="noStrike" kern="0" cap="none" spc="0" normalizeH="0" baseline="0" noProof="0" dirty="0">
                    <a:ln>
                      <a:noFill/>
                    </a:ln>
                    <a:solidFill>
                      <a:schemeClr val="bg1"/>
                    </a:solidFill>
                    <a:effectLst/>
                    <a:uLnTx/>
                    <a:uFillTx/>
                    <a:latin typeface="Calibri"/>
                    <a:ea typeface="+mn-ea"/>
                    <a:cs typeface="+mn-cs"/>
                  </a:endParaRPr>
                </a:p>
              </p:txBody>
            </p:sp>
          </p:grpSp>
          <p:grpSp>
            <p:nvGrpSpPr>
              <p:cNvPr id="25" name="Group 24">
                <a:extLst>
                  <a:ext uri="{FF2B5EF4-FFF2-40B4-BE49-F238E27FC236}">
                    <a16:creationId xmlns:a16="http://schemas.microsoft.com/office/drawing/2014/main" id="{7249DF1F-5E44-02F3-197D-BB9A089BF073}"/>
                  </a:ext>
                </a:extLst>
              </p:cNvPr>
              <p:cNvGrpSpPr/>
              <p:nvPr/>
            </p:nvGrpSpPr>
            <p:grpSpPr>
              <a:xfrm>
                <a:off x="5351064" y="4934982"/>
                <a:ext cx="1670910" cy="2966212"/>
                <a:chOff x="5351064" y="5326867"/>
                <a:chExt cx="1670910" cy="2966212"/>
              </a:xfrm>
            </p:grpSpPr>
            <p:sp>
              <p:nvSpPr>
                <p:cNvPr id="26" name="Freeform 6">
                  <a:extLst>
                    <a:ext uri="{FF2B5EF4-FFF2-40B4-BE49-F238E27FC236}">
                      <a16:creationId xmlns:a16="http://schemas.microsoft.com/office/drawing/2014/main" id="{F0E820A4-7EC8-021F-2BA4-1D49372E9CD0}"/>
                    </a:ext>
                  </a:extLst>
                </p:cNvPr>
                <p:cNvSpPr>
                  <a:spLocks/>
                </p:cNvSpPr>
                <p:nvPr/>
              </p:nvSpPr>
              <p:spPr bwMode="auto">
                <a:xfrm>
                  <a:off x="5351064" y="5396551"/>
                  <a:ext cx="1670910" cy="2896528"/>
                </a:xfrm>
                <a:custGeom>
                  <a:avLst/>
                  <a:gdLst>
                    <a:gd name="T0" fmla="*/ 184 w 444"/>
                    <a:gd name="T1" fmla="*/ 767 h 767"/>
                    <a:gd name="T2" fmla="*/ 444 w 444"/>
                    <a:gd name="T3" fmla="*/ 594 h 767"/>
                    <a:gd name="T4" fmla="*/ 404 w 444"/>
                    <a:gd name="T5" fmla="*/ 182 h 767"/>
                    <a:gd name="T6" fmla="*/ 147 w 444"/>
                    <a:gd name="T7" fmla="*/ 0 h 767"/>
                    <a:gd name="T8" fmla="*/ 184 w 444"/>
                    <a:gd name="T9" fmla="*/ 767 h 767"/>
                  </a:gdLst>
                  <a:ahLst/>
                  <a:cxnLst>
                    <a:cxn ang="0">
                      <a:pos x="T0" y="T1"/>
                    </a:cxn>
                    <a:cxn ang="0">
                      <a:pos x="T2" y="T3"/>
                    </a:cxn>
                    <a:cxn ang="0">
                      <a:pos x="T4" y="T5"/>
                    </a:cxn>
                    <a:cxn ang="0">
                      <a:pos x="T6" y="T7"/>
                    </a:cxn>
                    <a:cxn ang="0">
                      <a:pos x="T8" y="T9"/>
                    </a:cxn>
                  </a:cxnLst>
                  <a:rect l="0" t="0" r="r" b="b"/>
                  <a:pathLst>
                    <a:path w="444" h="767">
                      <a:moveTo>
                        <a:pt x="184" y="767"/>
                      </a:moveTo>
                      <a:cubicBezTo>
                        <a:pt x="444" y="594"/>
                        <a:pt x="444" y="594"/>
                        <a:pt x="444" y="594"/>
                      </a:cubicBezTo>
                      <a:cubicBezTo>
                        <a:pt x="351" y="478"/>
                        <a:pt x="334" y="315"/>
                        <a:pt x="404" y="182"/>
                      </a:cubicBezTo>
                      <a:cubicBezTo>
                        <a:pt x="147" y="0"/>
                        <a:pt x="147" y="0"/>
                        <a:pt x="147" y="0"/>
                      </a:cubicBezTo>
                      <a:cubicBezTo>
                        <a:pt x="0" y="242"/>
                        <a:pt x="20" y="546"/>
                        <a:pt x="184" y="767"/>
                      </a:cubicBezTo>
                    </a:path>
                  </a:pathLst>
                </a:custGeom>
                <a:solidFill>
                  <a:srgbClr val="F29B26"/>
                </a:solidFill>
                <a:ln>
                  <a:noFill/>
                </a:ln>
              </p:spPr>
              <p:txBody>
                <a:bodyPr vert="horz" wrap="square" lIns="91440" tIns="45720" rIns="91440" bIns="45720" numCol="1" anchor="t" anchorCtr="0" compatLnSpc="1">
                  <a:prstTxWarp prst="textNoShape">
                    <a:avLst/>
                  </a:prstTxWarp>
                </a:bodyPr>
                <a:lstStyle/>
                <a:p>
                  <a:pPr marL="0" marR="0" lvl="0" indent="0" defTabSz="1248305" eaLnBrk="1" fontAlgn="auto" latinLnBrk="0" hangingPunct="1">
                    <a:lnSpc>
                      <a:spcPct val="100000"/>
                    </a:lnSpc>
                    <a:spcBef>
                      <a:spcPts val="0"/>
                    </a:spcBef>
                    <a:spcAft>
                      <a:spcPts val="0"/>
                    </a:spcAft>
                    <a:buClrTx/>
                    <a:buSzTx/>
                    <a:buFontTx/>
                    <a:buNone/>
                    <a:tabLst/>
                    <a:defRPr/>
                  </a:pPr>
                  <a:endParaRPr kumimoji="0" lang="en-US" sz="2457" b="0" i="0" u="none" strike="noStrike" kern="0" cap="none" spc="0" normalizeH="0" baseline="0" noProof="0" dirty="0">
                    <a:ln>
                      <a:noFill/>
                    </a:ln>
                    <a:solidFill>
                      <a:schemeClr val="bg1"/>
                    </a:solidFill>
                    <a:effectLst/>
                    <a:uLnTx/>
                    <a:uFillTx/>
                    <a:latin typeface="Calibri"/>
                  </a:endParaRPr>
                </a:p>
              </p:txBody>
            </p:sp>
            <p:sp>
              <p:nvSpPr>
                <p:cNvPr id="27" name="Up Arrow 2">
                  <a:extLst>
                    <a:ext uri="{FF2B5EF4-FFF2-40B4-BE49-F238E27FC236}">
                      <a16:creationId xmlns:a16="http://schemas.microsoft.com/office/drawing/2014/main" id="{8C13AC40-CD06-65EE-01A1-B310936DFCD8}"/>
                    </a:ext>
                  </a:extLst>
                </p:cNvPr>
                <p:cNvSpPr/>
                <p:nvPr/>
              </p:nvSpPr>
              <p:spPr>
                <a:xfrm rot="2121868">
                  <a:off x="5910582" y="5326867"/>
                  <a:ext cx="1105996" cy="595086"/>
                </a:xfrm>
                <a:prstGeom prst="upArrow">
                  <a:avLst/>
                </a:prstGeom>
                <a:solidFill>
                  <a:srgbClr val="F29B26"/>
                </a:solidFill>
                <a:ln w="12700" cap="flat" cmpd="sng" algn="ctr">
                  <a:solidFill>
                    <a:srgbClr val="F29B26"/>
                  </a:solidFill>
                  <a:prstDash val="solid"/>
                  <a:miter lim="800000"/>
                </a:ln>
                <a:effectLst/>
              </p:spPr>
              <p:txBody>
                <a:bodyPr rtlCol="0" anchor="ctr"/>
                <a:lstStyle/>
                <a:p>
                  <a:pPr marL="0" marR="0" lvl="0" indent="0" algn="ctr" defTabSz="1248305" eaLnBrk="1" fontAlgn="auto" latinLnBrk="0" hangingPunct="1">
                    <a:lnSpc>
                      <a:spcPct val="100000"/>
                    </a:lnSpc>
                    <a:spcBef>
                      <a:spcPts val="0"/>
                    </a:spcBef>
                    <a:spcAft>
                      <a:spcPts val="0"/>
                    </a:spcAft>
                    <a:buClrTx/>
                    <a:buSzTx/>
                    <a:buFontTx/>
                    <a:buNone/>
                    <a:tabLst/>
                    <a:defRPr/>
                  </a:pPr>
                  <a:endParaRPr kumimoji="0" lang="en-GB" sz="2457" b="0" i="0" u="none" strike="noStrike" kern="0" cap="none" spc="0" normalizeH="0" baseline="0" noProof="0" dirty="0">
                    <a:ln>
                      <a:noFill/>
                    </a:ln>
                    <a:solidFill>
                      <a:schemeClr val="bg1"/>
                    </a:solidFill>
                    <a:effectLst/>
                    <a:uLnTx/>
                    <a:uFillTx/>
                    <a:latin typeface="Calibri"/>
                    <a:ea typeface="+mn-ea"/>
                    <a:cs typeface="+mn-cs"/>
                  </a:endParaRPr>
                </a:p>
              </p:txBody>
            </p:sp>
          </p:grpSp>
        </p:grpSp>
        <p:sp>
          <p:nvSpPr>
            <p:cNvPr id="30" name="TextBox 29">
              <a:extLst>
                <a:ext uri="{FF2B5EF4-FFF2-40B4-BE49-F238E27FC236}">
                  <a16:creationId xmlns:a16="http://schemas.microsoft.com/office/drawing/2014/main" id="{9F66687C-1B75-2EE4-A7B9-2B0A53BA7937}"/>
                </a:ext>
              </a:extLst>
            </p:cNvPr>
            <p:cNvSpPr txBox="1"/>
            <p:nvPr/>
          </p:nvSpPr>
          <p:spPr>
            <a:xfrm>
              <a:off x="6589988" y="6372907"/>
              <a:ext cx="783772" cy="457176"/>
            </a:xfrm>
            <a:prstGeom prst="rect">
              <a:avLst/>
            </a:prstGeom>
            <a:noFill/>
          </p:spPr>
          <p:txBody>
            <a:bodyPr wrap="square" rtlCol="0">
              <a:spAutoFit/>
            </a:bodyPr>
            <a:lstStyle/>
            <a:p>
              <a:pPr algn="ctr">
                <a:lnSpc>
                  <a:spcPct val="115000"/>
                </a:lnSpc>
              </a:pPr>
              <a:r>
                <a:rPr lang="en-IN" sz="2200" b="1" dirty="0">
                  <a:solidFill>
                    <a:schemeClr val="bg1"/>
                  </a:solidFill>
                  <a:latin typeface="Open Sans" panose="020B0606030504020204" pitchFamily="34" charset="0"/>
                </a:rPr>
                <a:t>01</a:t>
              </a:r>
              <a:endParaRPr lang="en-US" sz="2200" b="1" dirty="0">
                <a:solidFill>
                  <a:schemeClr val="bg1"/>
                </a:solidFill>
                <a:latin typeface="Open Sans" panose="020B0606030504020204" pitchFamily="34" charset="0"/>
              </a:endParaRPr>
            </a:p>
          </p:txBody>
        </p:sp>
        <p:sp>
          <p:nvSpPr>
            <p:cNvPr id="31" name="TextBox 30">
              <a:extLst>
                <a:ext uri="{FF2B5EF4-FFF2-40B4-BE49-F238E27FC236}">
                  <a16:creationId xmlns:a16="http://schemas.microsoft.com/office/drawing/2014/main" id="{7051387F-0594-02AB-6448-28F3ED9DBA35}"/>
                </a:ext>
              </a:extLst>
            </p:cNvPr>
            <p:cNvSpPr txBox="1"/>
            <p:nvPr/>
          </p:nvSpPr>
          <p:spPr>
            <a:xfrm>
              <a:off x="9428137" y="6441061"/>
              <a:ext cx="783772" cy="457176"/>
            </a:xfrm>
            <a:prstGeom prst="rect">
              <a:avLst/>
            </a:prstGeom>
            <a:noFill/>
          </p:spPr>
          <p:txBody>
            <a:bodyPr wrap="square" rtlCol="0">
              <a:spAutoFit/>
            </a:bodyPr>
            <a:lstStyle/>
            <a:p>
              <a:pPr algn="ctr">
                <a:lnSpc>
                  <a:spcPct val="115000"/>
                </a:lnSpc>
              </a:pPr>
              <a:r>
                <a:rPr lang="en-IN" sz="2200" b="1" dirty="0">
                  <a:solidFill>
                    <a:schemeClr val="bg1"/>
                  </a:solidFill>
                  <a:latin typeface="Open Sans" panose="020B0606030504020204" pitchFamily="34" charset="0"/>
                </a:rPr>
                <a:t>03</a:t>
              </a:r>
              <a:endParaRPr lang="en-US" sz="2200" b="1" dirty="0">
                <a:solidFill>
                  <a:schemeClr val="bg1"/>
                </a:solidFill>
                <a:latin typeface="Open Sans" panose="020B0606030504020204" pitchFamily="34" charset="0"/>
              </a:endParaRPr>
            </a:p>
          </p:txBody>
        </p:sp>
        <p:sp>
          <p:nvSpPr>
            <p:cNvPr id="32" name="TextBox 31">
              <a:extLst>
                <a:ext uri="{FF2B5EF4-FFF2-40B4-BE49-F238E27FC236}">
                  <a16:creationId xmlns:a16="http://schemas.microsoft.com/office/drawing/2014/main" id="{DBE8EB2E-661B-B5CD-D9AF-5459DE69BFBE}"/>
                </a:ext>
              </a:extLst>
            </p:cNvPr>
            <p:cNvSpPr txBox="1"/>
            <p:nvPr/>
          </p:nvSpPr>
          <p:spPr>
            <a:xfrm>
              <a:off x="8010266" y="4913864"/>
              <a:ext cx="783772" cy="457176"/>
            </a:xfrm>
            <a:prstGeom prst="rect">
              <a:avLst/>
            </a:prstGeom>
            <a:noFill/>
          </p:spPr>
          <p:txBody>
            <a:bodyPr wrap="square" rtlCol="0">
              <a:spAutoFit/>
            </a:bodyPr>
            <a:lstStyle/>
            <a:p>
              <a:pPr algn="ctr">
                <a:lnSpc>
                  <a:spcPct val="115000"/>
                </a:lnSpc>
              </a:pPr>
              <a:r>
                <a:rPr lang="en-IN" sz="2200" b="1" dirty="0">
                  <a:solidFill>
                    <a:schemeClr val="bg1"/>
                  </a:solidFill>
                  <a:latin typeface="Open Sans" panose="020B0606030504020204" pitchFamily="34" charset="0"/>
                </a:rPr>
                <a:t>02</a:t>
              </a:r>
              <a:endParaRPr lang="en-US" sz="2200" b="1" dirty="0">
                <a:solidFill>
                  <a:schemeClr val="bg1"/>
                </a:solidFill>
                <a:latin typeface="Open Sans" panose="020B0606030504020204" pitchFamily="34" charset="0"/>
              </a:endParaRPr>
            </a:p>
          </p:txBody>
        </p:sp>
      </p:grpSp>
      <p:sp>
        <p:nvSpPr>
          <p:cNvPr id="7" name="Brandline_LVC">
            <a:extLst>
              <a:ext uri="{FF2B5EF4-FFF2-40B4-BE49-F238E27FC236}">
                <a16:creationId xmlns:a16="http://schemas.microsoft.com/office/drawing/2014/main" id="{1A42FE9A-1D25-7F20-A60E-D426B3FAF452}"/>
              </a:ext>
            </a:extLst>
          </p:cNvPr>
          <p:cNvSpPr/>
          <p:nvPr/>
        </p:nvSpPr>
        <p:spPr>
          <a:xfrm>
            <a:off x="6197600" y="816324"/>
            <a:ext cx="386961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1003415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30CB5-D8CC-EA3B-0E5A-62728861C2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2C3045-F204-B83B-83FE-F8A59BEB00F5}"/>
              </a:ext>
            </a:extLst>
          </p:cNvPr>
          <p:cNvSpPr>
            <a:spLocks noGrp="1"/>
          </p:cNvSpPr>
          <p:nvPr>
            <p:ph type="title"/>
          </p:nvPr>
        </p:nvSpPr>
        <p:spPr/>
        <p:txBody>
          <a:bodyPr/>
          <a:lstStyle/>
          <a:p>
            <a:r>
              <a:rPr lang="en-US" dirty="0"/>
              <a:t>Logging, Retries and Rate Limits Working Together</a:t>
            </a:r>
          </a:p>
        </p:txBody>
      </p:sp>
      <p:grpSp>
        <p:nvGrpSpPr>
          <p:cNvPr id="5" name="Group 4">
            <a:extLst>
              <a:ext uri="{FF2B5EF4-FFF2-40B4-BE49-F238E27FC236}">
                <a16:creationId xmlns:a16="http://schemas.microsoft.com/office/drawing/2014/main" id="{E07A1C67-AE4E-385B-3593-777BFA78327A}"/>
              </a:ext>
            </a:extLst>
          </p:cNvPr>
          <p:cNvGrpSpPr/>
          <p:nvPr/>
        </p:nvGrpSpPr>
        <p:grpSpPr>
          <a:xfrm>
            <a:off x="1144910" y="1191513"/>
            <a:ext cx="13966180" cy="7517338"/>
            <a:chOff x="1029187" y="1396784"/>
            <a:chExt cx="13966180" cy="7517338"/>
          </a:xfrm>
        </p:grpSpPr>
        <p:sp>
          <p:nvSpPr>
            <p:cNvPr id="2" name="Rectangle: Rounded Corners 1">
              <a:extLst>
                <a:ext uri="{FF2B5EF4-FFF2-40B4-BE49-F238E27FC236}">
                  <a16:creationId xmlns:a16="http://schemas.microsoft.com/office/drawing/2014/main" id="{75DF4882-2D40-76B4-054B-9337BD2DAA70}"/>
                </a:ext>
              </a:extLst>
            </p:cNvPr>
            <p:cNvSpPr/>
            <p:nvPr/>
          </p:nvSpPr>
          <p:spPr>
            <a:xfrm>
              <a:off x="6132770" y="1396784"/>
              <a:ext cx="3822581" cy="82785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Question comes in</a:t>
              </a:r>
            </a:p>
          </p:txBody>
        </p:sp>
        <p:sp>
          <p:nvSpPr>
            <p:cNvPr id="7" name="Rectangle: Rounded Corners 6">
              <a:extLst>
                <a:ext uri="{FF2B5EF4-FFF2-40B4-BE49-F238E27FC236}">
                  <a16:creationId xmlns:a16="http://schemas.microsoft.com/office/drawing/2014/main" id="{9C6F9DB7-0B2E-F00F-39EB-C9BEC615F893}"/>
                </a:ext>
              </a:extLst>
            </p:cNvPr>
            <p:cNvSpPr/>
            <p:nvPr/>
          </p:nvSpPr>
          <p:spPr>
            <a:xfrm>
              <a:off x="6132771" y="2949253"/>
              <a:ext cx="3822582" cy="82785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Writer</a:t>
              </a:r>
            </a:p>
            <a:p>
              <a:pPr algn="ctr">
                <a:lnSpc>
                  <a:spcPct val="115000"/>
                </a:lnSpc>
              </a:pPr>
              <a:r>
                <a:rPr lang="en-IN" sz="2200" b="1" dirty="0">
                  <a:latin typeface="Open Sans" panose="020B0606030504020204" pitchFamily="34" charset="0"/>
                </a:rPr>
                <a:t>logs each step</a:t>
              </a:r>
            </a:p>
          </p:txBody>
        </p:sp>
        <p:sp>
          <p:nvSpPr>
            <p:cNvPr id="8" name="Rectangle: Rounded Corners 7">
              <a:extLst>
                <a:ext uri="{FF2B5EF4-FFF2-40B4-BE49-F238E27FC236}">
                  <a16:creationId xmlns:a16="http://schemas.microsoft.com/office/drawing/2014/main" id="{C15A6F13-CF6B-F456-21B1-3D6198C534A0}"/>
                </a:ext>
              </a:extLst>
            </p:cNvPr>
            <p:cNvSpPr/>
            <p:nvPr/>
          </p:nvSpPr>
          <p:spPr>
            <a:xfrm>
              <a:off x="1029187" y="3739788"/>
              <a:ext cx="3535680" cy="1548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Checker + logging</a:t>
              </a:r>
            </a:p>
          </p:txBody>
        </p:sp>
        <p:sp>
          <p:nvSpPr>
            <p:cNvPr id="9" name="Rectangle: Rounded Corners 8">
              <a:extLst>
                <a:ext uri="{FF2B5EF4-FFF2-40B4-BE49-F238E27FC236}">
                  <a16:creationId xmlns:a16="http://schemas.microsoft.com/office/drawing/2014/main" id="{7E6B3B31-435A-ED11-8A7C-CCD523FBA60C}"/>
                </a:ext>
              </a:extLst>
            </p:cNvPr>
            <p:cNvSpPr/>
            <p:nvPr/>
          </p:nvSpPr>
          <p:spPr>
            <a:xfrm>
              <a:off x="11459687" y="3739788"/>
              <a:ext cx="3535680" cy="1548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Failed? Tries left?</a:t>
              </a:r>
            </a:p>
            <a:p>
              <a:pPr algn="ctr">
                <a:lnSpc>
                  <a:spcPct val="115000"/>
                </a:lnSpc>
              </a:pPr>
              <a:r>
                <a:rPr lang="en-IN" sz="2200" b="1" dirty="0">
                  <a:latin typeface="Open Sans" panose="020B0606030504020204" pitchFamily="34" charset="0"/>
                </a:rPr>
                <a:t>No: flag a human</a:t>
              </a:r>
            </a:p>
            <a:p>
              <a:pPr algn="ctr">
                <a:lnSpc>
                  <a:spcPct val="115000"/>
                </a:lnSpc>
              </a:pPr>
              <a:r>
                <a:rPr lang="en-IN" sz="2200" b="1" dirty="0">
                  <a:latin typeface="Open Sans" panose="020B0606030504020204" pitchFamily="34" charset="0"/>
                </a:rPr>
                <a:t>Yes: fix, recheck</a:t>
              </a:r>
            </a:p>
          </p:txBody>
        </p:sp>
        <p:sp>
          <p:nvSpPr>
            <p:cNvPr id="10" name="Rectangle: Rounded Corners 9">
              <a:extLst>
                <a:ext uri="{FF2B5EF4-FFF2-40B4-BE49-F238E27FC236}">
                  <a16:creationId xmlns:a16="http://schemas.microsoft.com/office/drawing/2014/main" id="{797D4A15-E7AC-4FEB-5927-99805D595ADF}"/>
                </a:ext>
              </a:extLst>
            </p:cNvPr>
            <p:cNvSpPr/>
            <p:nvPr/>
          </p:nvSpPr>
          <p:spPr>
            <a:xfrm>
              <a:off x="6132771" y="5464230"/>
              <a:ext cx="3822580" cy="82785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Rate limit: pace calls</a:t>
              </a:r>
            </a:p>
          </p:txBody>
        </p:sp>
        <p:sp>
          <p:nvSpPr>
            <p:cNvPr id="11" name="Rectangle: Rounded Corners 10">
              <a:extLst>
                <a:ext uri="{FF2B5EF4-FFF2-40B4-BE49-F238E27FC236}">
                  <a16:creationId xmlns:a16="http://schemas.microsoft.com/office/drawing/2014/main" id="{076B0340-1001-5C77-C957-5BEC2AD7F452}"/>
                </a:ext>
              </a:extLst>
            </p:cNvPr>
            <p:cNvSpPr/>
            <p:nvPr/>
          </p:nvSpPr>
          <p:spPr>
            <a:xfrm>
              <a:off x="6132770" y="6781506"/>
              <a:ext cx="3822580" cy="8153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Fixer + logging</a:t>
              </a:r>
            </a:p>
          </p:txBody>
        </p:sp>
        <p:sp>
          <p:nvSpPr>
            <p:cNvPr id="12" name="Rectangle: Rounded Corners 11">
              <a:extLst>
                <a:ext uri="{FF2B5EF4-FFF2-40B4-BE49-F238E27FC236}">
                  <a16:creationId xmlns:a16="http://schemas.microsoft.com/office/drawing/2014/main" id="{24007181-1E31-2539-54FC-ACF933D7047D}"/>
                </a:ext>
              </a:extLst>
            </p:cNvPr>
            <p:cNvSpPr/>
            <p:nvPr/>
          </p:nvSpPr>
          <p:spPr>
            <a:xfrm>
              <a:off x="6132770" y="8086264"/>
              <a:ext cx="3822580" cy="82785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pPr>
              <a:r>
                <a:rPr lang="en-IN" sz="2200" b="1" dirty="0">
                  <a:latin typeface="Open Sans" panose="020B0606030504020204" pitchFamily="34" charset="0"/>
                </a:rPr>
                <a:t>Answer goes out</a:t>
              </a:r>
            </a:p>
          </p:txBody>
        </p:sp>
        <p:sp>
          <p:nvSpPr>
            <p:cNvPr id="13" name="Arrow: Down 12">
              <a:extLst>
                <a:ext uri="{FF2B5EF4-FFF2-40B4-BE49-F238E27FC236}">
                  <a16:creationId xmlns:a16="http://schemas.microsoft.com/office/drawing/2014/main" id="{30F2F232-C357-48A3-BAD9-346236D8C878}"/>
                </a:ext>
              </a:extLst>
            </p:cNvPr>
            <p:cNvSpPr/>
            <p:nvPr/>
          </p:nvSpPr>
          <p:spPr>
            <a:xfrm>
              <a:off x="7988300" y="2234030"/>
              <a:ext cx="279400" cy="661913"/>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5FDD646B-D888-0353-6EEF-56FD7EA75E35}"/>
                </a:ext>
              </a:extLst>
            </p:cNvPr>
            <p:cNvSpPr/>
            <p:nvPr/>
          </p:nvSpPr>
          <p:spPr>
            <a:xfrm>
              <a:off x="7960420" y="6354064"/>
              <a:ext cx="335160" cy="36546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A5CDC8E0-08D8-7161-8DD5-0799200BE532}"/>
                </a:ext>
              </a:extLst>
            </p:cNvPr>
            <p:cNvSpPr/>
            <p:nvPr/>
          </p:nvSpPr>
          <p:spPr>
            <a:xfrm>
              <a:off x="7963020" y="7641288"/>
              <a:ext cx="335160" cy="36546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Bent 15">
              <a:extLst>
                <a:ext uri="{FF2B5EF4-FFF2-40B4-BE49-F238E27FC236}">
                  <a16:creationId xmlns:a16="http://schemas.microsoft.com/office/drawing/2014/main" id="{3B4769EB-4C84-1ED3-B6FE-6792F0E1C0BF}"/>
                </a:ext>
              </a:extLst>
            </p:cNvPr>
            <p:cNvSpPr/>
            <p:nvPr/>
          </p:nvSpPr>
          <p:spPr>
            <a:xfrm flipH="1" flipV="1">
              <a:off x="10182373" y="5308678"/>
              <a:ext cx="3276600" cy="726920"/>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Bent 16">
              <a:extLst>
                <a:ext uri="{FF2B5EF4-FFF2-40B4-BE49-F238E27FC236}">
                  <a16:creationId xmlns:a16="http://schemas.microsoft.com/office/drawing/2014/main" id="{5FD2A854-4019-B603-8449-D8A57CEFA15B}"/>
                </a:ext>
              </a:extLst>
            </p:cNvPr>
            <p:cNvSpPr/>
            <p:nvPr/>
          </p:nvSpPr>
          <p:spPr>
            <a:xfrm flipV="1">
              <a:off x="2797027" y="5363293"/>
              <a:ext cx="3276600" cy="625984"/>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Bent 18">
              <a:extLst>
                <a:ext uri="{FF2B5EF4-FFF2-40B4-BE49-F238E27FC236}">
                  <a16:creationId xmlns:a16="http://schemas.microsoft.com/office/drawing/2014/main" id="{44D5F28B-CDC3-3261-792C-C07CD5AC80D8}"/>
                </a:ext>
              </a:extLst>
            </p:cNvPr>
            <p:cNvSpPr/>
            <p:nvPr/>
          </p:nvSpPr>
          <p:spPr>
            <a:xfrm rot="5400000">
              <a:off x="11451222" y="1838060"/>
              <a:ext cx="521435" cy="3276600"/>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Arrow: Bent 19">
              <a:extLst>
                <a:ext uri="{FF2B5EF4-FFF2-40B4-BE49-F238E27FC236}">
                  <a16:creationId xmlns:a16="http://schemas.microsoft.com/office/drawing/2014/main" id="{FA547A50-EE6C-F337-374E-0646F4AA9F33}"/>
                </a:ext>
              </a:extLst>
            </p:cNvPr>
            <p:cNvSpPr/>
            <p:nvPr/>
          </p:nvSpPr>
          <p:spPr>
            <a:xfrm rot="5400000" flipV="1">
              <a:off x="4054750" y="1827596"/>
              <a:ext cx="561469" cy="3276600"/>
            </a:xfrm>
            <a:prstGeom prst="ben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sp>
        <p:nvSpPr>
          <p:cNvPr id="21" name="Brandline_LVC">
            <a:extLst>
              <a:ext uri="{FF2B5EF4-FFF2-40B4-BE49-F238E27FC236}">
                <a16:creationId xmlns:a16="http://schemas.microsoft.com/office/drawing/2014/main" id="{AACDA022-F066-78C5-96B7-318A5E6ECAE3}"/>
              </a:ext>
            </a:extLst>
          </p:cNvPr>
          <p:cNvSpPr/>
          <p:nvPr/>
        </p:nvSpPr>
        <p:spPr>
          <a:xfrm>
            <a:off x="889000" y="816324"/>
            <a:ext cx="1447808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4196410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B35C6DF-5875-CD40-BB01-0BC855F153F0}"/>
              </a:ext>
            </a:extLst>
          </p:cNvPr>
          <p:cNvSpPr>
            <a:spLocks noGrp="1"/>
          </p:cNvSpPr>
          <p:nvPr>
            <p:ph type="body" idx="1"/>
          </p:nvPr>
        </p:nvSpPr>
        <p:spPr>
          <a:xfrm>
            <a:off x="8128000" y="3371850"/>
            <a:ext cx="7315200" cy="2442656"/>
          </a:xfrm>
        </p:spPr>
        <p:txBody>
          <a:bodyPr/>
          <a:lstStyle/>
          <a:p>
            <a:r>
              <a:rPr lang="en-US" dirty="0"/>
              <a:t>To make the chain run faster</a:t>
            </a:r>
          </a:p>
          <a:p>
            <a:r>
              <a:rPr lang="en-US" dirty="0"/>
              <a:t>So a broken step can’t loop forever and run up the bill</a:t>
            </a:r>
          </a:p>
          <a:p>
            <a:r>
              <a:rPr lang="en-US" dirty="0"/>
              <a:t>So agents can swap roles</a:t>
            </a:r>
          </a:p>
          <a:p>
            <a:r>
              <a:rPr lang="en-IN" dirty="0"/>
              <a:t>To skip the Checker</a:t>
            </a:r>
          </a:p>
        </p:txBody>
      </p:sp>
      <p:sp>
        <p:nvSpPr>
          <p:cNvPr id="6" name="Text Placeholder 5">
            <a:extLst>
              <a:ext uri="{FF2B5EF4-FFF2-40B4-BE49-F238E27FC236}">
                <a16:creationId xmlns:a16="http://schemas.microsoft.com/office/drawing/2014/main" id="{C7BCEF10-3C7A-5B0E-57D0-28F4F1B4A98E}"/>
              </a:ext>
            </a:extLst>
          </p:cNvPr>
          <p:cNvSpPr>
            <a:spLocks noGrp="1"/>
          </p:cNvSpPr>
          <p:nvPr>
            <p:ph type="body" idx="2"/>
          </p:nvPr>
        </p:nvSpPr>
        <p:spPr>
          <a:xfrm>
            <a:off x="8128000" y="2499874"/>
            <a:ext cx="7315200" cy="771878"/>
          </a:xfrm>
        </p:spPr>
        <p:txBody>
          <a:bodyPr/>
          <a:lstStyle/>
          <a:p>
            <a:pPr marL="0"/>
            <a:r>
              <a:rPr lang="en-US" dirty="0"/>
              <a:t>Why do we cap retries at a fixed number?</a:t>
            </a:r>
          </a:p>
        </p:txBody>
      </p:sp>
    </p:spTree>
    <p:extLst>
      <p:ext uri="{BB962C8B-B14F-4D97-AF65-F5344CB8AC3E}">
        <p14:creationId xmlns:p14="http://schemas.microsoft.com/office/powerpoint/2010/main" val="2912986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B27A32-9396-329E-BF52-4EFFD9F5B4DE}"/>
              </a:ext>
            </a:extLst>
          </p:cNvPr>
          <p:cNvSpPr>
            <a:spLocks noGrp="1"/>
          </p:cNvSpPr>
          <p:nvPr>
            <p:ph type="body" idx="10"/>
          </p:nvPr>
        </p:nvSpPr>
        <p:spPr/>
        <p:txBody>
          <a:bodyPr/>
          <a:lstStyle/>
          <a:p>
            <a:r>
              <a:rPr lang="en-US" dirty="0"/>
              <a:t>Part 3: Review and Debrief</a:t>
            </a:r>
          </a:p>
        </p:txBody>
      </p:sp>
    </p:spTree>
    <p:extLst>
      <p:ext uri="{BB962C8B-B14F-4D97-AF65-F5344CB8AC3E}">
        <p14:creationId xmlns:p14="http://schemas.microsoft.com/office/powerpoint/2010/main" val="2002952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78C8-4537-4BF9-FF15-CA782D614E7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BC10B26-72E6-9EC9-603E-8A36563ED730}"/>
              </a:ext>
            </a:extLst>
          </p:cNvPr>
          <p:cNvSpPr>
            <a:spLocks noGrp="1"/>
          </p:cNvSpPr>
          <p:nvPr>
            <p:ph type="body" idx="10"/>
          </p:nvPr>
        </p:nvSpPr>
        <p:spPr/>
        <p:txBody>
          <a:bodyPr>
            <a:noAutofit/>
          </a:bodyPr>
          <a:lstStyle/>
          <a:p>
            <a:r>
              <a:rPr lang="en-US" dirty="0"/>
              <a:t>A trace is the step-by-step record of everything the agents did: every call, its input and output, time and cost. Like a flight’s black box, or the live tracking on a food delivery app.</a:t>
            </a:r>
          </a:p>
        </p:txBody>
      </p:sp>
      <p:sp>
        <p:nvSpPr>
          <p:cNvPr id="3" name="Title 2">
            <a:extLst>
              <a:ext uri="{FF2B5EF4-FFF2-40B4-BE49-F238E27FC236}">
                <a16:creationId xmlns:a16="http://schemas.microsoft.com/office/drawing/2014/main" id="{5E14F72F-A4B1-CD18-63D7-B9201C987001}"/>
              </a:ext>
            </a:extLst>
          </p:cNvPr>
          <p:cNvSpPr>
            <a:spLocks noGrp="1"/>
          </p:cNvSpPr>
          <p:nvPr>
            <p:ph type="title"/>
          </p:nvPr>
        </p:nvSpPr>
        <p:spPr/>
        <p:txBody>
          <a:bodyPr/>
          <a:lstStyle/>
          <a:p>
            <a:r>
              <a:rPr lang="en-US" dirty="0"/>
              <a:t>Trace Review: The Black Box of Your Agents</a:t>
            </a:r>
          </a:p>
        </p:txBody>
      </p:sp>
      <p:grpSp>
        <p:nvGrpSpPr>
          <p:cNvPr id="73" name="Group 72">
            <a:extLst>
              <a:ext uri="{FF2B5EF4-FFF2-40B4-BE49-F238E27FC236}">
                <a16:creationId xmlns:a16="http://schemas.microsoft.com/office/drawing/2014/main" id="{CE1DD10F-BE0E-E5D4-EF47-F623E8627D14}"/>
              </a:ext>
            </a:extLst>
          </p:cNvPr>
          <p:cNvGrpSpPr/>
          <p:nvPr/>
        </p:nvGrpSpPr>
        <p:grpSpPr>
          <a:xfrm>
            <a:off x="1446743" y="3995152"/>
            <a:ext cx="13362515" cy="3946771"/>
            <a:chOff x="1446742" y="2598614"/>
            <a:chExt cx="13362515" cy="3946771"/>
          </a:xfrm>
        </p:grpSpPr>
        <p:sp>
          <p:nvSpPr>
            <p:cNvPr id="48" name="Freeform: Shape 47">
              <a:extLst>
                <a:ext uri="{FF2B5EF4-FFF2-40B4-BE49-F238E27FC236}">
                  <a16:creationId xmlns:a16="http://schemas.microsoft.com/office/drawing/2014/main" id="{1C66D880-132C-00F0-2AA7-51762FFB1D58}"/>
                </a:ext>
              </a:extLst>
            </p:cNvPr>
            <p:cNvSpPr>
              <a:spLocks/>
            </p:cNvSpPr>
            <p:nvPr/>
          </p:nvSpPr>
          <p:spPr bwMode="auto">
            <a:xfrm rot="16200000">
              <a:off x="4238153" y="4061787"/>
              <a:ext cx="2378183" cy="2589014"/>
            </a:xfrm>
            <a:custGeom>
              <a:avLst/>
              <a:gdLst>
                <a:gd name="T0" fmla="*/ 895267 w 21600"/>
                <a:gd name="T1" fmla="*/ 974784 h 21600"/>
                <a:gd name="T2" fmla="*/ 895267 w 21600"/>
                <a:gd name="T3" fmla="*/ 974784 h 21600"/>
                <a:gd name="T4" fmla="*/ 895267 w 21600"/>
                <a:gd name="T5" fmla="*/ 974784 h 21600"/>
                <a:gd name="T6" fmla="*/ 895267 w 21600"/>
                <a:gd name="T7" fmla="*/ 9747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7489" y="10800"/>
                  </a:moveTo>
                  <a:lnTo>
                    <a:pt x="17486" y="10792"/>
                  </a:lnTo>
                  <a:lnTo>
                    <a:pt x="17486" y="10808"/>
                  </a:lnTo>
                  <a:lnTo>
                    <a:pt x="17489" y="10800"/>
                  </a:lnTo>
                  <a:close/>
                  <a:moveTo>
                    <a:pt x="21600" y="10800"/>
                  </a:moveTo>
                  <a:lnTo>
                    <a:pt x="17489" y="21600"/>
                  </a:lnTo>
                  <a:lnTo>
                    <a:pt x="13378" y="21600"/>
                  </a:lnTo>
                  <a:lnTo>
                    <a:pt x="2914" y="21600"/>
                  </a:lnTo>
                  <a:cubicBezTo>
                    <a:pt x="1305" y="21600"/>
                    <a:pt x="0" y="20402"/>
                    <a:pt x="0" y="18923"/>
                  </a:cubicBezTo>
                  <a:lnTo>
                    <a:pt x="0" y="2685"/>
                  </a:lnTo>
                  <a:cubicBezTo>
                    <a:pt x="0" y="1207"/>
                    <a:pt x="1305" y="8"/>
                    <a:pt x="2914" y="8"/>
                  </a:cubicBezTo>
                  <a:lnTo>
                    <a:pt x="13381" y="8"/>
                  </a:lnTo>
                  <a:lnTo>
                    <a:pt x="13378" y="0"/>
                  </a:lnTo>
                  <a:lnTo>
                    <a:pt x="17489" y="0"/>
                  </a:lnTo>
                  <a:lnTo>
                    <a:pt x="21600" y="10800"/>
                  </a:lnTo>
                  <a:close/>
                </a:path>
              </a:pathLst>
            </a:custGeom>
            <a:solidFill>
              <a:srgbClr val="BB7BB3"/>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49" name="Freeform: Shape 48">
              <a:extLst>
                <a:ext uri="{FF2B5EF4-FFF2-40B4-BE49-F238E27FC236}">
                  <a16:creationId xmlns:a16="http://schemas.microsoft.com/office/drawing/2014/main" id="{65C212A0-1236-89D1-0664-2AEF366E8AA1}"/>
                </a:ext>
              </a:extLst>
            </p:cNvPr>
            <p:cNvSpPr>
              <a:spLocks/>
            </p:cNvSpPr>
            <p:nvPr/>
          </p:nvSpPr>
          <p:spPr bwMode="auto">
            <a:xfrm rot="16200000">
              <a:off x="6926257" y="4061787"/>
              <a:ext cx="2378183" cy="2589014"/>
            </a:xfrm>
            <a:custGeom>
              <a:avLst/>
              <a:gdLst>
                <a:gd name="T0" fmla="*/ 895267 w 21600"/>
                <a:gd name="T1" fmla="*/ 974784 h 21600"/>
                <a:gd name="T2" fmla="*/ 895267 w 21600"/>
                <a:gd name="T3" fmla="*/ 974784 h 21600"/>
                <a:gd name="T4" fmla="*/ 895267 w 21600"/>
                <a:gd name="T5" fmla="*/ 974784 h 21600"/>
                <a:gd name="T6" fmla="*/ 895267 w 21600"/>
                <a:gd name="T7" fmla="*/ 9747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7489" y="10800"/>
                  </a:moveTo>
                  <a:lnTo>
                    <a:pt x="17486" y="10792"/>
                  </a:lnTo>
                  <a:lnTo>
                    <a:pt x="17486" y="10808"/>
                  </a:lnTo>
                  <a:lnTo>
                    <a:pt x="17489" y="10800"/>
                  </a:lnTo>
                  <a:close/>
                  <a:moveTo>
                    <a:pt x="21600" y="10800"/>
                  </a:moveTo>
                  <a:lnTo>
                    <a:pt x="17489" y="21600"/>
                  </a:lnTo>
                  <a:lnTo>
                    <a:pt x="13378" y="21600"/>
                  </a:lnTo>
                  <a:lnTo>
                    <a:pt x="2914" y="21600"/>
                  </a:lnTo>
                  <a:cubicBezTo>
                    <a:pt x="1305" y="21600"/>
                    <a:pt x="0" y="20402"/>
                    <a:pt x="0" y="18923"/>
                  </a:cubicBezTo>
                  <a:lnTo>
                    <a:pt x="0" y="2685"/>
                  </a:lnTo>
                  <a:cubicBezTo>
                    <a:pt x="0" y="1207"/>
                    <a:pt x="1305" y="8"/>
                    <a:pt x="2914" y="8"/>
                  </a:cubicBezTo>
                  <a:lnTo>
                    <a:pt x="13381" y="8"/>
                  </a:lnTo>
                  <a:lnTo>
                    <a:pt x="13378" y="0"/>
                  </a:lnTo>
                  <a:lnTo>
                    <a:pt x="17489" y="0"/>
                  </a:lnTo>
                  <a:lnTo>
                    <a:pt x="21600" y="10800"/>
                  </a:lnTo>
                  <a:close/>
                </a:path>
              </a:pathLst>
            </a:custGeom>
            <a:solidFill>
              <a:srgbClr val="848CD8"/>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50" name="Freeform: Shape 49">
              <a:extLst>
                <a:ext uri="{FF2B5EF4-FFF2-40B4-BE49-F238E27FC236}">
                  <a16:creationId xmlns:a16="http://schemas.microsoft.com/office/drawing/2014/main" id="{6B592FDD-73F9-F573-83A2-23E2C08CD7E6}"/>
                </a:ext>
              </a:extLst>
            </p:cNvPr>
            <p:cNvSpPr>
              <a:spLocks/>
            </p:cNvSpPr>
            <p:nvPr/>
          </p:nvSpPr>
          <p:spPr bwMode="auto">
            <a:xfrm rot="16200000">
              <a:off x="9612253" y="4061787"/>
              <a:ext cx="2378183" cy="2589014"/>
            </a:xfrm>
            <a:custGeom>
              <a:avLst/>
              <a:gdLst>
                <a:gd name="T0" fmla="*/ 895267 w 21600"/>
                <a:gd name="T1" fmla="*/ 974784 h 21600"/>
                <a:gd name="T2" fmla="*/ 895267 w 21600"/>
                <a:gd name="T3" fmla="*/ 974784 h 21600"/>
                <a:gd name="T4" fmla="*/ 895267 w 21600"/>
                <a:gd name="T5" fmla="*/ 974784 h 21600"/>
                <a:gd name="T6" fmla="*/ 895267 w 21600"/>
                <a:gd name="T7" fmla="*/ 9747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7489" y="10800"/>
                  </a:moveTo>
                  <a:lnTo>
                    <a:pt x="17486" y="10792"/>
                  </a:lnTo>
                  <a:lnTo>
                    <a:pt x="17486" y="10808"/>
                  </a:lnTo>
                  <a:lnTo>
                    <a:pt x="17489" y="10800"/>
                  </a:lnTo>
                  <a:close/>
                  <a:moveTo>
                    <a:pt x="21600" y="10800"/>
                  </a:moveTo>
                  <a:lnTo>
                    <a:pt x="17489" y="21600"/>
                  </a:lnTo>
                  <a:lnTo>
                    <a:pt x="13378" y="21600"/>
                  </a:lnTo>
                  <a:lnTo>
                    <a:pt x="2914" y="21600"/>
                  </a:lnTo>
                  <a:cubicBezTo>
                    <a:pt x="1305" y="21600"/>
                    <a:pt x="0" y="20402"/>
                    <a:pt x="0" y="18923"/>
                  </a:cubicBezTo>
                  <a:lnTo>
                    <a:pt x="0" y="2685"/>
                  </a:lnTo>
                  <a:cubicBezTo>
                    <a:pt x="0" y="1207"/>
                    <a:pt x="1305" y="8"/>
                    <a:pt x="2914" y="8"/>
                  </a:cubicBezTo>
                  <a:lnTo>
                    <a:pt x="13381" y="8"/>
                  </a:lnTo>
                  <a:lnTo>
                    <a:pt x="13378" y="0"/>
                  </a:lnTo>
                  <a:lnTo>
                    <a:pt x="17489" y="0"/>
                  </a:lnTo>
                  <a:lnTo>
                    <a:pt x="21600" y="10800"/>
                  </a:lnTo>
                  <a:close/>
                </a:path>
              </a:pathLst>
            </a:custGeom>
            <a:solidFill>
              <a:srgbClr val="DF9D3D"/>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51" name="Freeform: Shape 50">
              <a:extLst>
                <a:ext uri="{FF2B5EF4-FFF2-40B4-BE49-F238E27FC236}">
                  <a16:creationId xmlns:a16="http://schemas.microsoft.com/office/drawing/2014/main" id="{7A62AD1C-F500-005C-F8B7-3CD09573A456}"/>
                </a:ext>
              </a:extLst>
            </p:cNvPr>
            <p:cNvSpPr>
              <a:spLocks/>
            </p:cNvSpPr>
            <p:nvPr/>
          </p:nvSpPr>
          <p:spPr bwMode="auto">
            <a:xfrm rot="16200000">
              <a:off x="12300358" y="4061787"/>
              <a:ext cx="2378183" cy="2589014"/>
            </a:xfrm>
            <a:custGeom>
              <a:avLst/>
              <a:gdLst>
                <a:gd name="T0" fmla="*/ 895267 w 21600"/>
                <a:gd name="T1" fmla="*/ 974784 h 21600"/>
                <a:gd name="T2" fmla="*/ 895267 w 21600"/>
                <a:gd name="T3" fmla="*/ 974784 h 21600"/>
                <a:gd name="T4" fmla="*/ 895267 w 21600"/>
                <a:gd name="T5" fmla="*/ 974784 h 21600"/>
                <a:gd name="T6" fmla="*/ 895267 w 21600"/>
                <a:gd name="T7" fmla="*/ 9747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7489" y="10800"/>
                  </a:moveTo>
                  <a:lnTo>
                    <a:pt x="17486" y="10792"/>
                  </a:lnTo>
                  <a:lnTo>
                    <a:pt x="17486" y="10808"/>
                  </a:lnTo>
                  <a:lnTo>
                    <a:pt x="17489" y="10800"/>
                  </a:lnTo>
                  <a:close/>
                  <a:moveTo>
                    <a:pt x="21600" y="10800"/>
                  </a:moveTo>
                  <a:lnTo>
                    <a:pt x="17489" y="21600"/>
                  </a:lnTo>
                  <a:lnTo>
                    <a:pt x="13378" y="21600"/>
                  </a:lnTo>
                  <a:lnTo>
                    <a:pt x="2914" y="21600"/>
                  </a:lnTo>
                  <a:cubicBezTo>
                    <a:pt x="1305" y="21600"/>
                    <a:pt x="0" y="20402"/>
                    <a:pt x="0" y="18923"/>
                  </a:cubicBezTo>
                  <a:lnTo>
                    <a:pt x="0" y="2685"/>
                  </a:lnTo>
                  <a:cubicBezTo>
                    <a:pt x="0" y="1207"/>
                    <a:pt x="1305" y="8"/>
                    <a:pt x="2914" y="8"/>
                  </a:cubicBezTo>
                  <a:lnTo>
                    <a:pt x="13381" y="8"/>
                  </a:lnTo>
                  <a:lnTo>
                    <a:pt x="13378" y="0"/>
                  </a:lnTo>
                  <a:lnTo>
                    <a:pt x="17489" y="0"/>
                  </a:lnTo>
                  <a:lnTo>
                    <a:pt x="21600" y="10800"/>
                  </a:lnTo>
                  <a:close/>
                </a:path>
              </a:pathLst>
            </a:custGeom>
            <a:solidFill>
              <a:srgbClr val="A5A832"/>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52" name="Freeform: Shape 51">
              <a:extLst>
                <a:ext uri="{FF2B5EF4-FFF2-40B4-BE49-F238E27FC236}">
                  <a16:creationId xmlns:a16="http://schemas.microsoft.com/office/drawing/2014/main" id="{54B1C104-F91A-85B4-B19E-D2096BDC5DF0}"/>
                </a:ext>
              </a:extLst>
            </p:cNvPr>
            <p:cNvSpPr>
              <a:spLocks/>
            </p:cNvSpPr>
            <p:nvPr/>
          </p:nvSpPr>
          <p:spPr bwMode="auto">
            <a:xfrm rot="16200000">
              <a:off x="1552157" y="4061787"/>
              <a:ext cx="2378183" cy="2589014"/>
            </a:xfrm>
            <a:custGeom>
              <a:avLst/>
              <a:gdLst>
                <a:gd name="T0" fmla="*/ 895267 w 21600"/>
                <a:gd name="T1" fmla="*/ 974784 h 21600"/>
                <a:gd name="T2" fmla="*/ 895267 w 21600"/>
                <a:gd name="T3" fmla="*/ 974784 h 21600"/>
                <a:gd name="T4" fmla="*/ 895267 w 21600"/>
                <a:gd name="T5" fmla="*/ 974784 h 21600"/>
                <a:gd name="T6" fmla="*/ 895267 w 21600"/>
                <a:gd name="T7" fmla="*/ 97478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7489" y="10800"/>
                  </a:moveTo>
                  <a:lnTo>
                    <a:pt x="17486" y="10792"/>
                  </a:lnTo>
                  <a:lnTo>
                    <a:pt x="17486" y="10808"/>
                  </a:lnTo>
                  <a:lnTo>
                    <a:pt x="17489" y="10800"/>
                  </a:lnTo>
                  <a:close/>
                  <a:moveTo>
                    <a:pt x="21600" y="10800"/>
                  </a:moveTo>
                  <a:lnTo>
                    <a:pt x="17489" y="21600"/>
                  </a:lnTo>
                  <a:lnTo>
                    <a:pt x="13378" y="21600"/>
                  </a:lnTo>
                  <a:lnTo>
                    <a:pt x="2914" y="21600"/>
                  </a:lnTo>
                  <a:cubicBezTo>
                    <a:pt x="1305" y="21600"/>
                    <a:pt x="0" y="20402"/>
                    <a:pt x="0" y="18923"/>
                  </a:cubicBezTo>
                  <a:lnTo>
                    <a:pt x="0" y="2685"/>
                  </a:lnTo>
                  <a:cubicBezTo>
                    <a:pt x="0" y="1207"/>
                    <a:pt x="1305" y="8"/>
                    <a:pt x="2914" y="8"/>
                  </a:cubicBezTo>
                  <a:lnTo>
                    <a:pt x="13381" y="8"/>
                  </a:lnTo>
                  <a:lnTo>
                    <a:pt x="13378" y="0"/>
                  </a:lnTo>
                  <a:lnTo>
                    <a:pt x="17489" y="0"/>
                  </a:lnTo>
                  <a:lnTo>
                    <a:pt x="21600" y="10800"/>
                  </a:lnTo>
                  <a:close/>
                </a:path>
              </a:pathLst>
            </a:custGeom>
            <a:solidFill>
              <a:srgbClr val="3EADB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53" name="Arrow: Chevron 52">
              <a:extLst>
                <a:ext uri="{FF2B5EF4-FFF2-40B4-BE49-F238E27FC236}">
                  <a16:creationId xmlns:a16="http://schemas.microsoft.com/office/drawing/2014/main" id="{3F6CCCA4-030A-B451-77C8-982677943189}"/>
                </a:ext>
              </a:extLst>
            </p:cNvPr>
            <p:cNvSpPr>
              <a:spLocks noChangeArrowheads="1"/>
            </p:cNvSpPr>
            <p:nvPr/>
          </p:nvSpPr>
          <p:spPr bwMode="auto">
            <a:xfrm rot="16200000">
              <a:off x="2295338" y="2778875"/>
              <a:ext cx="904469" cy="2589014"/>
            </a:xfrm>
            <a:prstGeom prst="chevron">
              <a:avLst>
                <a:gd name="adj" fmla="val 50000"/>
              </a:avLst>
            </a:prstGeom>
            <a:solidFill>
              <a:srgbClr val="3EADB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latin typeface="Open Sans" panose="020B0606030504020204" pitchFamily="34" charset="0"/>
                <a:ea typeface="Open Sans" panose="020B0606030504020204" pitchFamily="34" charset="0"/>
                <a:cs typeface="Open Sans" panose="020B0606030504020204" pitchFamily="34" charset="0"/>
              </a:endParaRPr>
            </a:p>
          </p:txBody>
        </p:sp>
        <p:sp>
          <p:nvSpPr>
            <p:cNvPr id="54" name="Arrow: Chevron 53">
              <a:extLst>
                <a:ext uri="{FF2B5EF4-FFF2-40B4-BE49-F238E27FC236}">
                  <a16:creationId xmlns:a16="http://schemas.microsoft.com/office/drawing/2014/main" id="{C5E922FB-BF2D-FA1F-FB2A-1886F8B5F96A}"/>
                </a:ext>
              </a:extLst>
            </p:cNvPr>
            <p:cNvSpPr>
              <a:spLocks noChangeArrowheads="1"/>
            </p:cNvSpPr>
            <p:nvPr/>
          </p:nvSpPr>
          <p:spPr bwMode="auto">
            <a:xfrm rot="16200000">
              <a:off x="7677872" y="2778875"/>
              <a:ext cx="904469" cy="2589014"/>
            </a:xfrm>
            <a:prstGeom prst="chevron">
              <a:avLst>
                <a:gd name="adj" fmla="val 50000"/>
              </a:avLst>
            </a:prstGeom>
            <a:solidFill>
              <a:srgbClr val="848CD8"/>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latin typeface="Open Sans" panose="020B0606030504020204" pitchFamily="34" charset="0"/>
                <a:ea typeface="Open Sans" panose="020B0606030504020204" pitchFamily="34" charset="0"/>
                <a:cs typeface="Open Sans" panose="020B0606030504020204" pitchFamily="34" charset="0"/>
              </a:endParaRPr>
            </a:p>
          </p:txBody>
        </p:sp>
        <p:sp>
          <p:nvSpPr>
            <p:cNvPr id="55" name="Arrow: Chevron 54">
              <a:extLst>
                <a:ext uri="{FF2B5EF4-FFF2-40B4-BE49-F238E27FC236}">
                  <a16:creationId xmlns:a16="http://schemas.microsoft.com/office/drawing/2014/main" id="{9CF96C2E-A467-8165-7C8F-8BA3DC3631BB}"/>
                </a:ext>
              </a:extLst>
            </p:cNvPr>
            <p:cNvSpPr>
              <a:spLocks noChangeArrowheads="1"/>
            </p:cNvSpPr>
            <p:nvPr/>
          </p:nvSpPr>
          <p:spPr bwMode="auto">
            <a:xfrm rot="16200000">
              <a:off x="13062515" y="2778875"/>
              <a:ext cx="904469" cy="2589014"/>
            </a:xfrm>
            <a:prstGeom prst="chevron">
              <a:avLst>
                <a:gd name="adj" fmla="val 50000"/>
              </a:avLst>
            </a:prstGeom>
            <a:solidFill>
              <a:srgbClr val="A5A832"/>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latin typeface="Open Sans" panose="020B0606030504020204" pitchFamily="34" charset="0"/>
                <a:ea typeface="Open Sans" panose="020B0606030504020204" pitchFamily="34" charset="0"/>
                <a:cs typeface="Open Sans" panose="020B0606030504020204" pitchFamily="34" charset="0"/>
              </a:endParaRPr>
            </a:p>
          </p:txBody>
        </p:sp>
        <p:sp>
          <p:nvSpPr>
            <p:cNvPr id="56" name="Text_1">
              <a:extLst>
                <a:ext uri="{FF2B5EF4-FFF2-40B4-BE49-F238E27FC236}">
                  <a16:creationId xmlns:a16="http://schemas.microsoft.com/office/drawing/2014/main" id="{A0AAC6A2-92D2-C3A8-3A0B-0FF03C95515C}"/>
                </a:ext>
              </a:extLst>
            </p:cNvPr>
            <p:cNvSpPr txBox="1">
              <a:spLocks noChangeArrowheads="1"/>
            </p:cNvSpPr>
            <p:nvPr/>
          </p:nvSpPr>
          <p:spPr bwMode="auto">
            <a:xfrm>
              <a:off x="1771422" y="4581214"/>
              <a:ext cx="1986035" cy="128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Shows why the agent did what it did</a:t>
              </a:r>
            </a:p>
          </p:txBody>
        </p:sp>
        <p:sp>
          <p:nvSpPr>
            <p:cNvPr id="57" name="Text_3">
              <a:extLst>
                <a:ext uri="{FF2B5EF4-FFF2-40B4-BE49-F238E27FC236}">
                  <a16:creationId xmlns:a16="http://schemas.microsoft.com/office/drawing/2014/main" id="{2D5C5921-7AE2-CA19-3488-3A91498C5970}"/>
                </a:ext>
              </a:extLst>
            </p:cNvPr>
            <p:cNvSpPr txBox="1">
              <a:spLocks noChangeArrowheads="1"/>
            </p:cNvSpPr>
            <p:nvPr/>
          </p:nvSpPr>
          <p:spPr bwMode="auto">
            <a:xfrm>
              <a:off x="7156064" y="4581214"/>
              <a:ext cx="1986035" cy="128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Measures steps, time and cost</a:t>
              </a:r>
            </a:p>
          </p:txBody>
        </p:sp>
        <p:sp>
          <p:nvSpPr>
            <p:cNvPr id="58" name="Text_5">
              <a:extLst>
                <a:ext uri="{FF2B5EF4-FFF2-40B4-BE49-F238E27FC236}">
                  <a16:creationId xmlns:a16="http://schemas.microsoft.com/office/drawing/2014/main" id="{DC907578-0289-88C6-42A4-A34CBC449DDE}"/>
                </a:ext>
              </a:extLst>
            </p:cNvPr>
            <p:cNvSpPr txBox="1">
              <a:spLocks noChangeArrowheads="1"/>
            </p:cNvSpPr>
            <p:nvPr/>
          </p:nvSpPr>
          <p:spPr bwMode="auto">
            <a:xfrm>
              <a:off x="12538598" y="4581214"/>
              <a:ext cx="1986035" cy="1688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Feeds the team debrief</a:t>
              </a:r>
            </a:p>
          </p:txBody>
        </p:sp>
        <p:sp>
          <p:nvSpPr>
            <p:cNvPr id="59" name="Rectangle: Rounded Corners 58">
              <a:extLst>
                <a:ext uri="{FF2B5EF4-FFF2-40B4-BE49-F238E27FC236}">
                  <a16:creationId xmlns:a16="http://schemas.microsoft.com/office/drawing/2014/main" id="{290E1EF6-FB06-729A-1A48-886C9930FB08}"/>
                </a:ext>
              </a:extLst>
            </p:cNvPr>
            <p:cNvSpPr>
              <a:spLocks noChangeArrowheads="1"/>
            </p:cNvSpPr>
            <p:nvPr/>
          </p:nvSpPr>
          <p:spPr bwMode="auto">
            <a:xfrm rot="18876432">
              <a:off x="2411296" y="2614426"/>
              <a:ext cx="670445" cy="638821"/>
            </a:xfrm>
            <a:prstGeom prst="roundRect">
              <a:avLst>
                <a:gd name="adj" fmla="val 16667"/>
              </a:avLst>
            </a:prstGeom>
            <a:solidFill>
              <a:srgbClr val="3EADB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Freeform 66">
              <a:extLst>
                <a:ext uri="{FF2B5EF4-FFF2-40B4-BE49-F238E27FC236}">
                  <a16:creationId xmlns:a16="http://schemas.microsoft.com/office/drawing/2014/main" id="{01D5DBBE-2999-4E5F-DAD6-CE0EEBA7AE29}"/>
                </a:ext>
              </a:extLst>
            </p:cNvPr>
            <p:cNvSpPr>
              <a:spLocks/>
            </p:cNvSpPr>
            <p:nvPr/>
          </p:nvSpPr>
          <p:spPr bwMode="auto">
            <a:xfrm>
              <a:off x="2608423" y="2798904"/>
              <a:ext cx="278298" cy="271974"/>
            </a:xfrm>
            <a:custGeom>
              <a:avLst/>
              <a:gdLst>
                <a:gd name="T0" fmla="*/ 104694 w 21600"/>
                <a:gd name="T1" fmla="*/ 102165 h 21600"/>
                <a:gd name="T2" fmla="*/ 104694 w 21600"/>
                <a:gd name="T3" fmla="*/ 102165 h 21600"/>
                <a:gd name="T4" fmla="*/ 104694 w 21600"/>
                <a:gd name="T5" fmla="*/ 102165 h 21600"/>
                <a:gd name="T6" fmla="*/ 104694 w 21600"/>
                <a:gd name="T7" fmla="*/ 10216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3847" y="12388"/>
                  </a:moveTo>
                  <a:cubicBezTo>
                    <a:pt x="2367" y="12388"/>
                    <a:pt x="2367" y="12388"/>
                    <a:pt x="2367" y="12388"/>
                  </a:cubicBezTo>
                  <a:cubicBezTo>
                    <a:pt x="1184" y="12388"/>
                    <a:pt x="0" y="11753"/>
                    <a:pt x="0" y="10482"/>
                  </a:cubicBezTo>
                  <a:cubicBezTo>
                    <a:pt x="0" y="9212"/>
                    <a:pt x="0" y="6035"/>
                    <a:pt x="1479" y="6035"/>
                  </a:cubicBezTo>
                  <a:cubicBezTo>
                    <a:pt x="1775" y="6035"/>
                    <a:pt x="2959" y="6988"/>
                    <a:pt x="4438" y="6988"/>
                  </a:cubicBezTo>
                  <a:cubicBezTo>
                    <a:pt x="5030" y="6988"/>
                    <a:pt x="5326" y="6988"/>
                    <a:pt x="5918" y="6671"/>
                  </a:cubicBezTo>
                  <a:cubicBezTo>
                    <a:pt x="5918" y="6988"/>
                    <a:pt x="5918" y="7306"/>
                    <a:pt x="5918" y="7624"/>
                  </a:cubicBezTo>
                  <a:cubicBezTo>
                    <a:pt x="5918" y="8576"/>
                    <a:pt x="6214" y="9847"/>
                    <a:pt x="6805" y="10800"/>
                  </a:cubicBezTo>
                  <a:cubicBezTo>
                    <a:pt x="5622" y="10800"/>
                    <a:pt x="4438" y="11435"/>
                    <a:pt x="3847" y="12388"/>
                  </a:cubicBezTo>
                  <a:close/>
                  <a:moveTo>
                    <a:pt x="4438" y="6035"/>
                  </a:moveTo>
                  <a:cubicBezTo>
                    <a:pt x="2959" y="6035"/>
                    <a:pt x="1479" y="4765"/>
                    <a:pt x="1479" y="2859"/>
                  </a:cubicBezTo>
                  <a:cubicBezTo>
                    <a:pt x="1479" y="1271"/>
                    <a:pt x="2959" y="0"/>
                    <a:pt x="4438" y="0"/>
                  </a:cubicBezTo>
                  <a:cubicBezTo>
                    <a:pt x="5918" y="0"/>
                    <a:pt x="7397" y="1271"/>
                    <a:pt x="7397" y="2859"/>
                  </a:cubicBezTo>
                  <a:cubicBezTo>
                    <a:pt x="7397" y="4765"/>
                    <a:pt x="5918" y="6035"/>
                    <a:pt x="4438" y="6035"/>
                  </a:cubicBezTo>
                  <a:close/>
                  <a:moveTo>
                    <a:pt x="15682" y="21600"/>
                  </a:moveTo>
                  <a:cubicBezTo>
                    <a:pt x="5918" y="21600"/>
                    <a:pt x="5918" y="21600"/>
                    <a:pt x="5918" y="21600"/>
                  </a:cubicBezTo>
                  <a:cubicBezTo>
                    <a:pt x="4142" y="21600"/>
                    <a:pt x="2959" y="20329"/>
                    <a:pt x="2959" y="18424"/>
                  </a:cubicBezTo>
                  <a:cubicBezTo>
                    <a:pt x="2959" y="15565"/>
                    <a:pt x="3551" y="11435"/>
                    <a:pt x="6805" y="11435"/>
                  </a:cubicBezTo>
                  <a:cubicBezTo>
                    <a:pt x="7397" y="11435"/>
                    <a:pt x="8581" y="13024"/>
                    <a:pt x="10948" y="13024"/>
                  </a:cubicBezTo>
                  <a:cubicBezTo>
                    <a:pt x="13019" y="13024"/>
                    <a:pt x="14499" y="11435"/>
                    <a:pt x="14795" y="11435"/>
                  </a:cubicBezTo>
                  <a:cubicBezTo>
                    <a:pt x="18345" y="11435"/>
                    <a:pt x="18937" y="15565"/>
                    <a:pt x="18937" y="18424"/>
                  </a:cubicBezTo>
                  <a:cubicBezTo>
                    <a:pt x="18937" y="20329"/>
                    <a:pt x="17753" y="21600"/>
                    <a:pt x="15682" y="21600"/>
                  </a:cubicBezTo>
                  <a:close/>
                  <a:moveTo>
                    <a:pt x="10948" y="12388"/>
                  </a:moveTo>
                  <a:cubicBezTo>
                    <a:pt x="8581" y="12388"/>
                    <a:pt x="6510" y="10165"/>
                    <a:pt x="6510" y="7624"/>
                  </a:cubicBezTo>
                  <a:cubicBezTo>
                    <a:pt x="6510" y="5082"/>
                    <a:pt x="8581" y="2859"/>
                    <a:pt x="10948" y="2859"/>
                  </a:cubicBezTo>
                  <a:cubicBezTo>
                    <a:pt x="13315" y="2859"/>
                    <a:pt x="15090" y="5082"/>
                    <a:pt x="15090" y="7624"/>
                  </a:cubicBezTo>
                  <a:cubicBezTo>
                    <a:pt x="15090" y="10165"/>
                    <a:pt x="13315" y="12388"/>
                    <a:pt x="10948" y="12388"/>
                  </a:cubicBezTo>
                  <a:close/>
                  <a:moveTo>
                    <a:pt x="17458" y="6035"/>
                  </a:moveTo>
                  <a:cubicBezTo>
                    <a:pt x="15682" y="6035"/>
                    <a:pt x="14499" y="4765"/>
                    <a:pt x="14499" y="2859"/>
                  </a:cubicBezTo>
                  <a:cubicBezTo>
                    <a:pt x="14499" y="1271"/>
                    <a:pt x="15682" y="0"/>
                    <a:pt x="17458" y="0"/>
                  </a:cubicBezTo>
                  <a:cubicBezTo>
                    <a:pt x="18937" y="0"/>
                    <a:pt x="20121" y="1271"/>
                    <a:pt x="20121" y="2859"/>
                  </a:cubicBezTo>
                  <a:cubicBezTo>
                    <a:pt x="20121" y="4765"/>
                    <a:pt x="18937" y="6035"/>
                    <a:pt x="17458" y="6035"/>
                  </a:cubicBezTo>
                  <a:close/>
                  <a:moveTo>
                    <a:pt x="19529" y="12388"/>
                  </a:moveTo>
                  <a:cubicBezTo>
                    <a:pt x="18049" y="12388"/>
                    <a:pt x="18049" y="12388"/>
                    <a:pt x="18049" y="12388"/>
                  </a:cubicBezTo>
                  <a:cubicBezTo>
                    <a:pt x="17162" y="11435"/>
                    <a:pt x="16274" y="10800"/>
                    <a:pt x="15090" y="10800"/>
                  </a:cubicBezTo>
                  <a:cubicBezTo>
                    <a:pt x="15682" y="9847"/>
                    <a:pt x="15978" y="8576"/>
                    <a:pt x="15978" y="7624"/>
                  </a:cubicBezTo>
                  <a:cubicBezTo>
                    <a:pt x="15978" y="7306"/>
                    <a:pt x="15978" y="6988"/>
                    <a:pt x="15978" y="6671"/>
                  </a:cubicBezTo>
                  <a:cubicBezTo>
                    <a:pt x="16274" y="6988"/>
                    <a:pt x="16866" y="6988"/>
                    <a:pt x="17458" y="6988"/>
                  </a:cubicBezTo>
                  <a:cubicBezTo>
                    <a:pt x="18937" y="6988"/>
                    <a:pt x="20121" y="6035"/>
                    <a:pt x="20416" y="6035"/>
                  </a:cubicBezTo>
                  <a:cubicBezTo>
                    <a:pt x="21600" y="6035"/>
                    <a:pt x="21600" y="9212"/>
                    <a:pt x="21600" y="10482"/>
                  </a:cubicBezTo>
                  <a:cubicBezTo>
                    <a:pt x="21600" y="11753"/>
                    <a:pt x="20712" y="12388"/>
                    <a:pt x="19529" y="12388"/>
                  </a:cubicBezTo>
                  <a:close/>
                </a:path>
              </a:pathLst>
            </a:cu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61" name="Rectangle: Rounded Corners 60">
              <a:extLst>
                <a:ext uri="{FF2B5EF4-FFF2-40B4-BE49-F238E27FC236}">
                  <a16:creationId xmlns:a16="http://schemas.microsoft.com/office/drawing/2014/main" id="{37A91EC4-185B-95F2-459B-AF8BB22BFE8D}"/>
                </a:ext>
              </a:extLst>
            </p:cNvPr>
            <p:cNvSpPr>
              <a:spLocks noChangeArrowheads="1"/>
            </p:cNvSpPr>
            <p:nvPr/>
          </p:nvSpPr>
          <p:spPr bwMode="auto">
            <a:xfrm rot="18876432">
              <a:off x="7792775" y="2613373"/>
              <a:ext cx="670445" cy="640928"/>
            </a:xfrm>
            <a:prstGeom prst="roundRect">
              <a:avLst>
                <a:gd name="adj" fmla="val 16667"/>
              </a:avLst>
            </a:prstGeom>
            <a:solidFill>
              <a:srgbClr val="848CD8"/>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Freeform 66">
              <a:extLst>
                <a:ext uri="{FF2B5EF4-FFF2-40B4-BE49-F238E27FC236}">
                  <a16:creationId xmlns:a16="http://schemas.microsoft.com/office/drawing/2014/main" id="{9B3B1EAB-6282-A366-CB40-61440BA35090}"/>
                </a:ext>
              </a:extLst>
            </p:cNvPr>
            <p:cNvSpPr>
              <a:spLocks/>
            </p:cNvSpPr>
            <p:nvPr/>
          </p:nvSpPr>
          <p:spPr bwMode="auto">
            <a:xfrm>
              <a:off x="7988849" y="2798904"/>
              <a:ext cx="278298" cy="271974"/>
            </a:xfrm>
            <a:custGeom>
              <a:avLst/>
              <a:gdLst>
                <a:gd name="T0" fmla="*/ 104694 w 21600"/>
                <a:gd name="T1" fmla="*/ 102166 h 21600"/>
                <a:gd name="T2" fmla="*/ 104694 w 21600"/>
                <a:gd name="T3" fmla="*/ 102166 h 21600"/>
                <a:gd name="T4" fmla="*/ 104694 w 21600"/>
                <a:gd name="T5" fmla="*/ 102166 h 21600"/>
                <a:gd name="T6" fmla="*/ 104694 w 21600"/>
                <a:gd name="T7" fmla="*/ 10216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3847" y="12388"/>
                  </a:moveTo>
                  <a:cubicBezTo>
                    <a:pt x="2367" y="12388"/>
                    <a:pt x="2367" y="12388"/>
                    <a:pt x="2367" y="12388"/>
                  </a:cubicBezTo>
                  <a:cubicBezTo>
                    <a:pt x="1184" y="12388"/>
                    <a:pt x="0" y="11753"/>
                    <a:pt x="0" y="10482"/>
                  </a:cubicBezTo>
                  <a:cubicBezTo>
                    <a:pt x="0" y="9212"/>
                    <a:pt x="0" y="6035"/>
                    <a:pt x="1479" y="6035"/>
                  </a:cubicBezTo>
                  <a:cubicBezTo>
                    <a:pt x="1775" y="6035"/>
                    <a:pt x="2959" y="6988"/>
                    <a:pt x="4438" y="6988"/>
                  </a:cubicBezTo>
                  <a:cubicBezTo>
                    <a:pt x="5030" y="6988"/>
                    <a:pt x="5326" y="6988"/>
                    <a:pt x="5918" y="6671"/>
                  </a:cubicBezTo>
                  <a:cubicBezTo>
                    <a:pt x="5918" y="6988"/>
                    <a:pt x="5918" y="7306"/>
                    <a:pt x="5918" y="7624"/>
                  </a:cubicBezTo>
                  <a:cubicBezTo>
                    <a:pt x="5918" y="8576"/>
                    <a:pt x="6214" y="9847"/>
                    <a:pt x="6805" y="10800"/>
                  </a:cubicBezTo>
                  <a:cubicBezTo>
                    <a:pt x="5622" y="10800"/>
                    <a:pt x="4438" y="11435"/>
                    <a:pt x="3847" y="12388"/>
                  </a:cubicBezTo>
                  <a:close/>
                  <a:moveTo>
                    <a:pt x="4438" y="6035"/>
                  </a:moveTo>
                  <a:cubicBezTo>
                    <a:pt x="2959" y="6035"/>
                    <a:pt x="1479" y="4765"/>
                    <a:pt x="1479" y="2859"/>
                  </a:cubicBezTo>
                  <a:cubicBezTo>
                    <a:pt x="1479" y="1271"/>
                    <a:pt x="2959" y="0"/>
                    <a:pt x="4438" y="0"/>
                  </a:cubicBezTo>
                  <a:cubicBezTo>
                    <a:pt x="5918" y="0"/>
                    <a:pt x="7397" y="1271"/>
                    <a:pt x="7397" y="2859"/>
                  </a:cubicBezTo>
                  <a:cubicBezTo>
                    <a:pt x="7397" y="4765"/>
                    <a:pt x="5918" y="6035"/>
                    <a:pt x="4438" y="6035"/>
                  </a:cubicBezTo>
                  <a:close/>
                  <a:moveTo>
                    <a:pt x="15682" y="21600"/>
                  </a:moveTo>
                  <a:cubicBezTo>
                    <a:pt x="5918" y="21600"/>
                    <a:pt x="5918" y="21600"/>
                    <a:pt x="5918" y="21600"/>
                  </a:cubicBezTo>
                  <a:cubicBezTo>
                    <a:pt x="4142" y="21600"/>
                    <a:pt x="2959" y="20329"/>
                    <a:pt x="2959" y="18424"/>
                  </a:cubicBezTo>
                  <a:cubicBezTo>
                    <a:pt x="2959" y="15565"/>
                    <a:pt x="3551" y="11435"/>
                    <a:pt x="6805" y="11435"/>
                  </a:cubicBezTo>
                  <a:cubicBezTo>
                    <a:pt x="7397" y="11435"/>
                    <a:pt x="8581" y="13024"/>
                    <a:pt x="10948" y="13024"/>
                  </a:cubicBezTo>
                  <a:cubicBezTo>
                    <a:pt x="13019" y="13024"/>
                    <a:pt x="14499" y="11435"/>
                    <a:pt x="14795" y="11435"/>
                  </a:cubicBezTo>
                  <a:cubicBezTo>
                    <a:pt x="18345" y="11435"/>
                    <a:pt x="18937" y="15565"/>
                    <a:pt x="18937" y="18424"/>
                  </a:cubicBezTo>
                  <a:cubicBezTo>
                    <a:pt x="18937" y="20329"/>
                    <a:pt x="17753" y="21600"/>
                    <a:pt x="15682" y="21600"/>
                  </a:cubicBezTo>
                  <a:close/>
                  <a:moveTo>
                    <a:pt x="10948" y="12388"/>
                  </a:moveTo>
                  <a:cubicBezTo>
                    <a:pt x="8581" y="12388"/>
                    <a:pt x="6510" y="10165"/>
                    <a:pt x="6510" y="7624"/>
                  </a:cubicBezTo>
                  <a:cubicBezTo>
                    <a:pt x="6510" y="5082"/>
                    <a:pt x="8581" y="2859"/>
                    <a:pt x="10948" y="2859"/>
                  </a:cubicBezTo>
                  <a:cubicBezTo>
                    <a:pt x="13315" y="2859"/>
                    <a:pt x="15090" y="5082"/>
                    <a:pt x="15090" y="7624"/>
                  </a:cubicBezTo>
                  <a:cubicBezTo>
                    <a:pt x="15090" y="10165"/>
                    <a:pt x="13315" y="12388"/>
                    <a:pt x="10948" y="12388"/>
                  </a:cubicBezTo>
                  <a:close/>
                  <a:moveTo>
                    <a:pt x="17458" y="6035"/>
                  </a:moveTo>
                  <a:cubicBezTo>
                    <a:pt x="15682" y="6035"/>
                    <a:pt x="14499" y="4765"/>
                    <a:pt x="14499" y="2859"/>
                  </a:cubicBezTo>
                  <a:cubicBezTo>
                    <a:pt x="14499" y="1271"/>
                    <a:pt x="15682" y="0"/>
                    <a:pt x="17458" y="0"/>
                  </a:cubicBezTo>
                  <a:cubicBezTo>
                    <a:pt x="18937" y="0"/>
                    <a:pt x="20121" y="1271"/>
                    <a:pt x="20121" y="2859"/>
                  </a:cubicBezTo>
                  <a:cubicBezTo>
                    <a:pt x="20121" y="4765"/>
                    <a:pt x="18937" y="6035"/>
                    <a:pt x="17458" y="6035"/>
                  </a:cubicBezTo>
                  <a:close/>
                  <a:moveTo>
                    <a:pt x="19529" y="12388"/>
                  </a:moveTo>
                  <a:cubicBezTo>
                    <a:pt x="18049" y="12388"/>
                    <a:pt x="18049" y="12388"/>
                    <a:pt x="18049" y="12388"/>
                  </a:cubicBezTo>
                  <a:cubicBezTo>
                    <a:pt x="17162" y="11435"/>
                    <a:pt x="16274" y="10800"/>
                    <a:pt x="15090" y="10800"/>
                  </a:cubicBezTo>
                  <a:cubicBezTo>
                    <a:pt x="15682" y="9847"/>
                    <a:pt x="15978" y="8576"/>
                    <a:pt x="15978" y="7624"/>
                  </a:cubicBezTo>
                  <a:cubicBezTo>
                    <a:pt x="15978" y="7306"/>
                    <a:pt x="15978" y="6988"/>
                    <a:pt x="15978" y="6671"/>
                  </a:cubicBezTo>
                  <a:cubicBezTo>
                    <a:pt x="16274" y="6988"/>
                    <a:pt x="16866" y="6988"/>
                    <a:pt x="17458" y="6988"/>
                  </a:cubicBezTo>
                  <a:cubicBezTo>
                    <a:pt x="18937" y="6988"/>
                    <a:pt x="20121" y="6035"/>
                    <a:pt x="20416" y="6035"/>
                  </a:cubicBezTo>
                  <a:cubicBezTo>
                    <a:pt x="21600" y="6035"/>
                    <a:pt x="21600" y="9212"/>
                    <a:pt x="21600" y="10482"/>
                  </a:cubicBezTo>
                  <a:cubicBezTo>
                    <a:pt x="21600" y="11753"/>
                    <a:pt x="20712" y="12388"/>
                    <a:pt x="19529" y="12388"/>
                  </a:cubicBezTo>
                  <a:close/>
                </a:path>
              </a:pathLst>
            </a:cu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63" name="Rectangle: Rounded Corners 62">
              <a:extLst>
                <a:ext uri="{FF2B5EF4-FFF2-40B4-BE49-F238E27FC236}">
                  <a16:creationId xmlns:a16="http://schemas.microsoft.com/office/drawing/2014/main" id="{A4FBEA15-AA89-75D2-BA5F-FC15DF8A2ADE}"/>
                </a:ext>
              </a:extLst>
            </p:cNvPr>
            <p:cNvSpPr>
              <a:spLocks noChangeArrowheads="1"/>
            </p:cNvSpPr>
            <p:nvPr/>
          </p:nvSpPr>
          <p:spPr bwMode="auto">
            <a:xfrm rot="18876432">
              <a:off x="13172147" y="2614426"/>
              <a:ext cx="670445" cy="638821"/>
            </a:xfrm>
            <a:prstGeom prst="roundRect">
              <a:avLst>
                <a:gd name="adj" fmla="val 16667"/>
              </a:avLst>
            </a:prstGeom>
            <a:solidFill>
              <a:srgbClr val="A5A832"/>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 name="Freeform 66">
              <a:extLst>
                <a:ext uri="{FF2B5EF4-FFF2-40B4-BE49-F238E27FC236}">
                  <a16:creationId xmlns:a16="http://schemas.microsoft.com/office/drawing/2014/main" id="{DF12A4EF-E258-D5DF-9471-5834B4989341}"/>
                </a:ext>
              </a:extLst>
            </p:cNvPr>
            <p:cNvSpPr>
              <a:spLocks/>
            </p:cNvSpPr>
            <p:nvPr/>
          </p:nvSpPr>
          <p:spPr bwMode="auto">
            <a:xfrm>
              <a:off x="13369275" y="2798904"/>
              <a:ext cx="278298" cy="269865"/>
            </a:xfrm>
            <a:custGeom>
              <a:avLst/>
              <a:gdLst>
                <a:gd name="T0" fmla="*/ 104694 w 21600"/>
                <a:gd name="T1" fmla="*/ 102166 h 21600"/>
                <a:gd name="T2" fmla="*/ 104694 w 21600"/>
                <a:gd name="T3" fmla="*/ 102166 h 21600"/>
                <a:gd name="T4" fmla="*/ 104694 w 21600"/>
                <a:gd name="T5" fmla="*/ 102166 h 21600"/>
                <a:gd name="T6" fmla="*/ 104694 w 21600"/>
                <a:gd name="T7" fmla="*/ 10216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3847" y="12388"/>
                  </a:moveTo>
                  <a:cubicBezTo>
                    <a:pt x="2367" y="12388"/>
                    <a:pt x="2367" y="12388"/>
                    <a:pt x="2367" y="12388"/>
                  </a:cubicBezTo>
                  <a:cubicBezTo>
                    <a:pt x="1184" y="12388"/>
                    <a:pt x="0" y="11753"/>
                    <a:pt x="0" y="10482"/>
                  </a:cubicBezTo>
                  <a:cubicBezTo>
                    <a:pt x="0" y="9212"/>
                    <a:pt x="0" y="6035"/>
                    <a:pt x="1479" y="6035"/>
                  </a:cubicBezTo>
                  <a:cubicBezTo>
                    <a:pt x="1775" y="6035"/>
                    <a:pt x="2959" y="6988"/>
                    <a:pt x="4438" y="6988"/>
                  </a:cubicBezTo>
                  <a:cubicBezTo>
                    <a:pt x="5030" y="6988"/>
                    <a:pt x="5326" y="6988"/>
                    <a:pt x="5918" y="6671"/>
                  </a:cubicBezTo>
                  <a:cubicBezTo>
                    <a:pt x="5918" y="6988"/>
                    <a:pt x="5918" y="7306"/>
                    <a:pt x="5918" y="7624"/>
                  </a:cubicBezTo>
                  <a:cubicBezTo>
                    <a:pt x="5918" y="8576"/>
                    <a:pt x="6214" y="9847"/>
                    <a:pt x="6805" y="10800"/>
                  </a:cubicBezTo>
                  <a:cubicBezTo>
                    <a:pt x="5622" y="10800"/>
                    <a:pt x="4438" y="11435"/>
                    <a:pt x="3847" y="12388"/>
                  </a:cubicBezTo>
                  <a:close/>
                  <a:moveTo>
                    <a:pt x="4438" y="6035"/>
                  </a:moveTo>
                  <a:cubicBezTo>
                    <a:pt x="2959" y="6035"/>
                    <a:pt x="1479" y="4765"/>
                    <a:pt x="1479" y="2859"/>
                  </a:cubicBezTo>
                  <a:cubicBezTo>
                    <a:pt x="1479" y="1271"/>
                    <a:pt x="2959" y="0"/>
                    <a:pt x="4438" y="0"/>
                  </a:cubicBezTo>
                  <a:cubicBezTo>
                    <a:pt x="5918" y="0"/>
                    <a:pt x="7397" y="1271"/>
                    <a:pt x="7397" y="2859"/>
                  </a:cubicBezTo>
                  <a:cubicBezTo>
                    <a:pt x="7397" y="4765"/>
                    <a:pt x="5918" y="6035"/>
                    <a:pt x="4438" y="6035"/>
                  </a:cubicBezTo>
                  <a:close/>
                  <a:moveTo>
                    <a:pt x="15682" y="21600"/>
                  </a:moveTo>
                  <a:cubicBezTo>
                    <a:pt x="5918" y="21600"/>
                    <a:pt x="5918" y="21600"/>
                    <a:pt x="5918" y="21600"/>
                  </a:cubicBezTo>
                  <a:cubicBezTo>
                    <a:pt x="4142" y="21600"/>
                    <a:pt x="2959" y="20329"/>
                    <a:pt x="2959" y="18424"/>
                  </a:cubicBezTo>
                  <a:cubicBezTo>
                    <a:pt x="2959" y="15565"/>
                    <a:pt x="3551" y="11435"/>
                    <a:pt x="6805" y="11435"/>
                  </a:cubicBezTo>
                  <a:cubicBezTo>
                    <a:pt x="7397" y="11435"/>
                    <a:pt x="8581" y="13024"/>
                    <a:pt x="10948" y="13024"/>
                  </a:cubicBezTo>
                  <a:cubicBezTo>
                    <a:pt x="13019" y="13024"/>
                    <a:pt x="14499" y="11435"/>
                    <a:pt x="14795" y="11435"/>
                  </a:cubicBezTo>
                  <a:cubicBezTo>
                    <a:pt x="18345" y="11435"/>
                    <a:pt x="18937" y="15565"/>
                    <a:pt x="18937" y="18424"/>
                  </a:cubicBezTo>
                  <a:cubicBezTo>
                    <a:pt x="18937" y="20329"/>
                    <a:pt x="17753" y="21600"/>
                    <a:pt x="15682" y="21600"/>
                  </a:cubicBezTo>
                  <a:close/>
                  <a:moveTo>
                    <a:pt x="10948" y="12388"/>
                  </a:moveTo>
                  <a:cubicBezTo>
                    <a:pt x="8581" y="12388"/>
                    <a:pt x="6510" y="10165"/>
                    <a:pt x="6510" y="7624"/>
                  </a:cubicBezTo>
                  <a:cubicBezTo>
                    <a:pt x="6510" y="5082"/>
                    <a:pt x="8581" y="2859"/>
                    <a:pt x="10948" y="2859"/>
                  </a:cubicBezTo>
                  <a:cubicBezTo>
                    <a:pt x="13315" y="2859"/>
                    <a:pt x="15090" y="5082"/>
                    <a:pt x="15090" y="7624"/>
                  </a:cubicBezTo>
                  <a:cubicBezTo>
                    <a:pt x="15090" y="10165"/>
                    <a:pt x="13315" y="12388"/>
                    <a:pt x="10948" y="12388"/>
                  </a:cubicBezTo>
                  <a:close/>
                  <a:moveTo>
                    <a:pt x="17458" y="6035"/>
                  </a:moveTo>
                  <a:cubicBezTo>
                    <a:pt x="15682" y="6035"/>
                    <a:pt x="14499" y="4765"/>
                    <a:pt x="14499" y="2859"/>
                  </a:cubicBezTo>
                  <a:cubicBezTo>
                    <a:pt x="14499" y="1271"/>
                    <a:pt x="15682" y="0"/>
                    <a:pt x="17458" y="0"/>
                  </a:cubicBezTo>
                  <a:cubicBezTo>
                    <a:pt x="18937" y="0"/>
                    <a:pt x="20121" y="1271"/>
                    <a:pt x="20121" y="2859"/>
                  </a:cubicBezTo>
                  <a:cubicBezTo>
                    <a:pt x="20121" y="4765"/>
                    <a:pt x="18937" y="6035"/>
                    <a:pt x="17458" y="6035"/>
                  </a:cubicBezTo>
                  <a:close/>
                  <a:moveTo>
                    <a:pt x="19529" y="12388"/>
                  </a:moveTo>
                  <a:cubicBezTo>
                    <a:pt x="18049" y="12388"/>
                    <a:pt x="18049" y="12388"/>
                    <a:pt x="18049" y="12388"/>
                  </a:cubicBezTo>
                  <a:cubicBezTo>
                    <a:pt x="17162" y="11435"/>
                    <a:pt x="16274" y="10800"/>
                    <a:pt x="15090" y="10800"/>
                  </a:cubicBezTo>
                  <a:cubicBezTo>
                    <a:pt x="15682" y="9847"/>
                    <a:pt x="15978" y="8576"/>
                    <a:pt x="15978" y="7624"/>
                  </a:cubicBezTo>
                  <a:cubicBezTo>
                    <a:pt x="15978" y="7306"/>
                    <a:pt x="15978" y="6988"/>
                    <a:pt x="15978" y="6671"/>
                  </a:cubicBezTo>
                  <a:cubicBezTo>
                    <a:pt x="16274" y="6988"/>
                    <a:pt x="16866" y="6988"/>
                    <a:pt x="17458" y="6988"/>
                  </a:cubicBezTo>
                  <a:cubicBezTo>
                    <a:pt x="18937" y="6988"/>
                    <a:pt x="20121" y="6035"/>
                    <a:pt x="20416" y="6035"/>
                  </a:cubicBezTo>
                  <a:cubicBezTo>
                    <a:pt x="21600" y="6035"/>
                    <a:pt x="21600" y="9212"/>
                    <a:pt x="21600" y="10482"/>
                  </a:cubicBezTo>
                  <a:cubicBezTo>
                    <a:pt x="21600" y="11753"/>
                    <a:pt x="20712" y="12388"/>
                    <a:pt x="19529" y="12388"/>
                  </a:cubicBezTo>
                  <a:close/>
                </a:path>
              </a:pathLst>
            </a:cu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65" name="Arrow: Chevron 64">
              <a:extLst>
                <a:ext uri="{FF2B5EF4-FFF2-40B4-BE49-F238E27FC236}">
                  <a16:creationId xmlns:a16="http://schemas.microsoft.com/office/drawing/2014/main" id="{81EAF5F4-E52A-9AB1-2D49-EABDC136D2D1}"/>
                </a:ext>
              </a:extLst>
            </p:cNvPr>
            <p:cNvSpPr>
              <a:spLocks noChangeArrowheads="1"/>
            </p:cNvSpPr>
            <p:nvPr/>
          </p:nvSpPr>
          <p:spPr bwMode="auto">
            <a:xfrm rot="16200000">
              <a:off x="4985550" y="2778875"/>
              <a:ext cx="904469" cy="2589014"/>
            </a:xfrm>
            <a:prstGeom prst="chevron">
              <a:avLst>
                <a:gd name="adj" fmla="val 50000"/>
              </a:avLst>
            </a:prstGeom>
            <a:solidFill>
              <a:srgbClr val="BB7BB3"/>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latin typeface="Open Sans" panose="020B0606030504020204" pitchFamily="34" charset="0"/>
                <a:ea typeface="Open Sans" panose="020B0606030504020204" pitchFamily="34" charset="0"/>
                <a:cs typeface="Open Sans" panose="020B0606030504020204" pitchFamily="34" charset="0"/>
              </a:endParaRPr>
            </a:p>
          </p:txBody>
        </p:sp>
        <p:sp>
          <p:nvSpPr>
            <p:cNvPr id="66" name="Text_2">
              <a:extLst>
                <a:ext uri="{FF2B5EF4-FFF2-40B4-BE49-F238E27FC236}">
                  <a16:creationId xmlns:a16="http://schemas.microsoft.com/office/drawing/2014/main" id="{E423EFB0-8109-3FD3-2F46-319A81EAA22C}"/>
                </a:ext>
              </a:extLst>
            </p:cNvPr>
            <p:cNvSpPr txBox="1">
              <a:spLocks noChangeArrowheads="1"/>
            </p:cNvSpPr>
            <p:nvPr/>
          </p:nvSpPr>
          <p:spPr bwMode="auto">
            <a:xfrm>
              <a:off x="4143277" y="4581214"/>
              <a:ext cx="2418240" cy="128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45719" rIns="45719"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Comes from LangSmith, Phoenix or your own logs</a:t>
              </a:r>
            </a:p>
          </p:txBody>
        </p:sp>
        <p:sp>
          <p:nvSpPr>
            <p:cNvPr id="67" name="Rectangle: Rounded Corners 66">
              <a:extLst>
                <a:ext uri="{FF2B5EF4-FFF2-40B4-BE49-F238E27FC236}">
                  <a16:creationId xmlns:a16="http://schemas.microsoft.com/office/drawing/2014/main" id="{60B7B534-AA04-FE22-173E-66C8003E8D80}"/>
                </a:ext>
              </a:extLst>
            </p:cNvPr>
            <p:cNvSpPr>
              <a:spLocks noChangeArrowheads="1"/>
            </p:cNvSpPr>
            <p:nvPr/>
          </p:nvSpPr>
          <p:spPr bwMode="auto">
            <a:xfrm rot="18876432">
              <a:off x="5101509" y="2614426"/>
              <a:ext cx="670445" cy="638821"/>
            </a:xfrm>
            <a:prstGeom prst="roundRect">
              <a:avLst>
                <a:gd name="adj" fmla="val 16667"/>
              </a:avLst>
            </a:prstGeom>
            <a:solidFill>
              <a:srgbClr val="BB7BB3"/>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8" name="Freeform 66">
              <a:extLst>
                <a:ext uri="{FF2B5EF4-FFF2-40B4-BE49-F238E27FC236}">
                  <a16:creationId xmlns:a16="http://schemas.microsoft.com/office/drawing/2014/main" id="{2E2071C0-91F0-F025-C99F-CFA62E887724}"/>
                </a:ext>
              </a:extLst>
            </p:cNvPr>
            <p:cNvSpPr>
              <a:spLocks/>
            </p:cNvSpPr>
            <p:nvPr/>
          </p:nvSpPr>
          <p:spPr bwMode="auto">
            <a:xfrm>
              <a:off x="5298636" y="2798904"/>
              <a:ext cx="278298" cy="271974"/>
            </a:xfrm>
            <a:custGeom>
              <a:avLst/>
              <a:gdLst>
                <a:gd name="T0" fmla="*/ 104694 w 21600"/>
                <a:gd name="T1" fmla="*/ 102165 h 21600"/>
                <a:gd name="T2" fmla="*/ 104694 w 21600"/>
                <a:gd name="T3" fmla="*/ 102165 h 21600"/>
                <a:gd name="T4" fmla="*/ 104694 w 21600"/>
                <a:gd name="T5" fmla="*/ 102165 h 21600"/>
                <a:gd name="T6" fmla="*/ 104694 w 21600"/>
                <a:gd name="T7" fmla="*/ 10216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3847" y="12388"/>
                  </a:moveTo>
                  <a:cubicBezTo>
                    <a:pt x="2367" y="12388"/>
                    <a:pt x="2367" y="12388"/>
                    <a:pt x="2367" y="12388"/>
                  </a:cubicBezTo>
                  <a:cubicBezTo>
                    <a:pt x="1184" y="12388"/>
                    <a:pt x="0" y="11753"/>
                    <a:pt x="0" y="10482"/>
                  </a:cubicBezTo>
                  <a:cubicBezTo>
                    <a:pt x="0" y="9212"/>
                    <a:pt x="0" y="6035"/>
                    <a:pt x="1479" y="6035"/>
                  </a:cubicBezTo>
                  <a:cubicBezTo>
                    <a:pt x="1775" y="6035"/>
                    <a:pt x="2959" y="6988"/>
                    <a:pt x="4438" y="6988"/>
                  </a:cubicBezTo>
                  <a:cubicBezTo>
                    <a:pt x="5030" y="6988"/>
                    <a:pt x="5326" y="6988"/>
                    <a:pt x="5918" y="6671"/>
                  </a:cubicBezTo>
                  <a:cubicBezTo>
                    <a:pt x="5918" y="6988"/>
                    <a:pt x="5918" y="7306"/>
                    <a:pt x="5918" y="7624"/>
                  </a:cubicBezTo>
                  <a:cubicBezTo>
                    <a:pt x="5918" y="8576"/>
                    <a:pt x="6214" y="9847"/>
                    <a:pt x="6805" y="10800"/>
                  </a:cubicBezTo>
                  <a:cubicBezTo>
                    <a:pt x="5622" y="10800"/>
                    <a:pt x="4438" y="11435"/>
                    <a:pt x="3847" y="12388"/>
                  </a:cubicBezTo>
                  <a:close/>
                  <a:moveTo>
                    <a:pt x="4438" y="6035"/>
                  </a:moveTo>
                  <a:cubicBezTo>
                    <a:pt x="2959" y="6035"/>
                    <a:pt x="1479" y="4765"/>
                    <a:pt x="1479" y="2859"/>
                  </a:cubicBezTo>
                  <a:cubicBezTo>
                    <a:pt x="1479" y="1271"/>
                    <a:pt x="2959" y="0"/>
                    <a:pt x="4438" y="0"/>
                  </a:cubicBezTo>
                  <a:cubicBezTo>
                    <a:pt x="5918" y="0"/>
                    <a:pt x="7397" y="1271"/>
                    <a:pt x="7397" y="2859"/>
                  </a:cubicBezTo>
                  <a:cubicBezTo>
                    <a:pt x="7397" y="4765"/>
                    <a:pt x="5918" y="6035"/>
                    <a:pt x="4438" y="6035"/>
                  </a:cubicBezTo>
                  <a:close/>
                  <a:moveTo>
                    <a:pt x="15682" y="21600"/>
                  </a:moveTo>
                  <a:cubicBezTo>
                    <a:pt x="5918" y="21600"/>
                    <a:pt x="5918" y="21600"/>
                    <a:pt x="5918" y="21600"/>
                  </a:cubicBezTo>
                  <a:cubicBezTo>
                    <a:pt x="4142" y="21600"/>
                    <a:pt x="2959" y="20329"/>
                    <a:pt x="2959" y="18424"/>
                  </a:cubicBezTo>
                  <a:cubicBezTo>
                    <a:pt x="2959" y="15565"/>
                    <a:pt x="3551" y="11435"/>
                    <a:pt x="6805" y="11435"/>
                  </a:cubicBezTo>
                  <a:cubicBezTo>
                    <a:pt x="7397" y="11435"/>
                    <a:pt x="8581" y="13024"/>
                    <a:pt x="10948" y="13024"/>
                  </a:cubicBezTo>
                  <a:cubicBezTo>
                    <a:pt x="13019" y="13024"/>
                    <a:pt x="14499" y="11435"/>
                    <a:pt x="14795" y="11435"/>
                  </a:cubicBezTo>
                  <a:cubicBezTo>
                    <a:pt x="18345" y="11435"/>
                    <a:pt x="18937" y="15565"/>
                    <a:pt x="18937" y="18424"/>
                  </a:cubicBezTo>
                  <a:cubicBezTo>
                    <a:pt x="18937" y="20329"/>
                    <a:pt x="17753" y="21600"/>
                    <a:pt x="15682" y="21600"/>
                  </a:cubicBezTo>
                  <a:close/>
                  <a:moveTo>
                    <a:pt x="10948" y="12388"/>
                  </a:moveTo>
                  <a:cubicBezTo>
                    <a:pt x="8581" y="12388"/>
                    <a:pt x="6510" y="10165"/>
                    <a:pt x="6510" y="7624"/>
                  </a:cubicBezTo>
                  <a:cubicBezTo>
                    <a:pt x="6510" y="5082"/>
                    <a:pt x="8581" y="2859"/>
                    <a:pt x="10948" y="2859"/>
                  </a:cubicBezTo>
                  <a:cubicBezTo>
                    <a:pt x="13315" y="2859"/>
                    <a:pt x="15090" y="5082"/>
                    <a:pt x="15090" y="7624"/>
                  </a:cubicBezTo>
                  <a:cubicBezTo>
                    <a:pt x="15090" y="10165"/>
                    <a:pt x="13315" y="12388"/>
                    <a:pt x="10948" y="12388"/>
                  </a:cubicBezTo>
                  <a:close/>
                  <a:moveTo>
                    <a:pt x="17458" y="6035"/>
                  </a:moveTo>
                  <a:cubicBezTo>
                    <a:pt x="15682" y="6035"/>
                    <a:pt x="14499" y="4765"/>
                    <a:pt x="14499" y="2859"/>
                  </a:cubicBezTo>
                  <a:cubicBezTo>
                    <a:pt x="14499" y="1271"/>
                    <a:pt x="15682" y="0"/>
                    <a:pt x="17458" y="0"/>
                  </a:cubicBezTo>
                  <a:cubicBezTo>
                    <a:pt x="18937" y="0"/>
                    <a:pt x="20121" y="1271"/>
                    <a:pt x="20121" y="2859"/>
                  </a:cubicBezTo>
                  <a:cubicBezTo>
                    <a:pt x="20121" y="4765"/>
                    <a:pt x="18937" y="6035"/>
                    <a:pt x="17458" y="6035"/>
                  </a:cubicBezTo>
                  <a:close/>
                  <a:moveTo>
                    <a:pt x="19529" y="12388"/>
                  </a:moveTo>
                  <a:cubicBezTo>
                    <a:pt x="18049" y="12388"/>
                    <a:pt x="18049" y="12388"/>
                    <a:pt x="18049" y="12388"/>
                  </a:cubicBezTo>
                  <a:cubicBezTo>
                    <a:pt x="17162" y="11435"/>
                    <a:pt x="16274" y="10800"/>
                    <a:pt x="15090" y="10800"/>
                  </a:cubicBezTo>
                  <a:cubicBezTo>
                    <a:pt x="15682" y="9847"/>
                    <a:pt x="15978" y="8576"/>
                    <a:pt x="15978" y="7624"/>
                  </a:cubicBezTo>
                  <a:cubicBezTo>
                    <a:pt x="15978" y="7306"/>
                    <a:pt x="15978" y="6988"/>
                    <a:pt x="15978" y="6671"/>
                  </a:cubicBezTo>
                  <a:cubicBezTo>
                    <a:pt x="16274" y="6988"/>
                    <a:pt x="16866" y="6988"/>
                    <a:pt x="17458" y="6988"/>
                  </a:cubicBezTo>
                  <a:cubicBezTo>
                    <a:pt x="18937" y="6988"/>
                    <a:pt x="20121" y="6035"/>
                    <a:pt x="20416" y="6035"/>
                  </a:cubicBezTo>
                  <a:cubicBezTo>
                    <a:pt x="21600" y="6035"/>
                    <a:pt x="21600" y="9212"/>
                    <a:pt x="21600" y="10482"/>
                  </a:cubicBezTo>
                  <a:cubicBezTo>
                    <a:pt x="21600" y="11753"/>
                    <a:pt x="20712" y="12388"/>
                    <a:pt x="19529" y="12388"/>
                  </a:cubicBezTo>
                  <a:close/>
                </a:path>
              </a:pathLst>
            </a:custGeom>
            <a:solidFill>
              <a:schemeClr val="bg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sp>
          <p:nvSpPr>
            <p:cNvPr id="69" name="Arrow: Chevron 68">
              <a:extLst>
                <a:ext uri="{FF2B5EF4-FFF2-40B4-BE49-F238E27FC236}">
                  <a16:creationId xmlns:a16="http://schemas.microsoft.com/office/drawing/2014/main" id="{0BDE4978-1C87-C06B-13CE-D2258A6EF176}"/>
                </a:ext>
              </a:extLst>
            </p:cNvPr>
            <p:cNvSpPr>
              <a:spLocks noChangeArrowheads="1"/>
            </p:cNvSpPr>
            <p:nvPr/>
          </p:nvSpPr>
          <p:spPr bwMode="auto">
            <a:xfrm rot="16200000">
              <a:off x="10365976" y="2778875"/>
              <a:ext cx="904469" cy="2589014"/>
            </a:xfrm>
            <a:prstGeom prst="chevron">
              <a:avLst>
                <a:gd name="adj" fmla="val 50000"/>
              </a:avLst>
            </a:prstGeom>
            <a:solidFill>
              <a:srgbClr val="DF9D3D"/>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latin typeface="Open Sans" panose="020B0606030504020204" pitchFamily="34" charset="0"/>
                <a:ea typeface="Open Sans" panose="020B0606030504020204" pitchFamily="34" charset="0"/>
                <a:cs typeface="Open Sans" panose="020B0606030504020204" pitchFamily="34" charset="0"/>
              </a:endParaRPr>
            </a:p>
          </p:txBody>
        </p:sp>
        <p:sp>
          <p:nvSpPr>
            <p:cNvPr id="70" name="Text_4">
              <a:extLst>
                <a:ext uri="{FF2B5EF4-FFF2-40B4-BE49-F238E27FC236}">
                  <a16:creationId xmlns:a16="http://schemas.microsoft.com/office/drawing/2014/main" id="{00ED5E02-B8FC-E036-3DA1-758C91E65055}"/>
                </a:ext>
              </a:extLst>
            </p:cNvPr>
            <p:cNvSpPr txBox="1">
              <a:spLocks noChangeArrowheads="1"/>
            </p:cNvSpPr>
            <p:nvPr/>
          </p:nvSpPr>
          <p:spPr bwMode="auto">
            <a:xfrm>
              <a:off x="9842060" y="4581214"/>
              <a:ext cx="1986035" cy="128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Finds the root cause of errors</a:t>
              </a:r>
            </a:p>
          </p:txBody>
        </p:sp>
        <p:sp>
          <p:nvSpPr>
            <p:cNvPr id="71" name="Rectangle: Rounded Corners 70">
              <a:extLst>
                <a:ext uri="{FF2B5EF4-FFF2-40B4-BE49-F238E27FC236}">
                  <a16:creationId xmlns:a16="http://schemas.microsoft.com/office/drawing/2014/main" id="{BFDF6623-A92D-1C1B-FA0A-852EE7AE73FB}"/>
                </a:ext>
              </a:extLst>
            </p:cNvPr>
            <p:cNvSpPr>
              <a:spLocks noChangeArrowheads="1"/>
            </p:cNvSpPr>
            <p:nvPr/>
          </p:nvSpPr>
          <p:spPr bwMode="auto">
            <a:xfrm rot="18876432">
              <a:off x="10482988" y="2613373"/>
              <a:ext cx="670445" cy="640928"/>
            </a:xfrm>
            <a:prstGeom prst="roundRect">
              <a:avLst>
                <a:gd name="adj" fmla="val 16667"/>
              </a:avLst>
            </a:prstGeom>
            <a:solidFill>
              <a:srgbClr val="DF9D3D"/>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a:endParaRPr lang="en-US" altLang="en-US" sz="22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2" name="Freeform 66">
              <a:extLst>
                <a:ext uri="{FF2B5EF4-FFF2-40B4-BE49-F238E27FC236}">
                  <a16:creationId xmlns:a16="http://schemas.microsoft.com/office/drawing/2014/main" id="{DA8CA4B1-03A1-A229-A649-44BF5BADD3F6}"/>
                </a:ext>
              </a:extLst>
            </p:cNvPr>
            <p:cNvSpPr>
              <a:spLocks/>
            </p:cNvSpPr>
            <p:nvPr/>
          </p:nvSpPr>
          <p:spPr bwMode="auto">
            <a:xfrm>
              <a:off x="10679062" y="2798904"/>
              <a:ext cx="278298" cy="271974"/>
            </a:xfrm>
            <a:custGeom>
              <a:avLst/>
              <a:gdLst>
                <a:gd name="T0" fmla="*/ 104694 w 21600"/>
                <a:gd name="T1" fmla="*/ 102165 h 21600"/>
                <a:gd name="T2" fmla="*/ 104694 w 21600"/>
                <a:gd name="T3" fmla="*/ 102165 h 21600"/>
                <a:gd name="T4" fmla="*/ 104694 w 21600"/>
                <a:gd name="T5" fmla="*/ 102165 h 21600"/>
                <a:gd name="T6" fmla="*/ 104694 w 21600"/>
                <a:gd name="T7" fmla="*/ 10216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3847" y="12388"/>
                  </a:moveTo>
                  <a:cubicBezTo>
                    <a:pt x="2367" y="12388"/>
                    <a:pt x="2367" y="12388"/>
                    <a:pt x="2367" y="12388"/>
                  </a:cubicBezTo>
                  <a:cubicBezTo>
                    <a:pt x="1184" y="12388"/>
                    <a:pt x="0" y="11753"/>
                    <a:pt x="0" y="10482"/>
                  </a:cubicBezTo>
                  <a:cubicBezTo>
                    <a:pt x="0" y="9212"/>
                    <a:pt x="0" y="6035"/>
                    <a:pt x="1479" y="6035"/>
                  </a:cubicBezTo>
                  <a:cubicBezTo>
                    <a:pt x="1775" y="6035"/>
                    <a:pt x="2959" y="6988"/>
                    <a:pt x="4438" y="6988"/>
                  </a:cubicBezTo>
                  <a:cubicBezTo>
                    <a:pt x="5030" y="6988"/>
                    <a:pt x="5326" y="6988"/>
                    <a:pt x="5918" y="6671"/>
                  </a:cubicBezTo>
                  <a:cubicBezTo>
                    <a:pt x="5918" y="6988"/>
                    <a:pt x="5918" y="7306"/>
                    <a:pt x="5918" y="7624"/>
                  </a:cubicBezTo>
                  <a:cubicBezTo>
                    <a:pt x="5918" y="8576"/>
                    <a:pt x="6214" y="9847"/>
                    <a:pt x="6805" y="10800"/>
                  </a:cubicBezTo>
                  <a:cubicBezTo>
                    <a:pt x="5622" y="10800"/>
                    <a:pt x="4438" y="11435"/>
                    <a:pt x="3847" y="12388"/>
                  </a:cubicBezTo>
                  <a:close/>
                  <a:moveTo>
                    <a:pt x="4438" y="6035"/>
                  </a:moveTo>
                  <a:cubicBezTo>
                    <a:pt x="2959" y="6035"/>
                    <a:pt x="1479" y="4765"/>
                    <a:pt x="1479" y="2859"/>
                  </a:cubicBezTo>
                  <a:cubicBezTo>
                    <a:pt x="1479" y="1271"/>
                    <a:pt x="2959" y="0"/>
                    <a:pt x="4438" y="0"/>
                  </a:cubicBezTo>
                  <a:cubicBezTo>
                    <a:pt x="5918" y="0"/>
                    <a:pt x="7397" y="1271"/>
                    <a:pt x="7397" y="2859"/>
                  </a:cubicBezTo>
                  <a:cubicBezTo>
                    <a:pt x="7397" y="4765"/>
                    <a:pt x="5918" y="6035"/>
                    <a:pt x="4438" y="6035"/>
                  </a:cubicBezTo>
                  <a:close/>
                  <a:moveTo>
                    <a:pt x="15682" y="21600"/>
                  </a:moveTo>
                  <a:cubicBezTo>
                    <a:pt x="5918" y="21600"/>
                    <a:pt x="5918" y="21600"/>
                    <a:pt x="5918" y="21600"/>
                  </a:cubicBezTo>
                  <a:cubicBezTo>
                    <a:pt x="4142" y="21600"/>
                    <a:pt x="2959" y="20329"/>
                    <a:pt x="2959" y="18424"/>
                  </a:cubicBezTo>
                  <a:cubicBezTo>
                    <a:pt x="2959" y="15565"/>
                    <a:pt x="3551" y="11435"/>
                    <a:pt x="6805" y="11435"/>
                  </a:cubicBezTo>
                  <a:cubicBezTo>
                    <a:pt x="7397" y="11435"/>
                    <a:pt x="8581" y="13024"/>
                    <a:pt x="10948" y="13024"/>
                  </a:cubicBezTo>
                  <a:cubicBezTo>
                    <a:pt x="13019" y="13024"/>
                    <a:pt x="14499" y="11435"/>
                    <a:pt x="14795" y="11435"/>
                  </a:cubicBezTo>
                  <a:cubicBezTo>
                    <a:pt x="18345" y="11435"/>
                    <a:pt x="18937" y="15565"/>
                    <a:pt x="18937" y="18424"/>
                  </a:cubicBezTo>
                  <a:cubicBezTo>
                    <a:pt x="18937" y="20329"/>
                    <a:pt x="17753" y="21600"/>
                    <a:pt x="15682" y="21600"/>
                  </a:cubicBezTo>
                  <a:close/>
                  <a:moveTo>
                    <a:pt x="10948" y="12388"/>
                  </a:moveTo>
                  <a:cubicBezTo>
                    <a:pt x="8581" y="12388"/>
                    <a:pt x="6510" y="10165"/>
                    <a:pt x="6510" y="7624"/>
                  </a:cubicBezTo>
                  <a:cubicBezTo>
                    <a:pt x="6510" y="5082"/>
                    <a:pt x="8581" y="2859"/>
                    <a:pt x="10948" y="2859"/>
                  </a:cubicBezTo>
                  <a:cubicBezTo>
                    <a:pt x="13315" y="2859"/>
                    <a:pt x="15090" y="5082"/>
                    <a:pt x="15090" y="7624"/>
                  </a:cubicBezTo>
                  <a:cubicBezTo>
                    <a:pt x="15090" y="10165"/>
                    <a:pt x="13315" y="12388"/>
                    <a:pt x="10948" y="12388"/>
                  </a:cubicBezTo>
                  <a:close/>
                  <a:moveTo>
                    <a:pt x="17458" y="6035"/>
                  </a:moveTo>
                  <a:cubicBezTo>
                    <a:pt x="15682" y="6035"/>
                    <a:pt x="14499" y="4765"/>
                    <a:pt x="14499" y="2859"/>
                  </a:cubicBezTo>
                  <a:cubicBezTo>
                    <a:pt x="14499" y="1271"/>
                    <a:pt x="15682" y="0"/>
                    <a:pt x="17458" y="0"/>
                  </a:cubicBezTo>
                  <a:cubicBezTo>
                    <a:pt x="18937" y="0"/>
                    <a:pt x="20121" y="1271"/>
                    <a:pt x="20121" y="2859"/>
                  </a:cubicBezTo>
                  <a:cubicBezTo>
                    <a:pt x="20121" y="4765"/>
                    <a:pt x="18937" y="6035"/>
                    <a:pt x="17458" y="6035"/>
                  </a:cubicBezTo>
                  <a:close/>
                  <a:moveTo>
                    <a:pt x="19529" y="12388"/>
                  </a:moveTo>
                  <a:cubicBezTo>
                    <a:pt x="18049" y="12388"/>
                    <a:pt x="18049" y="12388"/>
                    <a:pt x="18049" y="12388"/>
                  </a:cubicBezTo>
                  <a:cubicBezTo>
                    <a:pt x="17162" y="11435"/>
                    <a:pt x="16274" y="10800"/>
                    <a:pt x="15090" y="10800"/>
                  </a:cubicBezTo>
                  <a:cubicBezTo>
                    <a:pt x="15682" y="9847"/>
                    <a:pt x="15978" y="8576"/>
                    <a:pt x="15978" y="7624"/>
                  </a:cubicBezTo>
                  <a:cubicBezTo>
                    <a:pt x="15978" y="7306"/>
                    <a:pt x="15978" y="6988"/>
                    <a:pt x="15978" y="6671"/>
                  </a:cubicBezTo>
                  <a:cubicBezTo>
                    <a:pt x="16274" y="6988"/>
                    <a:pt x="16866" y="6988"/>
                    <a:pt x="17458" y="6988"/>
                  </a:cubicBezTo>
                  <a:cubicBezTo>
                    <a:pt x="18937" y="6988"/>
                    <a:pt x="20121" y="6035"/>
                    <a:pt x="20416" y="6035"/>
                  </a:cubicBezTo>
                  <a:cubicBezTo>
                    <a:pt x="21600" y="6035"/>
                    <a:pt x="21600" y="9212"/>
                    <a:pt x="21600" y="10482"/>
                  </a:cubicBezTo>
                  <a:cubicBezTo>
                    <a:pt x="21600" y="11753"/>
                    <a:pt x="20712" y="12388"/>
                    <a:pt x="19529" y="12388"/>
                  </a:cubicBezTo>
                  <a:close/>
                </a:path>
              </a:pathLst>
            </a:custGeom>
            <a:solidFill>
              <a:schemeClr val="bg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2200">
                <a:latin typeface="Open Sans" panose="020B0606030504020204" pitchFamily="34" charset="0"/>
                <a:ea typeface="Open Sans" panose="020B0606030504020204" pitchFamily="34" charset="0"/>
                <a:cs typeface="Open Sans" panose="020B0606030504020204" pitchFamily="34" charset="0"/>
              </a:endParaRPr>
            </a:p>
          </p:txBody>
        </p:sp>
      </p:grpSp>
      <p:sp>
        <p:nvSpPr>
          <p:cNvPr id="4" name="Brandline_LVC">
            <a:extLst>
              <a:ext uri="{FF2B5EF4-FFF2-40B4-BE49-F238E27FC236}">
                <a16:creationId xmlns:a16="http://schemas.microsoft.com/office/drawing/2014/main" id="{B122D9B5-019F-844A-54FF-4C8F2325FB85}"/>
              </a:ext>
            </a:extLst>
          </p:cNvPr>
          <p:cNvSpPr/>
          <p:nvPr/>
        </p:nvSpPr>
        <p:spPr>
          <a:xfrm>
            <a:off x="5499100" y="816324"/>
            <a:ext cx="526065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3778850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D9092-3278-DF70-A9CF-97B65BBC222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3B84117-A04A-94C0-D7A8-5246036E2DA9}"/>
              </a:ext>
            </a:extLst>
          </p:cNvPr>
          <p:cNvSpPr>
            <a:spLocks noGrp="1"/>
          </p:cNvSpPr>
          <p:nvPr>
            <p:ph type="body" idx="10"/>
          </p:nvPr>
        </p:nvSpPr>
        <p:spPr/>
        <p:txBody>
          <a:bodyPr>
            <a:noAutofit/>
          </a:bodyPr>
          <a:lstStyle/>
          <a:p>
            <a:r>
              <a:rPr lang="en-US" dirty="0"/>
              <a:t>LangSmith (from the LangChain team) and Arize Phoenix (open source) record traces automatically and show them as a clickable timeline. Our demo writes its own simple trace, so you see exactly what these tools collect.</a:t>
            </a:r>
          </a:p>
        </p:txBody>
      </p:sp>
      <p:sp>
        <p:nvSpPr>
          <p:cNvPr id="3" name="Title 2">
            <a:extLst>
              <a:ext uri="{FF2B5EF4-FFF2-40B4-BE49-F238E27FC236}">
                <a16:creationId xmlns:a16="http://schemas.microsoft.com/office/drawing/2014/main" id="{C03FF129-3A8E-9466-9059-FB3FCF1B45F2}"/>
              </a:ext>
            </a:extLst>
          </p:cNvPr>
          <p:cNvSpPr>
            <a:spLocks noGrp="1"/>
          </p:cNvSpPr>
          <p:nvPr>
            <p:ph type="title"/>
          </p:nvPr>
        </p:nvSpPr>
        <p:spPr/>
        <p:txBody>
          <a:bodyPr/>
          <a:lstStyle/>
          <a:p>
            <a:r>
              <a:rPr lang="en-US" dirty="0"/>
              <a:t>Trace Tools: LangSmith and Phoenix</a:t>
            </a:r>
          </a:p>
        </p:txBody>
      </p:sp>
      <p:grpSp>
        <p:nvGrpSpPr>
          <p:cNvPr id="6" name="Group 5">
            <a:extLst>
              <a:ext uri="{FF2B5EF4-FFF2-40B4-BE49-F238E27FC236}">
                <a16:creationId xmlns:a16="http://schemas.microsoft.com/office/drawing/2014/main" id="{DB810BD1-1F1D-C986-4D59-B1DBBA9A9B3B}"/>
              </a:ext>
            </a:extLst>
          </p:cNvPr>
          <p:cNvGrpSpPr/>
          <p:nvPr/>
        </p:nvGrpSpPr>
        <p:grpSpPr>
          <a:xfrm>
            <a:off x="2127250" y="4114403"/>
            <a:ext cx="12001500" cy="3508748"/>
            <a:chOff x="86203" y="1204744"/>
            <a:chExt cx="12001500" cy="3508748"/>
          </a:xfrm>
        </p:grpSpPr>
        <p:grpSp>
          <p:nvGrpSpPr>
            <p:cNvPr id="7" name="Group 6">
              <a:extLst>
                <a:ext uri="{FF2B5EF4-FFF2-40B4-BE49-F238E27FC236}">
                  <a16:creationId xmlns:a16="http://schemas.microsoft.com/office/drawing/2014/main" id="{4A87143B-FBD2-E2B7-9E73-258FB6149F8B}"/>
                </a:ext>
              </a:extLst>
            </p:cNvPr>
            <p:cNvGrpSpPr>
              <a:grpSpLocks noChangeAspect="1"/>
            </p:cNvGrpSpPr>
            <p:nvPr/>
          </p:nvGrpSpPr>
          <p:grpSpPr bwMode="auto">
            <a:xfrm>
              <a:off x="3583347" y="1252239"/>
              <a:ext cx="2148230" cy="3422561"/>
              <a:chOff x="1237" y="1015"/>
              <a:chExt cx="2559" cy="4077"/>
            </a:xfrm>
          </p:grpSpPr>
          <p:sp>
            <p:nvSpPr>
              <p:cNvPr id="31" name="Freeform 7">
                <a:extLst>
                  <a:ext uri="{FF2B5EF4-FFF2-40B4-BE49-F238E27FC236}">
                    <a16:creationId xmlns:a16="http://schemas.microsoft.com/office/drawing/2014/main" id="{8AE95D63-8944-8EE2-31CF-AA9D2EB5517C}"/>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9">
                <a:extLst>
                  <a:ext uri="{FF2B5EF4-FFF2-40B4-BE49-F238E27FC236}">
                    <a16:creationId xmlns:a16="http://schemas.microsoft.com/office/drawing/2014/main" id="{41217D9E-6199-5E79-B02D-314F4961D35B}"/>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9AF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10">
                <a:extLst>
                  <a:ext uri="{FF2B5EF4-FFF2-40B4-BE49-F238E27FC236}">
                    <a16:creationId xmlns:a16="http://schemas.microsoft.com/office/drawing/2014/main" id="{288EBBE5-3A10-69FA-B14B-860E7B46E370}"/>
                  </a:ext>
                </a:extLst>
              </p:cNvPr>
              <p:cNvSpPr>
                <a:spLocks noEditPoints="1"/>
              </p:cNvSpPr>
              <p:nvPr/>
            </p:nvSpPr>
            <p:spPr bwMode="auto">
              <a:xfrm>
                <a:off x="1237" y="1712"/>
                <a:ext cx="2559" cy="3380"/>
              </a:xfrm>
              <a:prstGeom prst="roundRect">
                <a:avLst/>
              </a:prstGeom>
              <a:solidFill>
                <a:srgbClr val="67A9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 name="Freeform 11">
                <a:extLst>
                  <a:ext uri="{FF2B5EF4-FFF2-40B4-BE49-F238E27FC236}">
                    <a16:creationId xmlns:a16="http://schemas.microsoft.com/office/drawing/2014/main" id="{6A3CDF2C-CCE8-0E88-221A-0D6B57FEB9BA}"/>
                  </a:ext>
                </a:extLst>
              </p:cNvPr>
              <p:cNvSpPr>
                <a:spLocks noEditPoints="1"/>
              </p:cNvSpPr>
              <p:nvPr/>
            </p:nvSpPr>
            <p:spPr bwMode="auto">
              <a:xfrm>
                <a:off x="2388" y="1851"/>
                <a:ext cx="277" cy="279"/>
              </a:xfrm>
              <a:custGeom>
                <a:avLst/>
                <a:gdLst>
                  <a:gd name="T0" fmla="*/ 59 w 117"/>
                  <a:gd name="T1" fmla="*/ 92 h 118"/>
                  <a:gd name="T2" fmla="*/ 25 w 117"/>
                  <a:gd name="T3" fmla="*/ 59 h 118"/>
                  <a:gd name="T4" fmla="*/ 59 w 117"/>
                  <a:gd name="T5" fmla="*/ 26 h 118"/>
                  <a:gd name="T6" fmla="*/ 92 w 117"/>
                  <a:gd name="T7" fmla="*/ 59 h 118"/>
                  <a:gd name="T8" fmla="*/ 59 w 117"/>
                  <a:gd name="T9" fmla="*/ 92 h 118"/>
                  <a:gd name="T10" fmla="*/ 59 w 117"/>
                  <a:gd name="T11" fmla="*/ 0 h 118"/>
                  <a:gd name="T12" fmla="*/ 0 w 117"/>
                  <a:gd name="T13" fmla="*/ 59 h 118"/>
                  <a:gd name="T14" fmla="*/ 59 w 117"/>
                  <a:gd name="T15" fmla="*/ 118 h 118"/>
                  <a:gd name="T16" fmla="*/ 117 w 117"/>
                  <a:gd name="T17" fmla="*/ 59 h 118"/>
                  <a:gd name="T18" fmla="*/ 59 w 117"/>
                  <a:gd name="T1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92"/>
                    </a:moveTo>
                    <a:cubicBezTo>
                      <a:pt x="40" y="92"/>
                      <a:pt x="25" y="77"/>
                      <a:pt x="25" y="59"/>
                    </a:cubicBezTo>
                    <a:cubicBezTo>
                      <a:pt x="25" y="41"/>
                      <a:pt x="40" y="26"/>
                      <a:pt x="59" y="26"/>
                    </a:cubicBezTo>
                    <a:cubicBezTo>
                      <a:pt x="77" y="26"/>
                      <a:pt x="92" y="41"/>
                      <a:pt x="92" y="59"/>
                    </a:cubicBezTo>
                    <a:cubicBezTo>
                      <a:pt x="92" y="77"/>
                      <a:pt x="77" y="92"/>
                      <a:pt x="59" y="92"/>
                    </a:cubicBezTo>
                    <a:close/>
                    <a:moveTo>
                      <a:pt x="59" y="0"/>
                    </a:moveTo>
                    <a:cubicBezTo>
                      <a:pt x="26" y="0"/>
                      <a:pt x="0" y="27"/>
                      <a:pt x="0" y="59"/>
                    </a:cubicBezTo>
                    <a:cubicBezTo>
                      <a:pt x="0" y="91"/>
                      <a:pt x="26" y="118"/>
                      <a:pt x="59" y="118"/>
                    </a:cubicBezTo>
                    <a:cubicBezTo>
                      <a:pt x="91" y="118"/>
                      <a:pt x="117" y="91"/>
                      <a:pt x="117" y="59"/>
                    </a:cubicBezTo>
                    <a:cubicBezTo>
                      <a:pt x="117" y="27"/>
                      <a:pt x="91" y="0"/>
                      <a:pt x="59" y="0"/>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Freeform 12">
                <a:extLst>
                  <a:ext uri="{FF2B5EF4-FFF2-40B4-BE49-F238E27FC236}">
                    <a16:creationId xmlns:a16="http://schemas.microsoft.com/office/drawing/2014/main" id="{AAAE4F82-2FB3-098B-11BD-94BDB23369D8}"/>
                  </a:ext>
                </a:extLst>
              </p:cNvPr>
              <p:cNvSpPr>
                <a:spLocks/>
              </p:cNvSpPr>
              <p:nvPr/>
            </p:nvSpPr>
            <p:spPr bwMode="auto">
              <a:xfrm>
                <a:off x="2497" y="1015"/>
                <a:ext cx="45" cy="912"/>
              </a:xfrm>
              <a:custGeom>
                <a:avLst/>
                <a:gdLst>
                  <a:gd name="T0" fmla="*/ 12 w 12"/>
                  <a:gd name="T1" fmla="*/ 928 h 934"/>
                  <a:gd name="T2" fmla="*/ 12 w 12"/>
                  <a:gd name="T3" fmla="*/ 6 h 934"/>
                  <a:gd name="T4" fmla="*/ 6 w 12"/>
                  <a:gd name="T5" fmla="*/ 0 h 934"/>
                  <a:gd name="T6" fmla="*/ 0 w 12"/>
                  <a:gd name="T7" fmla="*/ 6 h 934"/>
                  <a:gd name="T8" fmla="*/ 0 w 12"/>
                  <a:gd name="T9" fmla="*/ 928 h 934"/>
                  <a:gd name="T10" fmla="*/ 6 w 12"/>
                  <a:gd name="T11" fmla="*/ 934 h 934"/>
                  <a:gd name="T12" fmla="*/ 12 w 12"/>
                  <a:gd name="T13" fmla="*/ 928 h 934"/>
                </a:gdLst>
                <a:ahLst/>
                <a:cxnLst>
                  <a:cxn ang="0">
                    <a:pos x="T0" y="T1"/>
                  </a:cxn>
                  <a:cxn ang="0">
                    <a:pos x="T2" y="T3"/>
                  </a:cxn>
                  <a:cxn ang="0">
                    <a:pos x="T4" y="T5"/>
                  </a:cxn>
                  <a:cxn ang="0">
                    <a:pos x="T6" y="T7"/>
                  </a:cxn>
                  <a:cxn ang="0">
                    <a:pos x="T8" y="T9"/>
                  </a:cxn>
                  <a:cxn ang="0">
                    <a:pos x="T10" y="T11"/>
                  </a:cxn>
                  <a:cxn ang="0">
                    <a:pos x="T12" y="T13"/>
                  </a:cxn>
                </a:cxnLst>
                <a:rect l="0" t="0" r="r" b="b"/>
                <a:pathLst>
                  <a:path w="12" h="934">
                    <a:moveTo>
                      <a:pt x="12" y="928"/>
                    </a:moveTo>
                    <a:cubicBezTo>
                      <a:pt x="12" y="6"/>
                      <a:pt x="12" y="6"/>
                      <a:pt x="12" y="6"/>
                    </a:cubicBezTo>
                    <a:cubicBezTo>
                      <a:pt x="12" y="3"/>
                      <a:pt x="9" y="0"/>
                      <a:pt x="6" y="0"/>
                    </a:cubicBezTo>
                    <a:cubicBezTo>
                      <a:pt x="2" y="0"/>
                      <a:pt x="0" y="3"/>
                      <a:pt x="0" y="6"/>
                    </a:cubicBezTo>
                    <a:cubicBezTo>
                      <a:pt x="0" y="928"/>
                      <a:pt x="0" y="928"/>
                      <a:pt x="0" y="928"/>
                    </a:cubicBezTo>
                    <a:cubicBezTo>
                      <a:pt x="0" y="931"/>
                      <a:pt x="2" y="934"/>
                      <a:pt x="6" y="934"/>
                    </a:cubicBezTo>
                    <a:cubicBezTo>
                      <a:pt x="9" y="934"/>
                      <a:pt x="12" y="931"/>
                      <a:pt x="12" y="928"/>
                    </a:cubicBezTo>
                  </a:path>
                </a:pathLst>
              </a:cu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8" name="Text_2">
              <a:extLst>
                <a:ext uri="{FF2B5EF4-FFF2-40B4-BE49-F238E27FC236}">
                  <a16:creationId xmlns:a16="http://schemas.microsoft.com/office/drawing/2014/main" id="{EEB6646A-6AB5-F550-E603-B728B55807ED}"/>
                </a:ext>
              </a:extLst>
            </p:cNvPr>
            <p:cNvSpPr/>
            <p:nvPr/>
          </p:nvSpPr>
          <p:spPr>
            <a:xfrm>
              <a:off x="3597297" y="2549787"/>
              <a:ext cx="2102400" cy="1612493"/>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Spot repeated, wasted calls</a:t>
              </a:r>
            </a:p>
          </p:txBody>
        </p:sp>
        <p:grpSp>
          <p:nvGrpSpPr>
            <p:cNvPr id="9" name="Group 8">
              <a:extLst>
                <a:ext uri="{FF2B5EF4-FFF2-40B4-BE49-F238E27FC236}">
                  <a16:creationId xmlns:a16="http://schemas.microsoft.com/office/drawing/2014/main" id="{8BF7D42A-3634-D9D1-34A2-860569AE88F8}"/>
                </a:ext>
              </a:extLst>
            </p:cNvPr>
            <p:cNvGrpSpPr>
              <a:grpSpLocks noChangeAspect="1"/>
            </p:cNvGrpSpPr>
            <p:nvPr/>
          </p:nvGrpSpPr>
          <p:grpSpPr bwMode="auto">
            <a:xfrm>
              <a:off x="6574763" y="1274271"/>
              <a:ext cx="2150055" cy="3392964"/>
              <a:chOff x="1252" y="1051"/>
              <a:chExt cx="2555" cy="4032"/>
            </a:xfrm>
          </p:grpSpPr>
          <p:sp>
            <p:nvSpPr>
              <p:cNvPr id="26" name="Freeform 10">
                <a:extLst>
                  <a:ext uri="{FF2B5EF4-FFF2-40B4-BE49-F238E27FC236}">
                    <a16:creationId xmlns:a16="http://schemas.microsoft.com/office/drawing/2014/main" id="{4302EE4C-9F8E-1879-9FEF-E9BA850152B4}"/>
                  </a:ext>
                </a:extLst>
              </p:cNvPr>
              <p:cNvSpPr>
                <a:spLocks noEditPoints="1"/>
              </p:cNvSpPr>
              <p:nvPr/>
            </p:nvSpPr>
            <p:spPr bwMode="auto">
              <a:xfrm>
                <a:off x="1252" y="1712"/>
                <a:ext cx="2555" cy="3371"/>
              </a:xfrm>
              <a:prstGeom prst="roundRect">
                <a:avLst/>
              </a:prstGeom>
              <a:solidFill>
                <a:srgbClr val="CB7B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7">
                <a:extLst>
                  <a:ext uri="{FF2B5EF4-FFF2-40B4-BE49-F238E27FC236}">
                    <a16:creationId xmlns:a16="http://schemas.microsoft.com/office/drawing/2014/main" id="{4C720583-0A46-2A72-C903-30F4942E457F}"/>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9">
                <a:extLst>
                  <a:ext uri="{FF2B5EF4-FFF2-40B4-BE49-F238E27FC236}">
                    <a16:creationId xmlns:a16="http://schemas.microsoft.com/office/drawing/2014/main" id="{82E2D90C-3914-3389-1A08-1CEC4D22A3D7}"/>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9AF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11">
                <a:extLst>
                  <a:ext uri="{FF2B5EF4-FFF2-40B4-BE49-F238E27FC236}">
                    <a16:creationId xmlns:a16="http://schemas.microsoft.com/office/drawing/2014/main" id="{C5274234-0AA3-3A58-87A7-0A44793A7A2D}"/>
                  </a:ext>
                </a:extLst>
              </p:cNvPr>
              <p:cNvSpPr>
                <a:spLocks noEditPoints="1"/>
              </p:cNvSpPr>
              <p:nvPr/>
            </p:nvSpPr>
            <p:spPr bwMode="auto">
              <a:xfrm>
                <a:off x="2388" y="1851"/>
                <a:ext cx="277" cy="279"/>
              </a:xfrm>
              <a:custGeom>
                <a:avLst/>
                <a:gdLst>
                  <a:gd name="T0" fmla="*/ 59 w 117"/>
                  <a:gd name="T1" fmla="*/ 92 h 118"/>
                  <a:gd name="T2" fmla="*/ 25 w 117"/>
                  <a:gd name="T3" fmla="*/ 59 h 118"/>
                  <a:gd name="T4" fmla="*/ 59 w 117"/>
                  <a:gd name="T5" fmla="*/ 26 h 118"/>
                  <a:gd name="T6" fmla="*/ 92 w 117"/>
                  <a:gd name="T7" fmla="*/ 59 h 118"/>
                  <a:gd name="T8" fmla="*/ 59 w 117"/>
                  <a:gd name="T9" fmla="*/ 92 h 118"/>
                  <a:gd name="T10" fmla="*/ 59 w 117"/>
                  <a:gd name="T11" fmla="*/ 0 h 118"/>
                  <a:gd name="T12" fmla="*/ 0 w 117"/>
                  <a:gd name="T13" fmla="*/ 59 h 118"/>
                  <a:gd name="T14" fmla="*/ 59 w 117"/>
                  <a:gd name="T15" fmla="*/ 118 h 118"/>
                  <a:gd name="T16" fmla="*/ 117 w 117"/>
                  <a:gd name="T17" fmla="*/ 59 h 118"/>
                  <a:gd name="T18" fmla="*/ 59 w 117"/>
                  <a:gd name="T1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92"/>
                    </a:moveTo>
                    <a:cubicBezTo>
                      <a:pt x="40" y="92"/>
                      <a:pt x="25" y="77"/>
                      <a:pt x="25" y="59"/>
                    </a:cubicBezTo>
                    <a:cubicBezTo>
                      <a:pt x="25" y="41"/>
                      <a:pt x="40" y="26"/>
                      <a:pt x="59" y="26"/>
                    </a:cubicBezTo>
                    <a:cubicBezTo>
                      <a:pt x="77" y="26"/>
                      <a:pt x="92" y="41"/>
                      <a:pt x="92" y="59"/>
                    </a:cubicBezTo>
                    <a:cubicBezTo>
                      <a:pt x="92" y="77"/>
                      <a:pt x="77" y="92"/>
                      <a:pt x="59" y="92"/>
                    </a:cubicBezTo>
                    <a:close/>
                    <a:moveTo>
                      <a:pt x="59" y="0"/>
                    </a:moveTo>
                    <a:cubicBezTo>
                      <a:pt x="26" y="0"/>
                      <a:pt x="0" y="27"/>
                      <a:pt x="0" y="59"/>
                    </a:cubicBezTo>
                    <a:cubicBezTo>
                      <a:pt x="0" y="91"/>
                      <a:pt x="26" y="118"/>
                      <a:pt x="59" y="118"/>
                    </a:cubicBezTo>
                    <a:cubicBezTo>
                      <a:pt x="91" y="118"/>
                      <a:pt x="117" y="91"/>
                      <a:pt x="117" y="59"/>
                    </a:cubicBezTo>
                    <a:cubicBezTo>
                      <a:pt x="117" y="27"/>
                      <a:pt x="91" y="0"/>
                      <a:pt x="59" y="0"/>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12">
                <a:extLst>
                  <a:ext uri="{FF2B5EF4-FFF2-40B4-BE49-F238E27FC236}">
                    <a16:creationId xmlns:a16="http://schemas.microsoft.com/office/drawing/2014/main" id="{57F83863-2D63-5FCC-3D6A-4736984D1CDF}"/>
                  </a:ext>
                </a:extLst>
              </p:cNvPr>
              <p:cNvSpPr>
                <a:spLocks/>
              </p:cNvSpPr>
              <p:nvPr/>
            </p:nvSpPr>
            <p:spPr bwMode="auto">
              <a:xfrm>
                <a:off x="2497" y="1051"/>
                <a:ext cx="47" cy="876"/>
              </a:xfrm>
              <a:custGeom>
                <a:avLst/>
                <a:gdLst>
                  <a:gd name="T0" fmla="*/ 12 w 12"/>
                  <a:gd name="T1" fmla="*/ 928 h 934"/>
                  <a:gd name="T2" fmla="*/ 12 w 12"/>
                  <a:gd name="T3" fmla="*/ 6 h 934"/>
                  <a:gd name="T4" fmla="*/ 6 w 12"/>
                  <a:gd name="T5" fmla="*/ 0 h 934"/>
                  <a:gd name="T6" fmla="*/ 0 w 12"/>
                  <a:gd name="T7" fmla="*/ 6 h 934"/>
                  <a:gd name="T8" fmla="*/ 0 w 12"/>
                  <a:gd name="T9" fmla="*/ 928 h 934"/>
                  <a:gd name="T10" fmla="*/ 6 w 12"/>
                  <a:gd name="T11" fmla="*/ 934 h 934"/>
                  <a:gd name="T12" fmla="*/ 12 w 12"/>
                  <a:gd name="T13" fmla="*/ 928 h 934"/>
                </a:gdLst>
                <a:ahLst/>
                <a:cxnLst>
                  <a:cxn ang="0">
                    <a:pos x="T0" y="T1"/>
                  </a:cxn>
                  <a:cxn ang="0">
                    <a:pos x="T2" y="T3"/>
                  </a:cxn>
                  <a:cxn ang="0">
                    <a:pos x="T4" y="T5"/>
                  </a:cxn>
                  <a:cxn ang="0">
                    <a:pos x="T6" y="T7"/>
                  </a:cxn>
                  <a:cxn ang="0">
                    <a:pos x="T8" y="T9"/>
                  </a:cxn>
                  <a:cxn ang="0">
                    <a:pos x="T10" y="T11"/>
                  </a:cxn>
                  <a:cxn ang="0">
                    <a:pos x="T12" y="T13"/>
                  </a:cxn>
                </a:cxnLst>
                <a:rect l="0" t="0" r="r" b="b"/>
                <a:pathLst>
                  <a:path w="12" h="934">
                    <a:moveTo>
                      <a:pt x="12" y="928"/>
                    </a:moveTo>
                    <a:cubicBezTo>
                      <a:pt x="12" y="6"/>
                      <a:pt x="12" y="6"/>
                      <a:pt x="12" y="6"/>
                    </a:cubicBezTo>
                    <a:cubicBezTo>
                      <a:pt x="12" y="3"/>
                      <a:pt x="9" y="0"/>
                      <a:pt x="6" y="0"/>
                    </a:cubicBezTo>
                    <a:cubicBezTo>
                      <a:pt x="2" y="0"/>
                      <a:pt x="0" y="3"/>
                      <a:pt x="0" y="6"/>
                    </a:cubicBezTo>
                    <a:cubicBezTo>
                      <a:pt x="0" y="928"/>
                      <a:pt x="0" y="928"/>
                      <a:pt x="0" y="928"/>
                    </a:cubicBezTo>
                    <a:cubicBezTo>
                      <a:pt x="0" y="931"/>
                      <a:pt x="2" y="934"/>
                      <a:pt x="6" y="934"/>
                    </a:cubicBezTo>
                    <a:cubicBezTo>
                      <a:pt x="9" y="934"/>
                      <a:pt x="12" y="931"/>
                      <a:pt x="12" y="928"/>
                    </a:cubicBezTo>
                  </a:path>
                </a:pathLst>
              </a:cu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 name="Text_3">
              <a:extLst>
                <a:ext uri="{FF2B5EF4-FFF2-40B4-BE49-F238E27FC236}">
                  <a16:creationId xmlns:a16="http://schemas.microsoft.com/office/drawing/2014/main" id="{8B741785-BA99-387E-9B41-50C4281431D5}"/>
                </a:ext>
              </a:extLst>
            </p:cNvPr>
            <p:cNvSpPr/>
            <p:nvPr/>
          </p:nvSpPr>
          <p:spPr>
            <a:xfrm>
              <a:off x="6592615" y="2476957"/>
              <a:ext cx="1956753" cy="1612493"/>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Find the slow step</a:t>
              </a:r>
            </a:p>
          </p:txBody>
        </p:sp>
        <p:sp>
          <p:nvSpPr>
            <p:cNvPr id="11" name="Rounded Rectangle 137">
              <a:extLst>
                <a:ext uri="{FF2B5EF4-FFF2-40B4-BE49-F238E27FC236}">
                  <a16:creationId xmlns:a16="http://schemas.microsoft.com/office/drawing/2014/main" id="{CE10123C-BE96-5B04-618E-A57CDEA499D4}"/>
                </a:ext>
              </a:extLst>
            </p:cNvPr>
            <p:cNvSpPr/>
            <p:nvPr/>
          </p:nvSpPr>
          <p:spPr>
            <a:xfrm>
              <a:off x="86203" y="1204744"/>
              <a:ext cx="12001500" cy="231569"/>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4164922E-9D2C-6915-A6A3-16B600E9A88E}"/>
                </a:ext>
              </a:extLst>
            </p:cNvPr>
            <p:cNvGrpSpPr>
              <a:grpSpLocks noChangeAspect="1"/>
            </p:cNvGrpSpPr>
            <p:nvPr/>
          </p:nvGrpSpPr>
          <p:grpSpPr bwMode="auto">
            <a:xfrm>
              <a:off x="671824" y="1256685"/>
              <a:ext cx="2148233" cy="3422567"/>
              <a:chOff x="1237" y="1015"/>
              <a:chExt cx="2559" cy="4077"/>
            </a:xfrm>
          </p:grpSpPr>
          <p:sp>
            <p:nvSpPr>
              <p:cNvPr id="21" name="Freeform 10">
                <a:extLst>
                  <a:ext uri="{FF2B5EF4-FFF2-40B4-BE49-F238E27FC236}">
                    <a16:creationId xmlns:a16="http://schemas.microsoft.com/office/drawing/2014/main" id="{DD9C0E07-7435-3813-48FC-990C5EF023FB}"/>
                  </a:ext>
                </a:extLst>
              </p:cNvPr>
              <p:cNvSpPr>
                <a:spLocks noEditPoints="1"/>
              </p:cNvSpPr>
              <p:nvPr/>
            </p:nvSpPr>
            <p:spPr bwMode="auto">
              <a:xfrm>
                <a:off x="1237" y="1712"/>
                <a:ext cx="2559" cy="3380"/>
              </a:xfrm>
              <a:prstGeom prst="roundRect">
                <a:avLst/>
              </a:prstGeom>
              <a:solidFill>
                <a:srgbClr val="AA64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7">
                <a:extLst>
                  <a:ext uri="{FF2B5EF4-FFF2-40B4-BE49-F238E27FC236}">
                    <a16:creationId xmlns:a16="http://schemas.microsoft.com/office/drawing/2014/main" id="{68EE70FE-54F0-6871-836C-51261F265877}"/>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9">
                <a:extLst>
                  <a:ext uri="{FF2B5EF4-FFF2-40B4-BE49-F238E27FC236}">
                    <a16:creationId xmlns:a16="http://schemas.microsoft.com/office/drawing/2014/main" id="{6927DA33-DCE2-ECD6-15EA-2DC1CDC3A0A0}"/>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9AF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Freeform 11">
                <a:extLst>
                  <a:ext uri="{FF2B5EF4-FFF2-40B4-BE49-F238E27FC236}">
                    <a16:creationId xmlns:a16="http://schemas.microsoft.com/office/drawing/2014/main" id="{2816D1FD-8ED3-5DDD-E45B-481D54A23CD0}"/>
                  </a:ext>
                </a:extLst>
              </p:cNvPr>
              <p:cNvSpPr>
                <a:spLocks noEditPoints="1"/>
              </p:cNvSpPr>
              <p:nvPr/>
            </p:nvSpPr>
            <p:spPr bwMode="auto">
              <a:xfrm>
                <a:off x="2388" y="1851"/>
                <a:ext cx="277" cy="279"/>
              </a:xfrm>
              <a:custGeom>
                <a:avLst/>
                <a:gdLst>
                  <a:gd name="T0" fmla="*/ 59 w 117"/>
                  <a:gd name="T1" fmla="*/ 92 h 118"/>
                  <a:gd name="T2" fmla="*/ 25 w 117"/>
                  <a:gd name="T3" fmla="*/ 59 h 118"/>
                  <a:gd name="T4" fmla="*/ 59 w 117"/>
                  <a:gd name="T5" fmla="*/ 26 h 118"/>
                  <a:gd name="T6" fmla="*/ 92 w 117"/>
                  <a:gd name="T7" fmla="*/ 59 h 118"/>
                  <a:gd name="T8" fmla="*/ 59 w 117"/>
                  <a:gd name="T9" fmla="*/ 92 h 118"/>
                  <a:gd name="T10" fmla="*/ 59 w 117"/>
                  <a:gd name="T11" fmla="*/ 0 h 118"/>
                  <a:gd name="T12" fmla="*/ 0 w 117"/>
                  <a:gd name="T13" fmla="*/ 59 h 118"/>
                  <a:gd name="T14" fmla="*/ 59 w 117"/>
                  <a:gd name="T15" fmla="*/ 118 h 118"/>
                  <a:gd name="T16" fmla="*/ 117 w 117"/>
                  <a:gd name="T17" fmla="*/ 59 h 118"/>
                  <a:gd name="T18" fmla="*/ 59 w 117"/>
                  <a:gd name="T1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92"/>
                    </a:moveTo>
                    <a:cubicBezTo>
                      <a:pt x="40" y="92"/>
                      <a:pt x="25" y="77"/>
                      <a:pt x="25" y="59"/>
                    </a:cubicBezTo>
                    <a:cubicBezTo>
                      <a:pt x="25" y="41"/>
                      <a:pt x="40" y="26"/>
                      <a:pt x="59" y="26"/>
                    </a:cubicBezTo>
                    <a:cubicBezTo>
                      <a:pt x="77" y="26"/>
                      <a:pt x="92" y="41"/>
                      <a:pt x="92" y="59"/>
                    </a:cubicBezTo>
                    <a:cubicBezTo>
                      <a:pt x="92" y="77"/>
                      <a:pt x="77" y="92"/>
                      <a:pt x="59" y="92"/>
                    </a:cubicBezTo>
                    <a:close/>
                    <a:moveTo>
                      <a:pt x="59" y="0"/>
                    </a:moveTo>
                    <a:cubicBezTo>
                      <a:pt x="26" y="0"/>
                      <a:pt x="0" y="27"/>
                      <a:pt x="0" y="59"/>
                    </a:cubicBezTo>
                    <a:cubicBezTo>
                      <a:pt x="0" y="91"/>
                      <a:pt x="26" y="118"/>
                      <a:pt x="59" y="118"/>
                    </a:cubicBezTo>
                    <a:cubicBezTo>
                      <a:pt x="91" y="118"/>
                      <a:pt x="117" y="91"/>
                      <a:pt x="117" y="59"/>
                    </a:cubicBezTo>
                    <a:cubicBezTo>
                      <a:pt x="117" y="27"/>
                      <a:pt x="91" y="0"/>
                      <a:pt x="59" y="0"/>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12">
                <a:extLst>
                  <a:ext uri="{FF2B5EF4-FFF2-40B4-BE49-F238E27FC236}">
                    <a16:creationId xmlns:a16="http://schemas.microsoft.com/office/drawing/2014/main" id="{FCA732FB-D812-B8C8-CEA6-EA7E0A167708}"/>
                  </a:ext>
                </a:extLst>
              </p:cNvPr>
              <p:cNvSpPr>
                <a:spLocks/>
              </p:cNvSpPr>
              <p:nvPr/>
            </p:nvSpPr>
            <p:spPr bwMode="auto">
              <a:xfrm>
                <a:off x="2497" y="1015"/>
                <a:ext cx="45" cy="912"/>
              </a:xfrm>
              <a:custGeom>
                <a:avLst/>
                <a:gdLst>
                  <a:gd name="T0" fmla="*/ 12 w 12"/>
                  <a:gd name="T1" fmla="*/ 928 h 934"/>
                  <a:gd name="T2" fmla="*/ 12 w 12"/>
                  <a:gd name="T3" fmla="*/ 6 h 934"/>
                  <a:gd name="T4" fmla="*/ 6 w 12"/>
                  <a:gd name="T5" fmla="*/ 0 h 934"/>
                  <a:gd name="T6" fmla="*/ 0 w 12"/>
                  <a:gd name="T7" fmla="*/ 6 h 934"/>
                  <a:gd name="T8" fmla="*/ 0 w 12"/>
                  <a:gd name="T9" fmla="*/ 928 h 934"/>
                  <a:gd name="T10" fmla="*/ 6 w 12"/>
                  <a:gd name="T11" fmla="*/ 934 h 934"/>
                  <a:gd name="T12" fmla="*/ 12 w 12"/>
                  <a:gd name="T13" fmla="*/ 928 h 934"/>
                </a:gdLst>
                <a:ahLst/>
                <a:cxnLst>
                  <a:cxn ang="0">
                    <a:pos x="T0" y="T1"/>
                  </a:cxn>
                  <a:cxn ang="0">
                    <a:pos x="T2" y="T3"/>
                  </a:cxn>
                  <a:cxn ang="0">
                    <a:pos x="T4" y="T5"/>
                  </a:cxn>
                  <a:cxn ang="0">
                    <a:pos x="T6" y="T7"/>
                  </a:cxn>
                  <a:cxn ang="0">
                    <a:pos x="T8" y="T9"/>
                  </a:cxn>
                  <a:cxn ang="0">
                    <a:pos x="T10" y="T11"/>
                  </a:cxn>
                  <a:cxn ang="0">
                    <a:pos x="T12" y="T13"/>
                  </a:cxn>
                </a:cxnLst>
                <a:rect l="0" t="0" r="r" b="b"/>
                <a:pathLst>
                  <a:path w="12" h="934">
                    <a:moveTo>
                      <a:pt x="12" y="928"/>
                    </a:moveTo>
                    <a:cubicBezTo>
                      <a:pt x="12" y="6"/>
                      <a:pt x="12" y="6"/>
                      <a:pt x="12" y="6"/>
                    </a:cubicBezTo>
                    <a:cubicBezTo>
                      <a:pt x="12" y="3"/>
                      <a:pt x="9" y="0"/>
                      <a:pt x="6" y="0"/>
                    </a:cubicBezTo>
                    <a:cubicBezTo>
                      <a:pt x="2" y="0"/>
                      <a:pt x="0" y="3"/>
                      <a:pt x="0" y="6"/>
                    </a:cubicBezTo>
                    <a:cubicBezTo>
                      <a:pt x="0" y="928"/>
                      <a:pt x="0" y="928"/>
                      <a:pt x="0" y="928"/>
                    </a:cubicBezTo>
                    <a:cubicBezTo>
                      <a:pt x="0" y="931"/>
                      <a:pt x="2" y="934"/>
                      <a:pt x="6" y="934"/>
                    </a:cubicBezTo>
                    <a:cubicBezTo>
                      <a:pt x="9" y="934"/>
                      <a:pt x="12" y="931"/>
                      <a:pt x="12" y="928"/>
                    </a:cubicBezTo>
                  </a:path>
                </a:pathLst>
              </a:cu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ext_1">
              <a:extLst>
                <a:ext uri="{FF2B5EF4-FFF2-40B4-BE49-F238E27FC236}">
                  <a16:creationId xmlns:a16="http://schemas.microsoft.com/office/drawing/2014/main" id="{0C8DC007-2AD4-67A4-DFE7-8069E1B07917}"/>
                </a:ext>
              </a:extLst>
            </p:cNvPr>
            <p:cNvSpPr/>
            <p:nvPr/>
          </p:nvSpPr>
          <p:spPr>
            <a:xfrm>
              <a:off x="693021" y="2548995"/>
              <a:ext cx="2101100" cy="1612493"/>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See every step on a timeline</a:t>
              </a:r>
            </a:p>
          </p:txBody>
        </p:sp>
        <p:grpSp>
          <p:nvGrpSpPr>
            <p:cNvPr id="14" name="Group 13">
              <a:extLst>
                <a:ext uri="{FF2B5EF4-FFF2-40B4-BE49-F238E27FC236}">
                  <a16:creationId xmlns:a16="http://schemas.microsoft.com/office/drawing/2014/main" id="{81DE6B22-E690-A733-8978-2A775CF4BBC2}"/>
                </a:ext>
              </a:extLst>
            </p:cNvPr>
            <p:cNvGrpSpPr>
              <a:grpSpLocks noChangeAspect="1"/>
            </p:cNvGrpSpPr>
            <p:nvPr/>
          </p:nvGrpSpPr>
          <p:grpSpPr bwMode="auto">
            <a:xfrm>
              <a:off x="9525936" y="1320528"/>
              <a:ext cx="2150056" cy="3392964"/>
              <a:chOff x="1252" y="1051"/>
              <a:chExt cx="2555" cy="4032"/>
            </a:xfrm>
          </p:grpSpPr>
          <p:sp>
            <p:nvSpPr>
              <p:cNvPr id="16" name="Freeform 7">
                <a:extLst>
                  <a:ext uri="{FF2B5EF4-FFF2-40B4-BE49-F238E27FC236}">
                    <a16:creationId xmlns:a16="http://schemas.microsoft.com/office/drawing/2014/main" id="{FE70E2DA-7CD4-9689-D15C-076CC5088680}"/>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9">
                <a:extLst>
                  <a:ext uri="{FF2B5EF4-FFF2-40B4-BE49-F238E27FC236}">
                    <a16:creationId xmlns:a16="http://schemas.microsoft.com/office/drawing/2014/main" id="{5354348A-3DD3-0A7A-CA96-034763DA003D}"/>
                  </a:ext>
                </a:extLst>
              </p:cNvPr>
              <p:cNvSpPr>
                <a:spLocks noEditPoints="1"/>
              </p:cNvSpPr>
              <p:nvPr/>
            </p:nvSpPr>
            <p:spPr bwMode="auto">
              <a:xfrm>
                <a:off x="2388" y="1851"/>
                <a:ext cx="277" cy="279"/>
              </a:xfrm>
              <a:custGeom>
                <a:avLst/>
                <a:gdLst>
                  <a:gd name="T0" fmla="*/ 59 w 117"/>
                  <a:gd name="T1" fmla="*/ 0 h 118"/>
                  <a:gd name="T2" fmla="*/ 0 w 117"/>
                  <a:gd name="T3" fmla="*/ 59 h 118"/>
                  <a:gd name="T4" fmla="*/ 59 w 117"/>
                  <a:gd name="T5" fmla="*/ 118 h 118"/>
                  <a:gd name="T6" fmla="*/ 117 w 117"/>
                  <a:gd name="T7" fmla="*/ 59 h 118"/>
                  <a:gd name="T8" fmla="*/ 59 w 117"/>
                  <a:gd name="T9" fmla="*/ 0 h 118"/>
                  <a:gd name="T10" fmla="*/ 59 w 117"/>
                  <a:gd name="T11" fmla="*/ 92 h 118"/>
                  <a:gd name="T12" fmla="*/ 25 w 117"/>
                  <a:gd name="T13" fmla="*/ 59 h 118"/>
                  <a:gd name="T14" fmla="*/ 59 w 117"/>
                  <a:gd name="T15" fmla="*/ 26 h 118"/>
                  <a:gd name="T16" fmla="*/ 92 w 117"/>
                  <a:gd name="T17" fmla="*/ 59 h 118"/>
                  <a:gd name="T18" fmla="*/ 59 w 117"/>
                  <a:gd name="T19" fmla="*/ 9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0"/>
                    </a:moveTo>
                    <a:cubicBezTo>
                      <a:pt x="26" y="0"/>
                      <a:pt x="0" y="27"/>
                      <a:pt x="0" y="59"/>
                    </a:cubicBezTo>
                    <a:cubicBezTo>
                      <a:pt x="0" y="91"/>
                      <a:pt x="26" y="118"/>
                      <a:pt x="59" y="118"/>
                    </a:cubicBezTo>
                    <a:cubicBezTo>
                      <a:pt x="91" y="118"/>
                      <a:pt x="117" y="91"/>
                      <a:pt x="117" y="59"/>
                    </a:cubicBezTo>
                    <a:cubicBezTo>
                      <a:pt x="117" y="27"/>
                      <a:pt x="91" y="0"/>
                      <a:pt x="59" y="0"/>
                    </a:cubicBezTo>
                    <a:close/>
                    <a:moveTo>
                      <a:pt x="59" y="92"/>
                    </a:moveTo>
                    <a:cubicBezTo>
                      <a:pt x="40" y="92"/>
                      <a:pt x="25" y="77"/>
                      <a:pt x="25" y="59"/>
                    </a:cubicBezTo>
                    <a:cubicBezTo>
                      <a:pt x="25" y="41"/>
                      <a:pt x="40" y="26"/>
                      <a:pt x="59" y="26"/>
                    </a:cubicBezTo>
                    <a:cubicBezTo>
                      <a:pt x="77" y="26"/>
                      <a:pt x="92" y="41"/>
                      <a:pt x="92" y="59"/>
                    </a:cubicBezTo>
                    <a:cubicBezTo>
                      <a:pt x="92" y="77"/>
                      <a:pt x="77" y="92"/>
                      <a:pt x="59" y="92"/>
                    </a:cubicBezTo>
                    <a:close/>
                  </a:path>
                </a:pathLst>
              </a:custGeom>
              <a:solidFill>
                <a:srgbClr val="F9AF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10">
                <a:extLst>
                  <a:ext uri="{FF2B5EF4-FFF2-40B4-BE49-F238E27FC236}">
                    <a16:creationId xmlns:a16="http://schemas.microsoft.com/office/drawing/2014/main" id="{44A0106C-133E-1CA9-83AC-678AFB59CE27}"/>
                  </a:ext>
                </a:extLst>
              </p:cNvPr>
              <p:cNvSpPr>
                <a:spLocks noEditPoints="1"/>
              </p:cNvSpPr>
              <p:nvPr/>
            </p:nvSpPr>
            <p:spPr bwMode="auto">
              <a:xfrm>
                <a:off x="1252" y="1712"/>
                <a:ext cx="2555" cy="3371"/>
              </a:xfrm>
              <a:prstGeom prst="roundRect">
                <a:avLst/>
              </a:prstGeom>
              <a:solidFill>
                <a:srgbClr val="939D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 name="Freeform 11">
                <a:extLst>
                  <a:ext uri="{FF2B5EF4-FFF2-40B4-BE49-F238E27FC236}">
                    <a16:creationId xmlns:a16="http://schemas.microsoft.com/office/drawing/2014/main" id="{15D36830-C837-B1C1-55C8-90ACA140D0BB}"/>
                  </a:ext>
                </a:extLst>
              </p:cNvPr>
              <p:cNvSpPr>
                <a:spLocks noEditPoints="1"/>
              </p:cNvSpPr>
              <p:nvPr/>
            </p:nvSpPr>
            <p:spPr bwMode="auto">
              <a:xfrm>
                <a:off x="2388" y="1851"/>
                <a:ext cx="277" cy="279"/>
              </a:xfrm>
              <a:custGeom>
                <a:avLst/>
                <a:gdLst>
                  <a:gd name="T0" fmla="*/ 59 w 117"/>
                  <a:gd name="T1" fmla="*/ 92 h 118"/>
                  <a:gd name="T2" fmla="*/ 25 w 117"/>
                  <a:gd name="T3" fmla="*/ 59 h 118"/>
                  <a:gd name="T4" fmla="*/ 59 w 117"/>
                  <a:gd name="T5" fmla="*/ 26 h 118"/>
                  <a:gd name="T6" fmla="*/ 92 w 117"/>
                  <a:gd name="T7" fmla="*/ 59 h 118"/>
                  <a:gd name="T8" fmla="*/ 59 w 117"/>
                  <a:gd name="T9" fmla="*/ 92 h 118"/>
                  <a:gd name="T10" fmla="*/ 59 w 117"/>
                  <a:gd name="T11" fmla="*/ 0 h 118"/>
                  <a:gd name="T12" fmla="*/ 0 w 117"/>
                  <a:gd name="T13" fmla="*/ 59 h 118"/>
                  <a:gd name="T14" fmla="*/ 59 w 117"/>
                  <a:gd name="T15" fmla="*/ 118 h 118"/>
                  <a:gd name="T16" fmla="*/ 117 w 117"/>
                  <a:gd name="T17" fmla="*/ 59 h 118"/>
                  <a:gd name="T18" fmla="*/ 59 w 117"/>
                  <a:gd name="T1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 h="118">
                    <a:moveTo>
                      <a:pt x="59" y="92"/>
                    </a:moveTo>
                    <a:cubicBezTo>
                      <a:pt x="40" y="92"/>
                      <a:pt x="25" y="77"/>
                      <a:pt x="25" y="59"/>
                    </a:cubicBezTo>
                    <a:cubicBezTo>
                      <a:pt x="25" y="41"/>
                      <a:pt x="40" y="26"/>
                      <a:pt x="59" y="26"/>
                    </a:cubicBezTo>
                    <a:cubicBezTo>
                      <a:pt x="77" y="26"/>
                      <a:pt x="92" y="41"/>
                      <a:pt x="92" y="59"/>
                    </a:cubicBezTo>
                    <a:cubicBezTo>
                      <a:pt x="92" y="77"/>
                      <a:pt x="77" y="92"/>
                      <a:pt x="59" y="92"/>
                    </a:cubicBezTo>
                    <a:close/>
                    <a:moveTo>
                      <a:pt x="59" y="0"/>
                    </a:moveTo>
                    <a:cubicBezTo>
                      <a:pt x="26" y="0"/>
                      <a:pt x="0" y="27"/>
                      <a:pt x="0" y="59"/>
                    </a:cubicBezTo>
                    <a:cubicBezTo>
                      <a:pt x="0" y="91"/>
                      <a:pt x="26" y="118"/>
                      <a:pt x="59" y="118"/>
                    </a:cubicBezTo>
                    <a:cubicBezTo>
                      <a:pt x="91" y="118"/>
                      <a:pt x="117" y="91"/>
                      <a:pt x="117" y="59"/>
                    </a:cubicBezTo>
                    <a:cubicBezTo>
                      <a:pt x="117" y="27"/>
                      <a:pt x="91" y="0"/>
                      <a:pt x="59" y="0"/>
                    </a:cubicBezTo>
                    <a:close/>
                  </a:path>
                </a:pathLst>
              </a:custGeom>
              <a:solidFill>
                <a:srgbClr val="F2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12">
                <a:extLst>
                  <a:ext uri="{FF2B5EF4-FFF2-40B4-BE49-F238E27FC236}">
                    <a16:creationId xmlns:a16="http://schemas.microsoft.com/office/drawing/2014/main" id="{035E4FF5-1ADB-7813-099A-44FE4E674DC3}"/>
                  </a:ext>
                </a:extLst>
              </p:cNvPr>
              <p:cNvSpPr>
                <a:spLocks/>
              </p:cNvSpPr>
              <p:nvPr/>
            </p:nvSpPr>
            <p:spPr bwMode="auto">
              <a:xfrm>
                <a:off x="2497" y="1051"/>
                <a:ext cx="47" cy="876"/>
              </a:xfrm>
              <a:custGeom>
                <a:avLst/>
                <a:gdLst>
                  <a:gd name="T0" fmla="*/ 12 w 12"/>
                  <a:gd name="T1" fmla="*/ 928 h 934"/>
                  <a:gd name="T2" fmla="*/ 12 w 12"/>
                  <a:gd name="T3" fmla="*/ 6 h 934"/>
                  <a:gd name="T4" fmla="*/ 6 w 12"/>
                  <a:gd name="T5" fmla="*/ 0 h 934"/>
                  <a:gd name="T6" fmla="*/ 0 w 12"/>
                  <a:gd name="T7" fmla="*/ 6 h 934"/>
                  <a:gd name="T8" fmla="*/ 0 w 12"/>
                  <a:gd name="T9" fmla="*/ 928 h 934"/>
                  <a:gd name="T10" fmla="*/ 6 w 12"/>
                  <a:gd name="T11" fmla="*/ 934 h 934"/>
                  <a:gd name="T12" fmla="*/ 12 w 12"/>
                  <a:gd name="T13" fmla="*/ 928 h 934"/>
                </a:gdLst>
                <a:ahLst/>
                <a:cxnLst>
                  <a:cxn ang="0">
                    <a:pos x="T0" y="T1"/>
                  </a:cxn>
                  <a:cxn ang="0">
                    <a:pos x="T2" y="T3"/>
                  </a:cxn>
                  <a:cxn ang="0">
                    <a:pos x="T4" y="T5"/>
                  </a:cxn>
                  <a:cxn ang="0">
                    <a:pos x="T6" y="T7"/>
                  </a:cxn>
                  <a:cxn ang="0">
                    <a:pos x="T8" y="T9"/>
                  </a:cxn>
                  <a:cxn ang="0">
                    <a:pos x="T10" y="T11"/>
                  </a:cxn>
                  <a:cxn ang="0">
                    <a:pos x="T12" y="T13"/>
                  </a:cxn>
                </a:cxnLst>
                <a:rect l="0" t="0" r="r" b="b"/>
                <a:pathLst>
                  <a:path w="12" h="934">
                    <a:moveTo>
                      <a:pt x="12" y="928"/>
                    </a:moveTo>
                    <a:cubicBezTo>
                      <a:pt x="12" y="6"/>
                      <a:pt x="12" y="6"/>
                      <a:pt x="12" y="6"/>
                    </a:cubicBezTo>
                    <a:cubicBezTo>
                      <a:pt x="12" y="3"/>
                      <a:pt x="9" y="0"/>
                      <a:pt x="6" y="0"/>
                    </a:cubicBezTo>
                    <a:cubicBezTo>
                      <a:pt x="2" y="0"/>
                      <a:pt x="0" y="3"/>
                      <a:pt x="0" y="6"/>
                    </a:cubicBezTo>
                    <a:cubicBezTo>
                      <a:pt x="0" y="928"/>
                      <a:pt x="0" y="928"/>
                      <a:pt x="0" y="928"/>
                    </a:cubicBezTo>
                    <a:cubicBezTo>
                      <a:pt x="0" y="931"/>
                      <a:pt x="2" y="934"/>
                      <a:pt x="6" y="934"/>
                    </a:cubicBezTo>
                    <a:cubicBezTo>
                      <a:pt x="9" y="934"/>
                      <a:pt x="12" y="931"/>
                      <a:pt x="12" y="928"/>
                    </a:cubicBezTo>
                  </a:path>
                </a:pathLst>
              </a:custGeom>
              <a:solidFill>
                <a:schemeClr val="tx1">
                  <a:lumMod val="75000"/>
                  <a:lumOff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5" name="Text_4">
              <a:extLst>
                <a:ext uri="{FF2B5EF4-FFF2-40B4-BE49-F238E27FC236}">
                  <a16:creationId xmlns:a16="http://schemas.microsoft.com/office/drawing/2014/main" id="{9362E0EF-6914-63D9-B442-A54B7BFBE7B9}"/>
                </a:ext>
              </a:extLst>
            </p:cNvPr>
            <p:cNvSpPr/>
            <p:nvPr/>
          </p:nvSpPr>
          <p:spPr>
            <a:xfrm>
              <a:off x="9575400" y="2521250"/>
              <a:ext cx="2090623" cy="1612493"/>
            </a:xfrm>
            <a:prstGeom prst="rect">
              <a:avLst/>
            </a:prstGeom>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sz="2200" dirty="0">
                  <a:solidFill>
                    <a:schemeClr val="bg1"/>
                  </a:solidFill>
                  <a:latin typeface="Open Sans" panose="020B0606030504020204" pitchFamily="34" charset="0"/>
                  <a:ea typeface="Open Sans" panose="020B0606030504020204" pitchFamily="34" charset="0"/>
                  <a:cs typeface="Open Sans" panose="020B0606030504020204" pitchFamily="34" charset="0"/>
                </a:rPr>
                <a:t>Explain what happened to anyone</a:t>
              </a:r>
            </a:p>
          </p:txBody>
        </p:sp>
      </p:grpSp>
      <p:sp>
        <p:nvSpPr>
          <p:cNvPr id="37" name="Brandline_LVC">
            <a:extLst>
              <a:ext uri="{FF2B5EF4-FFF2-40B4-BE49-F238E27FC236}">
                <a16:creationId xmlns:a16="http://schemas.microsoft.com/office/drawing/2014/main" id="{3E0DE462-92A0-10E8-CAF9-276D7DB6F48F}"/>
              </a:ext>
            </a:extLst>
          </p:cNvPr>
          <p:cNvSpPr/>
          <p:nvPr/>
        </p:nvSpPr>
        <p:spPr>
          <a:xfrm>
            <a:off x="4851400" y="816324"/>
            <a:ext cx="656240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261151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A723A-B5E1-FB54-86B8-BFD421BD6DE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37AC845-A104-C48D-24DF-545C1D194D44}"/>
              </a:ext>
            </a:extLst>
          </p:cNvPr>
          <p:cNvSpPr>
            <a:spLocks noGrp="1"/>
          </p:cNvSpPr>
          <p:nvPr>
            <p:ph type="body" idx="10"/>
          </p:nvPr>
        </p:nvSpPr>
        <p:spPr/>
        <p:txBody>
          <a:bodyPr>
            <a:noAutofit/>
          </a:bodyPr>
          <a:lstStyle/>
          <a:p>
            <a:r>
              <a:rPr lang="en-US" dirty="0"/>
              <a:t>If a task usually takes 3 steps and suddenly takes 9, something is wrong. Track both numbers for every task type, every week:</a:t>
            </a:r>
          </a:p>
        </p:txBody>
      </p:sp>
      <p:sp>
        <p:nvSpPr>
          <p:cNvPr id="3" name="Title 2">
            <a:extLst>
              <a:ext uri="{FF2B5EF4-FFF2-40B4-BE49-F238E27FC236}">
                <a16:creationId xmlns:a16="http://schemas.microsoft.com/office/drawing/2014/main" id="{D0A35BD3-268A-41BF-7161-D14EAD5100DE}"/>
              </a:ext>
            </a:extLst>
          </p:cNvPr>
          <p:cNvSpPr>
            <a:spLocks noGrp="1"/>
          </p:cNvSpPr>
          <p:nvPr>
            <p:ph type="title"/>
          </p:nvPr>
        </p:nvSpPr>
        <p:spPr/>
        <p:txBody>
          <a:bodyPr/>
          <a:lstStyle/>
          <a:p>
            <a:r>
              <a:rPr lang="en-US" dirty="0"/>
              <a:t>Two Numbers to Watch: Steps and Cost per Task</a:t>
            </a:r>
          </a:p>
        </p:txBody>
      </p:sp>
      <p:grpSp>
        <p:nvGrpSpPr>
          <p:cNvPr id="18" name="Group 17">
            <a:extLst>
              <a:ext uri="{FF2B5EF4-FFF2-40B4-BE49-F238E27FC236}">
                <a16:creationId xmlns:a16="http://schemas.microsoft.com/office/drawing/2014/main" id="{5D2048A5-27E7-494B-BE0C-DF2BFE7D0FDE}"/>
              </a:ext>
            </a:extLst>
          </p:cNvPr>
          <p:cNvGrpSpPr>
            <a:grpSpLocks noChangeAspect="1"/>
          </p:cNvGrpSpPr>
          <p:nvPr/>
        </p:nvGrpSpPr>
        <p:grpSpPr>
          <a:xfrm>
            <a:off x="1562731" y="4013443"/>
            <a:ext cx="13566434" cy="2852870"/>
            <a:chOff x="211008" y="1820463"/>
            <a:chExt cx="11601001" cy="2081377"/>
          </a:xfrm>
        </p:grpSpPr>
        <p:grpSp>
          <p:nvGrpSpPr>
            <p:cNvPr id="19" name="Graphic 7">
              <a:extLst>
                <a:ext uri="{FF2B5EF4-FFF2-40B4-BE49-F238E27FC236}">
                  <a16:creationId xmlns:a16="http://schemas.microsoft.com/office/drawing/2014/main" id="{99F4D292-24AB-9BC0-13D7-0C08573A16FA}"/>
                </a:ext>
              </a:extLst>
            </p:cNvPr>
            <p:cNvGrpSpPr/>
            <p:nvPr/>
          </p:nvGrpSpPr>
          <p:grpSpPr>
            <a:xfrm>
              <a:off x="211008" y="1820463"/>
              <a:ext cx="1975014" cy="2081377"/>
              <a:chOff x="1339448" y="3842415"/>
              <a:chExt cx="2628743" cy="2770313"/>
            </a:xfrm>
          </p:grpSpPr>
          <p:sp>
            <p:nvSpPr>
              <p:cNvPr id="45" name="Freeform: Shape 44">
                <a:extLst>
                  <a:ext uri="{FF2B5EF4-FFF2-40B4-BE49-F238E27FC236}">
                    <a16:creationId xmlns:a16="http://schemas.microsoft.com/office/drawing/2014/main" id="{B92FAD2C-16B6-1FA7-110C-752FFD03F395}"/>
                  </a:ext>
                </a:extLst>
              </p:cNvPr>
              <p:cNvSpPr/>
              <p:nvPr/>
            </p:nvSpPr>
            <p:spPr>
              <a:xfrm>
                <a:off x="1339448" y="3842415"/>
                <a:ext cx="2628743" cy="1872806"/>
              </a:xfrm>
              <a:custGeom>
                <a:avLst/>
                <a:gdLst>
                  <a:gd name="connsiteX0" fmla="*/ 2533886 w 2628743"/>
                  <a:gd name="connsiteY0" fmla="*/ 1872806 h 1872806"/>
                  <a:gd name="connsiteX1" fmla="*/ 2439019 w 2628743"/>
                  <a:gd name="connsiteY1" fmla="*/ 1777940 h 1872806"/>
                  <a:gd name="connsiteX2" fmla="*/ 2439019 w 2628743"/>
                  <a:gd name="connsiteY2" fmla="*/ 501488 h 1872806"/>
                  <a:gd name="connsiteX3" fmla="*/ 2127379 w 2628743"/>
                  <a:gd name="connsiteY3" fmla="*/ 189729 h 1872806"/>
                  <a:gd name="connsiteX4" fmla="*/ 501373 w 2628743"/>
                  <a:gd name="connsiteY4" fmla="*/ 189729 h 1872806"/>
                  <a:gd name="connsiteX5" fmla="*/ 189733 w 2628743"/>
                  <a:gd name="connsiteY5" fmla="*/ 501488 h 1872806"/>
                  <a:gd name="connsiteX6" fmla="*/ 189733 w 2628743"/>
                  <a:gd name="connsiteY6" fmla="*/ 1777940 h 1872806"/>
                  <a:gd name="connsiteX7" fmla="*/ 94867 w 2628743"/>
                  <a:gd name="connsiteY7" fmla="*/ 1872806 h 1872806"/>
                  <a:gd name="connsiteX8" fmla="*/ 0 w 2628743"/>
                  <a:gd name="connsiteY8" fmla="*/ 1777940 h 1872806"/>
                  <a:gd name="connsiteX9" fmla="*/ 0 w 2628743"/>
                  <a:gd name="connsiteY9" fmla="*/ 501488 h 1872806"/>
                  <a:gd name="connsiteX10" fmla="*/ 501368 w 2628743"/>
                  <a:gd name="connsiteY10" fmla="*/ 0 h 1872806"/>
                  <a:gd name="connsiteX11" fmla="*/ 2127375 w 2628743"/>
                  <a:gd name="connsiteY11" fmla="*/ 0 h 1872806"/>
                  <a:gd name="connsiteX12" fmla="*/ 2628743 w 2628743"/>
                  <a:gd name="connsiteY12" fmla="*/ 501488 h 1872806"/>
                  <a:gd name="connsiteX13" fmla="*/ 2628743 w 2628743"/>
                  <a:gd name="connsiteY13" fmla="*/ 1777940 h 1872806"/>
                  <a:gd name="connsiteX14" fmla="*/ 2533886 w 2628743"/>
                  <a:gd name="connsiteY14" fmla="*/ 1872806 h 187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743" h="1872806">
                    <a:moveTo>
                      <a:pt x="2533886" y="1872806"/>
                    </a:moveTo>
                    <a:cubicBezTo>
                      <a:pt x="2481493" y="1872806"/>
                      <a:pt x="2439019" y="1830333"/>
                      <a:pt x="2439019" y="1777940"/>
                    </a:cubicBezTo>
                    <a:lnTo>
                      <a:pt x="2439019" y="501488"/>
                    </a:lnTo>
                    <a:cubicBezTo>
                      <a:pt x="2439019" y="329586"/>
                      <a:pt x="2299218" y="189729"/>
                      <a:pt x="2127379" y="189729"/>
                    </a:cubicBezTo>
                    <a:lnTo>
                      <a:pt x="501373" y="189729"/>
                    </a:lnTo>
                    <a:cubicBezTo>
                      <a:pt x="329535" y="189729"/>
                      <a:pt x="189733" y="329586"/>
                      <a:pt x="189733" y="501488"/>
                    </a:cubicBezTo>
                    <a:lnTo>
                      <a:pt x="189733" y="1777940"/>
                    </a:lnTo>
                    <a:cubicBezTo>
                      <a:pt x="189733" y="1830333"/>
                      <a:pt x="147260" y="1872806"/>
                      <a:pt x="94867" y="1872806"/>
                    </a:cubicBezTo>
                    <a:cubicBezTo>
                      <a:pt x="42473" y="1872806"/>
                      <a:pt x="0" y="1830333"/>
                      <a:pt x="0" y="1777940"/>
                    </a:cubicBezTo>
                    <a:lnTo>
                      <a:pt x="0" y="501488"/>
                    </a:lnTo>
                    <a:cubicBezTo>
                      <a:pt x="0" y="224970"/>
                      <a:pt x="224915" y="0"/>
                      <a:pt x="501368" y="0"/>
                    </a:cubicBezTo>
                    <a:lnTo>
                      <a:pt x="2127375" y="0"/>
                    </a:lnTo>
                    <a:cubicBezTo>
                      <a:pt x="2403828" y="0"/>
                      <a:pt x="2628743" y="224965"/>
                      <a:pt x="2628743" y="501488"/>
                    </a:cubicBezTo>
                    <a:lnTo>
                      <a:pt x="2628743" y="1777940"/>
                    </a:lnTo>
                    <a:cubicBezTo>
                      <a:pt x="2628752" y="1830333"/>
                      <a:pt x="2586279" y="1872806"/>
                      <a:pt x="2533886" y="1872806"/>
                    </a:cubicBezTo>
                    <a:close/>
                  </a:path>
                </a:pathLst>
              </a:custGeom>
              <a:solidFill>
                <a:srgbClr val="D78989"/>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6" name="Freeform: Shape 45">
                <a:extLst>
                  <a:ext uri="{FF2B5EF4-FFF2-40B4-BE49-F238E27FC236}">
                    <a16:creationId xmlns:a16="http://schemas.microsoft.com/office/drawing/2014/main" id="{F11D2D06-64AA-E196-E73D-990A58DA11A5}"/>
                  </a:ext>
                </a:extLst>
              </p:cNvPr>
              <p:cNvSpPr/>
              <p:nvPr/>
            </p:nvSpPr>
            <p:spPr>
              <a:xfrm>
                <a:off x="1419869" y="5653343"/>
                <a:ext cx="2467905" cy="959385"/>
              </a:xfrm>
              <a:custGeom>
                <a:avLst/>
                <a:gdLst>
                  <a:gd name="connsiteX0" fmla="*/ 1233955 w 2467905"/>
                  <a:gd name="connsiteY0" fmla="*/ 959386 h 959385"/>
                  <a:gd name="connsiteX1" fmla="*/ 1223740 w 2467905"/>
                  <a:gd name="connsiteY1" fmla="*/ 955137 h 959385"/>
                  <a:gd name="connsiteX2" fmla="*/ 1006764 w 2467905"/>
                  <a:gd name="connsiteY2" fmla="*/ 738129 h 959385"/>
                  <a:gd name="connsiteX3" fmla="*/ 420952 w 2467905"/>
                  <a:gd name="connsiteY3" fmla="*/ 738129 h 959385"/>
                  <a:gd name="connsiteX4" fmla="*/ 0 w 2467905"/>
                  <a:gd name="connsiteY4" fmla="*/ 317048 h 959385"/>
                  <a:gd name="connsiteX5" fmla="*/ 0 w 2467905"/>
                  <a:gd name="connsiteY5" fmla="*/ 14450 h 959385"/>
                  <a:gd name="connsiteX6" fmla="*/ 14450 w 2467905"/>
                  <a:gd name="connsiteY6" fmla="*/ 0 h 959385"/>
                  <a:gd name="connsiteX7" fmla="*/ 28896 w 2467905"/>
                  <a:gd name="connsiteY7" fmla="*/ 14450 h 959385"/>
                  <a:gd name="connsiteX8" fmla="*/ 28896 w 2467905"/>
                  <a:gd name="connsiteY8" fmla="*/ 317048 h 959385"/>
                  <a:gd name="connsiteX9" fmla="*/ 420952 w 2467905"/>
                  <a:gd name="connsiteY9" fmla="*/ 709219 h 959385"/>
                  <a:gd name="connsiteX10" fmla="*/ 1012749 w 2467905"/>
                  <a:gd name="connsiteY10" fmla="*/ 709219 h 959385"/>
                  <a:gd name="connsiteX11" fmla="*/ 1022964 w 2467905"/>
                  <a:gd name="connsiteY11" fmla="*/ 713468 h 959385"/>
                  <a:gd name="connsiteX12" fmla="*/ 1233951 w 2467905"/>
                  <a:gd name="connsiteY12" fmla="*/ 924518 h 959385"/>
                  <a:gd name="connsiteX13" fmla="*/ 1444941 w 2467905"/>
                  <a:gd name="connsiteY13" fmla="*/ 713468 h 959385"/>
                  <a:gd name="connsiteX14" fmla="*/ 1455157 w 2467905"/>
                  <a:gd name="connsiteY14" fmla="*/ 709219 h 959385"/>
                  <a:gd name="connsiteX15" fmla="*/ 2046954 w 2467905"/>
                  <a:gd name="connsiteY15" fmla="*/ 709219 h 959385"/>
                  <a:gd name="connsiteX16" fmla="*/ 2439010 w 2467905"/>
                  <a:gd name="connsiteY16" fmla="*/ 317048 h 959385"/>
                  <a:gd name="connsiteX17" fmla="*/ 2439010 w 2467905"/>
                  <a:gd name="connsiteY17" fmla="*/ 14450 h 959385"/>
                  <a:gd name="connsiteX18" fmla="*/ 2453455 w 2467905"/>
                  <a:gd name="connsiteY18" fmla="*/ 0 h 959385"/>
                  <a:gd name="connsiteX19" fmla="*/ 2467906 w 2467905"/>
                  <a:gd name="connsiteY19" fmla="*/ 14450 h 959385"/>
                  <a:gd name="connsiteX20" fmla="*/ 2467906 w 2467905"/>
                  <a:gd name="connsiteY20" fmla="*/ 317048 h 959385"/>
                  <a:gd name="connsiteX21" fmla="*/ 2046954 w 2467905"/>
                  <a:gd name="connsiteY21" fmla="*/ 738129 h 959385"/>
                  <a:gd name="connsiteX22" fmla="*/ 1461151 w 2467905"/>
                  <a:gd name="connsiteY22" fmla="*/ 738129 h 959385"/>
                  <a:gd name="connsiteX23" fmla="*/ 1244175 w 2467905"/>
                  <a:gd name="connsiteY23" fmla="*/ 955137 h 959385"/>
                  <a:gd name="connsiteX24" fmla="*/ 1233955 w 2467905"/>
                  <a:gd name="connsiteY24" fmla="*/ 959386 h 95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67905" h="959385">
                    <a:moveTo>
                      <a:pt x="1233955" y="959386"/>
                    </a:moveTo>
                    <a:cubicBezTo>
                      <a:pt x="1230122" y="959386"/>
                      <a:pt x="1226446" y="957862"/>
                      <a:pt x="1223740" y="955137"/>
                    </a:cubicBezTo>
                    <a:lnTo>
                      <a:pt x="1006764" y="738129"/>
                    </a:lnTo>
                    <a:lnTo>
                      <a:pt x="420952" y="738129"/>
                    </a:lnTo>
                    <a:cubicBezTo>
                      <a:pt x="188837" y="738129"/>
                      <a:pt x="0" y="549245"/>
                      <a:pt x="0" y="317048"/>
                    </a:cubicBezTo>
                    <a:lnTo>
                      <a:pt x="0" y="14450"/>
                    </a:lnTo>
                    <a:cubicBezTo>
                      <a:pt x="0" y="6475"/>
                      <a:pt x="6470" y="0"/>
                      <a:pt x="14450" y="0"/>
                    </a:cubicBezTo>
                    <a:cubicBezTo>
                      <a:pt x="22431" y="0"/>
                      <a:pt x="28896" y="6470"/>
                      <a:pt x="28896" y="14450"/>
                    </a:cubicBezTo>
                    <a:lnTo>
                      <a:pt x="28896" y="317048"/>
                    </a:lnTo>
                    <a:cubicBezTo>
                      <a:pt x="28896" y="533312"/>
                      <a:pt x="204770" y="709219"/>
                      <a:pt x="420952" y="709219"/>
                    </a:cubicBezTo>
                    <a:lnTo>
                      <a:pt x="1012749" y="709219"/>
                    </a:lnTo>
                    <a:cubicBezTo>
                      <a:pt x="1016582" y="709219"/>
                      <a:pt x="1020258" y="710743"/>
                      <a:pt x="1022964" y="713468"/>
                    </a:cubicBezTo>
                    <a:lnTo>
                      <a:pt x="1233951" y="924518"/>
                    </a:lnTo>
                    <a:lnTo>
                      <a:pt x="1444941" y="713468"/>
                    </a:lnTo>
                    <a:cubicBezTo>
                      <a:pt x="1447648" y="710743"/>
                      <a:pt x="1451324" y="709219"/>
                      <a:pt x="1455157" y="709219"/>
                    </a:cubicBezTo>
                    <a:lnTo>
                      <a:pt x="2046954" y="709219"/>
                    </a:lnTo>
                    <a:cubicBezTo>
                      <a:pt x="2263135" y="709219"/>
                      <a:pt x="2439010" y="533312"/>
                      <a:pt x="2439010" y="317048"/>
                    </a:cubicBezTo>
                    <a:lnTo>
                      <a:pt x="2439010" y="14450"/>
                    </a:lnTo>
                    <a:cubicBezTo>
                      <a:pt x="2439010" y="6475"/>
                      <a:pt x="2445475" y="0"/>
                      <a:pt x="2453455" y="0"/>
                    </a:cubicBezTo>
                    <a:cubicBezTo>
                      <a:pt x="2461436" y="0"/>
                      <a:pt x="2467906" y="6470"/>
                      <a:pt x="2467906" y="14450"/>
                    </a:cubicBezTo>
                    <a:lnTo>
                      <a:pt x="2467906" y="317048"/>
                    </a:lnTo>
                    <a:cubicBezTo>
                      <a:pt x="2467906" y="549245"/>
                      <a:pt x="2279064" y="738129"/>
                      <a:pt x="2046954" y="738129"/>
                    </a:cubicBezTo>
                    <a:lnTo>
                      <a:pt x="1461151" y="738129"/>
                    </a:lnTo>
                    <a:lnTo>
                      <a:pt x="1244175" y="955137"/>
                    </a:lnTo>
                    <a:cubicBezTo>
                      <a:pt x="1241464" y="957862"/>
                      <a:pt x="1237788" y="959386"/>
                      <a:pt x="1233955" y="95938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8" name="Freeform: Shape 47">
                <a:extLst>
                  <a:ext uri="{FF2B5EF4-FFF2-40B4-BE49-F238E27FC236}">
                    <a16:creationId xmlns:a16="http://schemas.microsoft.com/office/drawing/2014/main" id="{12800AB5-A72D-4A81-53B5-BE8774B99523}"/>
                  </a:ext>
                </a:extLst>
              </p:cNvPr>
              <p:cNvSpPr/>
              <p:nvPr/>
            </p:nvSpPr>
            <p:spPr>
              <a:xfrm>
                <a:off x="3811463" y="5558471"/>
                <a:ext cx="123734" cy="123767"/>
              </a:xfrm>
              <a:custGeom>
                <a:avLst/>
                <a:gdLst>
                  <a:gd name="connsiteX0" fmla="*/ 61870 w 123734"/>
                  <a:gd name="connsiteY0" fmla="*/ 123767 h 123767"/>
                  <a:gd name="connsiteX1" fmla="*/ 0 w 123734"/>
                  <a:gd name="connsiteY1" fmla="*/ 61883 h 123767"/>
                  <a:gd name="connsiteX2" fmla="*/ 61870 w 123734"/>
                  <a:gd name="connsiteY2" fmla="*/ 0 h 123767"/>
                  <a:gd name="connsiteX3" fmla="*/ 123735 w 123734"/>
                  <a:gd name="connsiteY3" fmla="*/ 61883 h 123767"/>
                  <a:gd name="connsiteX4" fmla="*/ 61870 w 123734"/>
                  <a:gd name="connsiteY4" fmla="*/ 123767 h 123767"/>
                  <a:gd name="connsiteX5" fmla="*/ 61870 w 123734"/>
                  <a:gd name="connsiteY5" fmla="*/ 28896 h 123767"/>
                  <a:gd name="connsiteX6" fmla="*/ 28896 w 123734"/>
                  <a:gd name="connsiteY6" fmla="*/ 61883 h 123767"/>
                  <a:gd name="connsiteX7" fmla="*/ 61870 w 123734"/>
                  <a:gd name="connsiteY7" fmla="*/ 94867 h 123767"/>
                  <a:gd name="connsiteX8" fmla="*/ 94844 w 123734"/>
                  <a:gd name="connsiteY8" fmla="*/ 61883 h 123767"/>
                  <a:gd name="connsiteX9" fmla="*/ 61870 w 123734"/>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34" h="123767">
                    <a:moveTo>
                      <a:pt x="61870" y="123767"/>
                    </a:moveTo>
                    <a:cubicBezTo>
                      <a:pt x="27755" y="123767"/>
                      <a:pt x="0" y="96003"/>
                      <a:pt x="0" y="61883"/>
                    </a:cubicBezTo>
                    <a:cubicBezTo>
                      <a:pt x="0" y="27760"/>
                      <a:pt x="27755" y="0"/>
                      <a:pt x="61870" y="0"/>
                    </a:cubicBezTo>
                    <a:cubicBezTo>
                      <a:pt x="95984" y="0"/>
                      <a:pt x="123735" y="27764"/>
                      <a:pt x="123735" y="61883"/>
                    </a:cubicBezTo>
                    <a:cubicBezTo>
                      <a:pt x="123740" y="96003"/>
                      <a:pt x="95984" y="123767"/>
                      <a:pt x="61870" y="123767"/>
                    </a:cubicBezTo>
                    <a:close/>
                    <a:moveTo>
                      <a:pt x="61870" y="28896"/>
                    </a:moveTo>
                    <a:cubicBezTo>
                      <a:pt x="43688" y="28896"/>
                      <a:pt x="28896" y="43693"/>
                      <a:pt x="28896" y="61883"/>
                    </a:cubicBezTo>
                    <a:cubicBezTo>
                      <a:pt x="28896" y="80070"/>
                      <a:pt x="43688" y="94867"/>
                      <a:pt x="61870" y="94867"/>
                    </a:cubicBezTo>
                    <a:cubicBezTo>
                      <a:pt x="80047" y="94867"/>
                      <a:pt x="94844" y="80070"/>
                      <a:pt x="94844" y="61883"/>
                    </a:cubicBezTo>
                    <a:cubicBezTo>
                      <a:pt x="94844" y="43693"/>
                      <a:pt x="80051" y="28896"/>
                      <a:pt x="61870"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9" name="Freeform: Shape 48">
                <a:extLst>
                  <a:ext uri="{FF2B5EF4-FFF2-40B4-BE49-F238E27FC236}">
                    <a16:creationId xmlns:a16="http://schemas.microsoft.com/office/drawing/2014/main" id="{D7A68507-0B03-B6EE-1EC5-D25C0B40EA7D}"/>
                  </a:ext>
                </a:extLst>
              </p:cNvPr>
              <p:cNvSpPr/>
              <p:nvPr/>
            </p:nvSpPr>
            <p:spPr>
              <a:xfrm>
                <a:off x="1372454" y="5558471"/>
                <a:ext cx="123734" cy="123767"/>
              </a:xfrm>
              <a:custGeom>
                <a:avLst/>
                <a:gdLst>
                  <a:gd name="connsiteX0" fmla="*/ 61865 w 123734"/>
                  <a:gd name="connsiteY0" fmla="*/ 123767 h 123767"/>
                  <a:gd name="connsiteX1" fmla="*/ 0 w 123734"/>
                  <a:gd name="connsiteY1" fmla="*/ 61883 h 123767"/>
                  <a:gd name="connsiteX2" fmla="*/ 61865 w 123734"/>
                  <a:gd name="connsiteY2" fmla="*/ 0 h 123767"/>
                  <a:gd name="connsiteX3" fmla="*/ 123735 w 123734"/>
                  <a:gd name="connsiteY3" fmla="*/ 61883 h 123767"/>
                  <a:gd name="connsiteX4" fmla="*/ 61865 w 123734"/>
                  <a:gd name="connsiteY4" fmla="*/ 123767 h 123767"/>
                  <a:gd name="connsiteX5" fmla="*/ 61865 w 123734"/>
                  <a:gd name="connsiteY5" fmla="*/ 28896 h 123767"/>
                  <a:gd name="connsiteX6" fmla="*/ 28891 w 123734"/>
                  <a:gd name="connsiteY6" fmla="*/ 61883 h 123767"/>
                  <a:gd name="connsiteX7" fmla="*/ 61865 w 123734"/>
                  <a:gd name="connsiteY7" fmla="*/ 94867 h 123767"/>
                  <a:gd name="connsiteX8" fmla="*/ 94839 w 123734"/>
                  <a:gd name="connsiteY8" fmla="*/ 61883 h 123767"/>
                  <a:gd name="connsiteX9" fmla="*/ 61865 w 123734"/>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34" h="123767">
                    <a:moveTo>
                      <a:pt x="61865" y="123767"/>
                    </a:moveTo>
                    <a:cubicBezTo>
                      <a:pt x="27751" y="123767"/>
                      <a:pt x="0" y="96003"/>
                      <a:pt x="0" y="61883"/>
                    </a:cubicBezTo>
                    <a:cubicBezTo>
                      <a:pt x="0" y="27760"/>
                      <a:pt x="27751" y="0"/>
                      <a:pt x="61865" y="0"/>
                    </a:cubicBezTo>
                    <a:cubicBezTo>
                      <a:pt x="95980" y="0"/>
                      <a:pt x="123735" y="27764"/>
                      <a:pt x="123735" y="61883"/>
                    </a:cubicBezTo>
                    <a:cubicBezTo>
                      <a:pt x="123735" y="96003"/>
                      <a:pt x="95980" y="123767"/>
                      <a:pt x="61865" y="123767"/>
                    </a:cubicBezTo>
                    <a:close/>
                    <a:moveTo>
                      <a:pt x="61865" y="28896"/>
                    </a:moveTo>
                    <a:cubicBezTo>
                      <a:pt x="43683" y="28896"/>
                      <a:pt x="28891" y="43693"/>
                      <a:pt x="28891" y="61883"/>
                    </a:cubicBezTo>
                    <a:cubicBezTo>
                      <a:pt x="28891" y="80070"/>
                      <a:pt x="43683" y="94867"/>
                      <a:pt x="61865" y="94867"/>
                    </a:cubicBezTo>
                    <a:cubicBezTo>
                      <a:pt x="80047" y="94867"/>
                      <a:pt x="94839" y="80070"/>
                      <a:pt x="94839" y="61883"/>
                    </a:cubicBezTo>
                    <a:cubicBezTo>
                      <a:pt x="94839" y="43693"/>
                      <a:pt x="80047" y="28896"/>
                      <a:pt x="61865"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grpSp>
        <p:sp>
          <p:nvSpPr>
            <p:cNvPr id="20" name="Text_1">
              <a:extLst>
                <a:ext uri="{FF2B5EF4-FFF2-40B4-BE49-F238E27FC236}">
                  <a16:creationId xmlns:a16="http://schemas.microsoft.com/office/drawing/2014/main" id="{5A4BCB2B-96BE-BC62-B792-5A47121A3965}"/>
                </a:ext>
              </a:extLst>
            </p:cNvPr>
            <p:cNvSpPr txBox="1"/>
            <p:nvPr/>
          </p:nvSpPr>
          <p:spPr>
            <a:xfrm>
              <a:off x="317904" y="2232879"/>
              <a:ext cx="1761221" cy="1185693"/>
            </a:xfrm>
            <a:prstGeom prst="rect">
              <a:avLst/>
            </a:prstGeom>
            <a:noFill/>
          </p:spPr>
          <p:txBody>
            <a:bodyPr wrap="square"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Average steps per task</a:t>
              </a:r>
            </a:p>
          </p:txBody>
        </p:sp>
        <p:grpSp>
          <p:nvGrpSpPr>
            <p:cNvPr id="21" name="Graphic 7">
              <a:extLst>
                <a:ext uri="{FF2B5EF4-FFF2-40B4-BE49-F238E27FC236}">
                  <a16:creationId xmlns:a16="http://schemas.microsoft.com/office/drawing/2014/main" id="{64F403EC-33B7-7BCB-F868-A95D56B343B0}"/>
                </a:ext>
              </a:extLst>
            </p:cNvPr>
            <p:cNvGrpSpPr/>
            <p:nvPr/>
          </p:nvGrpSpPr>
          <p:grpSpPr>
            <a:xfrm>
              <a:off x="2617504" y="1820463"/>
              <a:ext cx="1975014" cy="2081377"/>
              <a:chOff x="4076533" y="3842415"/>
              <a:chExt cx="2628743" cy="2770313"/>
            </a:xfrm>
          </p:grpSpPr>
          <p:sp>
            <p:nvSpPr>
              <p:cNvPr id="41" name="Freeform: Shape 40">
                <a:extLst>
                  <a:ext uri="{FF2B5EF4-FFF2-40B4-BE49-F238E27FC236}">
                    <a16:creationId xmlns:a16="http://schemas.microsoft.com/office/drawing/2014/main" id="{4BE04E54-E108-6E46-113E-257C6000796B}"/>
                  </a:ext>
                </a:extLst>
              </p:cNvPr>
              <p:cNvSpPr/>
              <p:nvPr/>
            </p:nvSpPr>
            <p:spPr>
              <a:xfrm>
                <a:off x="4076533" y="3842415"/>
                <a:ext cx="2628743" cy="1872806"/>
              </a:xfrm>
              <a:custGeom>
                <a:avLst/>
                <a:gdLst>
                  <a:gd name="connsiteX0" fmla="*/ 2533886 w 2628743"/>
                  <a:gd name="connsiteY0" fmla="*/ 1872806 h 1872806"/>
                  <a:gd name="connsiteX1" fmla="*/ 2439028 w 2628743"/>
                  <a:gd name="connsiteY1" fmla="*/ 1777940 h 1872806"/>
                  <a:gd name="connsiteX2" fmla="*/ 2439028 w 2628743"/>
                  <a:gd name="connsiteY2" fmla="*/ 501488 h 1872806"/>
                  <a:gd name="connsiteX3" fmla="*/ 2127393 w 2628743"/>
                  <a:gd name="connsiteY3" fmla="*/ 189729 h 1872806"/>
                  <a:gd name="connsiteX4" fmla="*/ 501373 w 2628743"/>
                  <a:gd name="connsiteY4" fmla="*/ 189729 h 1872806"/>
                  <a:gd name="connsiteX5" fmla="*/ 189733 w 2628743"/>
                  <a:gd name="connsiteY5" fmla="*/ 501488 h 1872806"/>
                  <a:gd name="connsiteX6" fmla="*/ 189733 w 2628743"/>
                  <a:gd name="connsiteY6" fmla="*/ 1777940 h 1872806"/>
                  <a:gd name="connsiteX7" fmla="*/ 94867 w 2628743"/>
                  <a:gd name="connsiteY7" fmla="*/ 1872806 h 1872806"/>
                  <a:gd name="connsiteX8" fmla="*/ 0 w 2628743"/>
                  <a:gd name="connsiteY8" fmla="*/ 1777940 h 1872806"/>
                  <a:gd name="connsiteX9" fmla="*/ 0 w 2628743"/>
                  <a:gd name="connsiteY9" fmla="*/ 501488 h 1872806"/>
                  <a:gd name="connsiteX10" fmla="*/ 501368 w 2628743"/>
                  <a:gd name="connsiteY10" fmla="*/ 0 h 1872806"/>
                  <a:gd name="connsiteX11" fmla="*/ 2127393 w 2628743"/>
                  <a:gd name="connsiteY11" fmla="*/ 0 h 1872806"/>
                  <a:gd name="connsiteX12" fmla="*/ 2628743 w 2628743"/>
                  <a:gd name="connsiteY12" fmla="*/ 501488 h 1872806"/>
                  <a:gd name="connsiteX13" fmla="*/ 2628743 w 2628743"/>
                  <a:gd name="connsiteY13" fmla="*/ 1777940 h 1872806"/>
                  <a:gd name="connsiteX14" fmla="*/ 2533886 w 2628743"/>
                  <a:gd name="connsiteY14" fmla="*/ 1872806 h 187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743" h="1872806">
                    <a:moveTo>
                      <a:pt x="2533886" y="1872806"/>
                    </a:moveTo>
                    <a:cubicBezTo>
                      <a:pt x="2481516" y="1872806"/>
                      <a:pt x="2439028" y="1830333"/>
                      <a:pt x="2439028" y="1777940"/>
                    </a:cubicBezTo>
                    <a:lnTo>
                      <a:pt x="2439028" y="501488"/>
                    </a:lnTo>
                    <a:cubicBezTo>
                      <a:pt x="2439028" y="329586"/>
                      <a:pt x="2299236" y="189729"/>
                      <a:pt x="2127393" y="189729"/>
                    </a:cubicBezTo>
                    <a:lnTo>
                      <a:pt x="501373" y="189729"/>
                    </a:lnTo>
                    <a:cubicBezTo>
                      <a:pt x="329535" y="189729"/>
                      <a:pt x="189733" y="329586"/>
                      <a:pt x="189733" y="501488"/>
                    </a:cubicBezTo>
                    <a:lnTo>
                      <a:pt x="189733" y="1777940"/>
                    </a:lnTo>
                    <a:cubicBezTo>
                      <a:pt x="189733" y="1830333"/>
                      <a:pt x="147260" y="1872806"/>
                      <a:pt x="94867" y="1872806"/>
                    </a:cubicBezTo>
                    <a:cubicBezTo>
                      <a:pt x="42474" y="1872806"/>
                      <a:pt x="0" y="1830333"/>
                      <a:pt x="0" y="1777940"/>
                    </a:cubicBezTo>
                    <a:lnTo>
                      <a:pt x="0" y="501488"/>
                    </a:lnTo>
                    <a:cubicBezTo>
                      <a:pt x="0" y="224970"/>
                      <a:pt x="224910" y="0"/>
                      <a:pt x="501368" y="0"/>
                    </a:cubicBezTo>
                    <a:lnTo>
                      <a:pt x="2127393" y="0"/>
                    </a:lnTo>
                    <a:cubicBezTo>
                      <a:pt x="2403838" y="0"/>
                      <a:pt x="2628743" y="224965"/>
                      <a:pt x="2628743" y="501488"/>
                    </a:cubicBezTo>
                    <a:lnTo>
                      <a:pt x="2628743" y="1777940"/>
                    </a:lnTo>
                    <a:cubicBezTo>
                      <a:pt x="2628743" y="1830333"/>
                      <a:pt x="2586256" y="1872806"/>
                      <a:pt x="2533886" y="1872806"/>
                    </a:cubicBezTo>
                    <a:close/>
                  </a:path>
                </a:pathLst>
              </a:custGeom>
              <a:solidFill>
                <a:srgbClr val="5EA6CA"/>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dirty="0"/>
              </a:p>
            </p:txBody>
          </p:sp>
          <p:sp>
            <p:nvSpPr>
              <p:cNvPr id="42" name="Freeform: Shape 41">
                <a:extLst>
                  <a:ext uri="{FF2B5EF4-FFF2-40B4-BE49-F238E27FC236}">
                    <a16:creationId xmlns:a16="http://schemas.microsoft.com/office/drawing/2014/main" id="{94A311C0-E71C-5CA5-186E-D0912BDA8616}"/>
                  </a:ext>
                </a:extLst>
              </p:cNvPr>
              <p:cNvSpPr/>
              <p:nvPr/>
            </p:nvSpPr>
            <p:spPr>
              <a:xfrm>
                <a:off x="4156954" y="5653343"/>
                <a:ext cx="2467919" cy="959385"/>
              </a:xfrm>
              <a:custGeom>
                <a:avLst/>
                <a:gdLst>
                  <a:gd name="connsiteX0" fmla="*/ 1233941 w 2467919"/>
                  <a:gd name="connsiteY0" fmla="*/ 959386 h 959385"/>
                  <a:gd name="connsiteX1" fmla="*/ 1223735 w 2467919"/>
                  <a:gd name="connsiteY1" fmla="*/ 955137 h 959385"/>
                  <a:gd name="connsiteX2" fmla="*/ 1006768 w 2467919"/>
                  <a:gd name="connsiteY2" fmla="*/ 738129 h 959385"/>
                  <a:gd name="connsiteX3" fmla="*/ 420952 w 2467919"/>
                  <a:gd name="connsiteY3" fmla="*/ 738129 h 959385"/>
                  <a:gd name="connsiteX4" fmla="*/ 0 w 2467919"/>
                  <a:gd name="connsiteY4" fmla="*/ 317048 h 959385"/>
                  <a:gd name="connsiteX5" fmla="*/ 0 w 2467919"/>
                  <a:gd name="connsiteY5" fmla="*/ 14450 h 959385"/>
                  <a:gd name="connsiteX6" fmla="*/ 14450 w 2467919"/>
                  <a:gd name="connsiteY6" fmla="*/ 0 h 959385"/>
                  <a:gd name="connsiteX7" fmla="*/ 28896 w 2467919"/>
                  <a:gd name="connsiteY7" fmla="*/ 14450 h 959385"/>
                  <a:gd name="connsiteX8" fmla="*/ 28896 w 2467919"/>
                  <a:gd name="connsiteY8" fmla="*/ 317048 h 959385"/>
                  <a:gd name="connsiteX9" fmla="*/ 420952 w 2467919"/>
                  <a:gd name="connsiteY9" fmla="*/ 709219 h 959385"/>
                  <a:gd name="connsiteX10" fmla="*/ 1012749 w 2467919"/>
                  <a:gd name="connsiteY10" fmla="*/ 709219 h 959385"/>
                  <a:gd name="connsiteX11" fmla="*/ 1022964 w 2467919"/>
                  <a:gd name="connsiteY11" fmla="*/ 713468 h 959385"/>
                  <a:gd name="connsiteX12" fmla="*/ 1233941 w 2467919"/>
                  <a:gd name="connsiteY12" fmla="*/ 924518 h 959385"/>
                  <a:gd name="connsiteX13" fmla="*/ 1444946 w 2467919"/>
                  <a:gd name="connsiteY13" fmla="*/ 713468 h 959385"/>
                  <a:gd name="connsiteX14" fmla="*/ 1455152 w 2467919"/>
                  <a:gd name="connsiteY14" fmla="*/ 709219 h 959385"/>
                  <a:gd name="connsiteX15" fmla="*/ 2046972 w 2467919"/>
                  <a:gd name="connsiteY15" fmla="*/ 709219 h 959385"/>
                  <a:gd name="connsiteX16" fmla="*/ 2439010 w 2467919"/>
                  <a:gd name="connsiteY16" fmla="*/ 317048 h 959385"/>
                  <a:gd name="connsiteX17" fmla="*/ 2439010 w 2467919"/>
                  <a:gd name="connsiteY17" fmla="*/ 14450 h 959385"/>
                  <a:gd name="connsiteX18" fmla="*/ 2453465 w 2467919"/>
                  <a:gd name="connsiteY18" fmla="*/ 0 h 959385"/>
                  <a:gd name="connsiteX19" fmla="*/ 2467920 w 2467919"/>
                  <a:gd name="connsiteY19" fmla="*/ 14450 h 959385"/>
                  <a:gd name="connsiteX20" fmla="*/ 2467920 w 2467919"/>
                  <a:gd name="connsiteY20" fmla="*/ 317048 h 959385"/>
                  <a:gd name="connsiteX21" fmla="*/ 2046972 w 2467919"/>
                  <a:gd name="connsiteY21" fmla="*/ 738129 h 959385"/>
                  <a:gd name="connsiteX22" fmla="*/ 1461156 w 2467919"/>
                  <a:gd name="connsiteY22" fmla="*/ 738129 h 959385"/>
                  <a:gd name="connsiteX23" fmla="*/ 1244148 w 2467919"/>
                  <a:gd name="connsiteY23" fmla="*/ 955137 h 959385"/>
                  <a:gd name="connsiteX24" fmla="*/ 1233941 w 2467919"/>
                  <a:gd name="connsiteY24" fmla="*/ 959386 h 95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67919" h="959385">
                    <a:moveTo>
                      <a:pt x="1233941" y="959386"/>
                    </a:moveTo>
                    <a:cubicBezTo>
                      <a:pt x="1230108" y="959386"/>
                      <a:pt x="1226460" y="957862"/>
                      <a:pt x="1223735" y="955137"/>
                    </a:cubicBezTo>
                    <a:lnTo>
                      <a:pt x="1006768" y="738129"/>
                    </a:lnTo>
                    <a:lnTo>
                      <a:pt x="420952" y="738129"/>
                    </a:lnTo>
                    <a:cubicBezTo>
                      <a:pt x="188838" y="738129"/>
                      <a:pt x="0" y="549245"/>
                      <a:pt x="0" y="317048"/>
                    </a:cubicBezTo>
                    <a:lnTo>
                      <a:pt x="0" y="14450"/>
                    </a:lnTo>
                    <a:cubicBezTo>
                      <a:pt x="0" y="6475"/>
                      <a:pt x="6470" y="0"/>
                      <a:pt x="14450" y="0"/>
                    </a:cubicBezTo>
                    <a:cubicBezTo>
                      <a:pt x="22430" y="0"/>
                      <a:pt x="28896" y="6470"/>
                      <a:pt x="28896" y="14450"/>
                    </a:cubicBezTo>
                    <a:lnTo>
                      <a:pt x="28896" y="317048"/>
                    </a:lnTo>
                    <a:cubicBezTo>
                      <a:pt x="28896" y="533312"/>
                      <a:pt x="204770" y="709219"/>
                      <a:pt x="420952" y="709219"/>
                    </a:cubicBezTo>
                    <a:lnTo>
                      <a:pt x="1012749" y="709219"/>
                    </a:lnTo>
                    <a:cubicBezTo>
                      <a:pt x="1016582" y="709219"/>
                      <a:pt x="1020258" y="710743"/>
                      <a:pt x="1022964" y="713468"/>
                    </a:cubicBezTo>
                    <a:lnTo>
                      <a:pt x="1233941" y="924518"/>
                    </a:lnTo>
                    <a:lnTo>
                      <a:pt x="1444946" y="713468"/>
                    </a:lnTo>
                    <a:cubicBezTo>
                      <a:pt x="1447671" y="710743"/>
                      <a:pt x="1451319" y="709219"/>
                      <a:pt x="1455152" y="709219"/>
                    </a:cubicBezTo>
                    <a:lnTo>
                      <a:pt x="2046972" y="709219"/>
                    </a:lnTo>
                    <a:cubicBezTo>
                      <a:pt x="2263150" y="709219"/>
                      <a:pt x="2439010" y="533312"/>
                      <a:pt x="2439010" y="317048"/>
                    </a:cubicBezTo>
                    <a:lnTo>
                      <a:pt x="2439010" y="14450"/>
                    </a:lnTo>
                    <a:cubicBezTo>
                      <a:pt x="2439010" y="6475"/>
                      <a:pt x="2445475" y="0"/>
                      <a:pt x="2453465" y="0"/>
                    </a:cubicBezTo>
                    <a:cubicBezTo>
                      <a:pt x="2461454" y="0"/>
                      <a:pt x="2467920" y="6470"/>
                      <a:pt x="2467920" y="14450"/>
                    </a:cubicBezTo>
                    <a:lnTo>
                      <a:pt x="2467920" y="317048"/>
                    </a:lnTo>
                    <a:cubicBezTo>
                      <a:pt x="2467920" y="549245"/>
                      <a:pt x="2279082" y="738129"/>
                      <a:pt x="2046972" y="738129"/>
                    </a:cubicBezTo>
                    <a:lnTo>
                      <a:pt x="1461156" y="738129"/>
                    </a:lnTo>
                    <a:lnTo>
                      <a:pt x="1244148" y="955137"/>
                    </a:lnTo>
                    <a:cubicBezTo>
                      <a:pt x="1241469" y="957862"/>
                      <a:pt x="1237775" y="959386"/>
                      <a:pt x="1233941" y="95938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3" name="Freeform: Shape 42">
                <a:extLst>
                  <a:ext uri="{FF2B5EF4-FFF2-40B4-BE49-F238E27FC236}">
                    <a16:creationId xmlns:a16="http://schemas.microsoft.com/office/drawing/2014/main" id="{622AA77D-8BE1-C338-2960-FF8B1EA2498C}"/>
                  </a:ext>
                </a:extLst>
              </p:cNvPr>
              <p:cNvSpPr/>
              <p:nvPr/>
            </p:nvSpPr>
            <p:spPr>
              <a:xfrm>
                <a:off x="6548535" y="5558471"/>
                <a:ext cx="123767" cy="123767"/>
              </a:xfrm>
              <a:custGeom>
                <a:avLst/>
                <a:gdLst>
                  <a:gd name="connsiteX0" fmla="*/ 61884 w 123767"/>
                  <a:gd name="connsiteY0" fmla="*/ 123767 h 123767"/>
                  <a:gd name="connsiteX1" fmla="*/ 0 w 123767"/>
                  <a:gd name="connsiteY1" fmla="*/ 61883 h 123767"/>
                  <a:gd name="connsiteX2" fmla="*/ 61884 w 123767"/>
                  <a:gd name="connsiteY2" fmla="*/ 0 h 123767"/>
                  <a:gd name="connsiteX3" fmla="*/ 123768 w 123767"/>
                  <a:gd name="connsiteY3" fmla="*/ 61883 h 123767"/>
                  <a:gd name="connsiteX4" fmla="*/ 61884 w 123767"/>
                  <a:gd name="connsiteY4" fmla="*/ 123767 h 123767"/>
                  <a:gd name="connsiteX5" fmla="*/ 61884 w 123767"/>
                  <a:gd name="connsiteY5" fmla="*/ 28896 h 123767"/>
                  <a:gd name="connsiteX6" fmla="*/ 28910 w 123767"/>
                  <a:gd name="connsiteY6" fmla="*/ 61883 h 123767"/>
                  <a:gd name="connsiteX7" fmla="*/ 61884 w 123767"/>
                  <a:gd name="connsiteY7" fmla="*/ 94867 h 123767"/>
                  <a:gd name="connsiteX8" fmla="*/ 94858 w 123767"/>
                  <a:gd name="connsiteY8" fmla="*/ 61883 h 123767"/>
                  <a:gd name="connsiteX9" fmla="*/ 61884 w 123767"/>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67" h="123767">
                    <a:moveTo>
                      <a:pt x="61884" y="123767"/>
                    </a:moveTo>
                    <a:cubicBezTo>
                      <a:pt x="27755" y="123767"/>
                      <a:pt x="0" y="96003"/>
                      <a:pt x="0" y="61883"/>
                    </a:cubicBezTo>
                    <a:cubicBezTo>
                      <a:pt x="0" y="27760"/>
                      <a:pt x="27755" y="0"/>
                      <a:pt x="61884" y="0"/>
                    </a:cubicBezTo>
                    <a:cubicBezTo>
                      <a:pt x="96012" y="0"/>
                      <a:pt x="123768" y="27764"/>
                      <a:pt x="123768" y="61883"/>
                    </a:cubicBezTo>
                    <a:cubicBezTo>
                      <a:pt x="123768" y="96003"/>
                      <a:pt x="96012" y="123767"/>
                      <a:pt x="61884" y="123767"/>
                    </a:cubicBezTo>
                    <a:close/>
                    <a:moveTo>
                      <a:pt x="61884" y="28896"/>
                    </a:moveTo>
                    <a:cubicBezTo>
                      <a:pt x="43688" y="28896"/>
                      <a:pt x="28910" y="43693"/>
                      <a:pt x="28910" y="61883"/>
                    </a:cubicBezTo>
                    <a:cubicBezTo>
                      <a:pt x="28910" y="80070"/>
                      <a:pt x="43688" y="94867"/>
                      <a:pt x="61884" y="94867"/>
                    </a:cubicBezTo>
                    <a:cubicBezTo>
                      <a:pt x="80079" y="94867"/>
                      <a:pt x="94858" y="80070"/>
                      <a:pt x="94858" y="61883"/>
                    </a:cubicBezTo>
                    <a:cubicBezTo>
                      <a:pt x="94858" y="43693"/>
                      <a:pt x="80079" y="28896"/>
                      <a:pt x="61884"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4" name="Freeform: Shape 43">
                <a:extLst>
                  <a:ext uri="{FF2B5EF4-FFF2-40B4-BE49-F238E27FC236}">
                    <a16:creationId xmlns:a16="http://schemas.microsoft.com/office/drawing/2014/main" id="{D8EC3D62-30D6-45C4-F672-1B7DE702A0F7}"/>
                  </a:ext>
                </a:extLst>
              </p:cNvPr>
              <p:cNvSpPr/>
              <p:nvPr/>
            </p:nvSpPr>
            <p:spPr>
              <a:xfrm>
                <a:off x="4109539" y="5558471"/>
                <a:ext cx="123734" cy="123767"/>
              </a:xfrm>
              <a:custGeom>
                <a:avLst/>
                <a:gdLst>
                  <a:gd name="connsiteX0" fmla="*/ 61865 w 123734"/>
                  <a:gd name="connsiteY0" fmla="*/ 123767 h 123767"/>
                  <a:gd name="connsiteX1" fmla="*/ 0 w 123734"/>
                  <a:gd name="connsiteY1" fmla="*/ 61883 h 123767"/>
                  <a:gd name="connsiteX2" fmla="*/ 61865 w 123734"/>
                  <a:gd name="connsiteY2" fmla="*/ 0 h 123767"/>
                  <a:gd name="connsiteX3" fmla="*/ 123735 w 123734"/>
                  <a:gd name="connsiteY3" fmla="*/ 61883 h 123767"/>
                  <a:gd name="connsiteX4" fmla="*/ 61865 w 123734"/>
                  <a:gd name="connsiteY4" fmla="*/ 123767 h 123767"/>
                  <a:gd name="connsiteX5" fmla="*/ 61865 w 123734"/>
                  <a:gd name="connsiteY5" fmla="*/ 28896 h 123767"/>
                  <a:gd name="connsiteX6" fmla="*/ 28891 w 123734"/>
                  <a:gd name="connsiteY6" fmla="*/ 61883 h 123767"/>
                  <a:gd name="connsiteX7" fmla="*/ 61865 w 123734"/>
                  <a:gd name="connsiteY7" fmla="*/ 94867 h 123767"/>
                  <a:gd name="connsiteX8" fmla="*/ 94839 w 123734"/>
                  <a:gd name="connsiteY8" fmla="*/ 61883 h 123767"/>
                  <a:gd name="connsiteX9" fmla="*/ 61865 w 123734"/>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34" h="123767">
                    <a:moveTo>
                      <a:pt x="61865" y="123767"/>
                    </a:moveTo>
                    <a:cubicBezTo>
                      <a:pt x="27751" y="123767"/>
                      <a:pt x="0" y="96003"/>
                      <a:pt x="0" y="61883"/>
                    </a:cubicBezTo>
                    <a:cubicBezTo>
                      <a:pt x="0" y="27760"/>
                      <a:pt x="27751" y="0"/>
                      <a:pt x="61865" y="0"/>
                    </a:cubicBezTo>
                    <a:cubicBezTo>
                      <a:pt x="95979" y="0"/>
                      <a:pt x="123735" y="27764"/>
                      <a:pt x="123735" y="61883"/>
                    </a:cubicBezTo>
                    <a:cubicBezTo>
                      <a:pt x="123735" y="96003"/>
                      <a:pt x="95979" y="123767"/>
                      <a:pt x="61865" y="123767"/>
                    </a:cubicBezTo>
                    <a:close/>
                    <a:moveTo>
                      <a:pt x="61865" y="28896"/>
                    </a:moveTo>
                    <a:cubicBezTo>
                      <a:pt x="43688" y="28896"/>
                      <a:pt x="28891" y="43693"/>
                      <a:pt x="28891" y="61883"/>
                    </a:cubicBezTo>
                    <a:cubicBezTo>
                      <a:pt x="28891" y="80070"/>
                      <a:pt x="43683" y="94867"/>
                      <a:pt x="61865" y="94867"/>
                    </a:cubicBezTo>
                    <a:cubicBezTo>
                      <a:pt x="80047" y="94867"/>
                      <a:pt x="94839" y="80070"/>
                      <a:pt x="94839" y="61883"/>
                    </a:cubicBezTo>
                    <a:cubicBezTo>
                      <a:pt x="94839" y="43693"/>
                      <a:pt x="80047" y="28896"/>
                      <a:pt x="61865"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grpSp>
        <p:sp>
          <p:nvSpPr>
            <p:cNvPr id="22" name="Text_2">
              <a:extLst>
                <a:ext uri="{FF2B5EF4-FFF2-40B4-BE49-F238E27FC236}">
                  <a16:creationId xmlns:a16="http://schemas.microsoft.com/office/drawing/2014/main" id="{1C1E64DD-960B-C934-FF95-4C55A8002A32}"/>
                </a:ext>
              </a:extLst>
            </p:cNvPr>
            <p:cNvSpPr txBox="1"/>
            <p:nvPr/>
          </p:nvSpPr>
          <p:spPr>
            <a:xfrm>
              <a:off x="2842149" y="2375868"/>
              <a:ext cx="1406496" cy="901644"/>
            </a:xfrm>
            <a:prstGeom prst="rect">
              <a:avLst/>
            </a:prstGeom>
            <a:noFill/>
          </p:spPr>
          <p:txBody>
            <a:bodyPr wrap="square"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Cost per task</a:t>
              </a:r>
            </a:p>
          </p:txBody>
        </p:sp>
        <p:grpSp>
          <p:nvGrpSpPr>
            <p:cNvPr id="23" name="Graphic 7">
              <a:extLst>
                <a:ext uri="{FF2B5EF4-FFF2-40B4-BE49-F238E27FC236}">
                  <a16:creationId xmlns:a16="http://schemas.microsoft.com/office/drawing/2014/main" id="{23E1CEB0-C9D9-CACE-2429-9274AC824A17}"/>
                </a:ext>
              </a:extLst>
            </p:cNvPr>
            <p:cNvGrpSpPr/>
            <p:nvPr/>
          </p:nvGrpSpPr>
          <p:grpSpPr>
            <a:xfrm>
              <a:off x="5024000" y="1820463"/>
              <a:ext cx="1975027" cy="2081377"/>
              <a:chOff x="6813619" y="3842415"/>
              <a:chExt cx="2628761" cy="2770313"/>
            </a:xfrm>
          </p:grpSpPr>
          <p:sp>
            <p:nvSpPr>
              <p:cNvPr id="37" name="Freeform: Shape 36">
                <a:extLst>
                  <a:ext uri="{FF2B5EF4-FFF2-40B4-BE49-F238E27FC236}">
                    <a16:creationId xmlns:a16="http://schemas.microsoft.com/office/drawing/2014/main" id="{553D8CB1-A9A9-BC60-32A4-34BABBCA9736}"/>
                  </a:ext>
                </a:extLst>
              </p:cNvPr>
              <p:cNvSpPr/>
              <p:nvPr/>
            </p:nvSpPr>
            <p:spPr>
              <a:xfrm>
                <a:off x="6813619" y="3842415"/>
                <a:ext cx="2628761" cy="1872806"/>
              </a:xfrm>
              <a:custGeom>
                <a:avLst/>
                <a:gdLst>
                  <a:gd name="connsiteX0" fmla="*/ 2533904 w 2628761"/>
                  <a:gd name="connsiteY0" fmla="*/ 1872806 h 1872806"/>
                  <a:gd name="connsiteX1" fmla="*/ 2439047 w 2628761"/>
                  <a:gd name="connsiteY1" fmla="*/ 1777940 h 1872806"/>
                  <a:gd name="connsiteX2" fmla="*/ 2439047 w 2628761"/>
                  <a:gd name="connsiteY2" fmla="*/ 501488 h 1872806"/>
                  <a:gd name="connsiteX3" fmla="*/ 2127412 w 2628761"/>
                  <a:gd name="connsiteY3" fmla="*/ 189729 h 1872806"/>
                  <a:gd name="connsiteX4" fmla="*/ 501396 w 2628761"/>
                  <a:gd name="connsiteY4" fmla="*/ 189729 h 1872806"/>
                  <a:gd name="connsiteX5" fmla="*/ 189761 w 2628761"/>
                  <a:gd name="connsiteY5" fmla="*/ 501488 h 1872806"/>
                  <a:gd name="connsiteX6" fmla="*/ 189761 w 2628761"/>
                  <a:gd name="connsiteY6" fmla="*/ 1777940 h 1872806"/>
                  <a:gd name="connsiteX7" fmla="*/ 94858 w 2628761"/>
                  <a:gd name="connsiteY7" fmla="*/ 1872806 h 1872806"/>
                  <a:gd name="connsiteX8" fmla="*/ 0 w 2628761"/>
                  <a:gd name="connsiteY8" fmla="*/ 1777940 h 1872806"/>
                  <a:gd name="connsiteX9" fmla="*/ 0 w 2628761"/>
                  <a:gd name="connsiteY9" fmla="*/ 501488 h 1872806"/>
                  <a:gd name="connsiteX10" fmla="*/ 501396 w 2628761"/>
                  <a:gd name="connsiteY10" fmla="*/ 0 h 1872806"/>
                  <a:gd name="connsiteX11" fmla="*/ 2127412 w 2628761"/>
                  <a:gd name="connsiteY11" fmla="*/ 0 h 1872806"/>
                  <a:gd name="connsiteX12" fmla="*/ 2628761 w 2628761"/>
                  <a:gd name="connsiteY12" fmla="*/ 501488 h 1872806"/>
                  <a:gd name="connsiteX13" fmla="*/ 2628761 w 2628761"/>
                  <a:gd name="connsiteY13" fmla="*/ 1777940 h 1872806"/>
                  <a:gd name="connsiteX14" fmla="*/ 2533904 w 2628761"/>
                  <a:gd name="connsiteY14" fmla="*/ 1872806 h 187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761" h="1872806">
                    <a:moveTo>
                      <a:pt x="2533904" y="1872806"/>
                    </a:moveTo>
                    <a:cubicBezTo>
                      <a:pt x="2481488" y="1872806"/>
                      <a:pt x="2439047" y="1830333"/>
                      <a:pt x="2439047" y="1777940"/>
                    </a:cubicBezTo>
                    <a:lnTo>
                      <a:pt x="2439047" y="501488"/>
                    </a:lnTo>
                    <a:cubicBezTo>
                      <a:pt x="2439047" y="329586"/>
                      <a:pt x="2299208" y="189729"/>
                      <a:pt x="2127412" y="189729"/>
                    </a:cubicBezTo>
                    <a:lnTo>
                      <a:pt x="501396" y="189729"/>
                    </a:lnTo>
                    <a:cubicBezTo>
                      <a:pt x="329553" y="189729"/>
                      <a:pt x="189761" y="329586"/>
                      <a:pt x="189761" y="501488"/>
                    </a:cubicBezTo>
                    <a:lnTo>
                      <a:pt x="189761" y="1777940"/>
                    </a:lnTo>
                    <a:cubicBezTo>
                      <a:pt x="189761" y="1830333"/>
                      <a:pt x="147274" y="1872806"/>
                      <a:pt x="94858" y="1872806"/>
                    </a:cubicBezTo>
                    <a:cubicBezTo>
                      <a:pt x="42487" y="1872806"/>
                      <a:pt x="0" y="1830333"/>
                      <a:pt x="0" y="1777940"/>
                    </a:cubicBezTo>
                    <a:lnTo>
                      <a:pt x="0" y="501488"/>
                    </a:lnTo>
                    <a:cubicBezTo>
                      <a:pt x="0" y="224970"/>
                      <a:pt x="224905" y="0"/>
                      <a:pt x="501396" y="0"/>
                    </a:cubicBezTo>
                    <a:lnTo>
                      <a:pt x="2127412" y="0"/>
                    </a:lnTo>
                    <a:cubicBezTo>
                      <a:pt x="2403856" y="0"/>
                      <a:pt x="2628761" y="224965"/>
                      <a:pt x="2628761" y="501488"/>
                    </a:cubicBezTo>
                    <a:lnTo>
                      <a:pt x="2628761" y="1777940"/>
                    </a:lnTo>
                    <a:cubicBezTo>
                      <a:pt x="2628761" y="1830333"/>
                      <a:pt x="2586274" y="1872806"/>
                      <a:pt x="2533904" y="1872806"/>
                    </a:cubicBezTo>
                    <a:close/>
                  </a:path>
                </a:pathLst>
              </a:custGeom>
              <a:solidFill>
                <a:srgbClr val="A5A832"/>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8" name="Freeform: Shape 37">
                <a:extLst>
                  <a:ext uri="{FF2B5EF4-FFF2-40B4-BE49-F238E27FC236}">
                    <a16:creationId xmlns:a16="http://schemas.microsoft.com/office/drawing/2014/main" id="{951BFA73-6728-3F98-29B9-9B3BA6DB3533}"/>
                  </a:ext>
                </a:extLst>
              </p:cNvPr>
              <p:cNvSpPr/>
              <p:nvPr/>
            </p:nvSpPr>
            <p:spPr>
              <a:xfrm>
                <a:off x="6894068" y="5653343"/>
                <a:ext cx="2467909" cy="959385"/>
              </a:xfrm>
              <a:custGeom>
                <a:avLst/>
                <a:gdLst>
                  <a:gd name="connsiteX0" fmla="*/ 1233932 w 2467909"/>
                  <a:gd name="connsiteY0" fmla="*/ 959386 h 959385"/>
                  <a:gd name="connsiteX1" fmla="*/ 1223726 w 2467909"/>
                  <a:gd name="connsiteY1" fmla="*/ 955137 h 959385"/>
                  <a:gd name="connsiteX2" fmla="*/ 1006764 w 2467909"/>
                  <a:gd name="connsiteY2" fmla="*/ 738129 h 959385"/>
                  <a:gd name="connsiteX3" fmla="*/ 420947 w 2467909"/>
                  <a:gd name="connsiteY3" fmla="*/ 738129 h 959385"/>
                  <a:gd name="connsiteX4" fmla="*/ 0 w 2467909"/>
                  <a:gd name="connsiteY4" fmla="*/ 317048 h 959385"/>
                  <a:gd name="connsiteX5" fmla="*/ 0 w 2467909"/>
                  <a:gd name="connsiteY5" fmla="*/ 14450 h 959385"/>
                  <a:gd name="connsiteX6" fmla="*/ 14409 w 2467909"/>
                  <a:gd name="connsiteY6" fmla="*/ 0 h 959385"/>
                  <a:gd name="connsiteX7" fmla="*/ 28864 w 2467909"/>
                  <a:gd name="connsiteY7" fmla="*/ 14450 h 959385"/>
                  <a:gd name="connsiteX8" fmla="*/ 28864 w 2467909"/>
                  <a:gd name="connsiteY8" fmla="*/ 317048 h 959385"/>
                  <a:gd name="connsiteX9" fmla="*/ 420947 w 2467909"/>
                  <a:gd name="connsiteY9" fmla="*/ 709219 h 959385"/>
                  <a:gd name="connsiteX10" fmla="*/ 1012721 w 2467909"/>
                  <a:gd name="connsiteY10" fmla="*/ 709219 h 959385"/>
                  <a:gd name="connsiteX11" fmla="*/ 1022927 w 2467909"/>
                  <a:gd name="connsiteY11" fmla="*/ 713468 h 959385"/>
                  <a:gd name="connsiteX12" fmla="*/ 1233932 w 2467909"/>
                  <a:gd name="connsiteY12" fmla="*/ 924518 h 959385"/>
                  <a:gd name="connsiteX13" fmla="*/ 1444936 w 2467909"/>
                  <a:gd name="connsiteY13" fmla="*/ 713468 h 959385"/>
                  <a:gd name="connsiteX14" fmla="*/ 1455143 w 2467909"/>
                  <a:gd name="connsiteY14" fmla="*/ 709219 h 959385"/>
                  <a:gd name="connsiteX15" fmla="*/ 2046963 w 2467909"/>
                  <a:gd name="connsiteY15" fmla="*/ 709219 h 959385"/>
                  <a:gd name="connsiteX16" fmla="*/ 2439000 w 2467909"/>
                  <a:gd name="connsiteY16" fmla="*/ 317048 h 959385"/>
                  <a:gd name="connsiteX17" fmla="*/ 2439000 w 2467909"/>
                  <a:gd name="connsiteY17" fmla="*/ 14450 h 959385"/>
                  <a:gd name="connsiteX18" fmla="*/ 2453455 w 2467909"/>
                  <a:gd name="connsiteY18" fmla="*/ 0 h 959385"/>
                  <a:gd name="connsiteX19" fmla="*/ 2467910 w 2467909"/>
                  <a:gd name="connsiteY19" fmla="*/ 14450 h 959385"/>
                  <a:gd name="connsiteX20" fmla="*/ 2467910 w 2467909"/>
                  <a:gd name="connsiteY20" fmla="*/ 317048 h 959385"/>
                  <a:gd name="connsiteX21" fmla="*/ 2046963 w 2467909"/>
                  <a:gd name="connsiteY21" fmla="*/ 738129 h 959385"/>
                  <a:gd name="connsiteX22" fmla="*/ 1461146 w 2467909"/>
                  <a:gd name="connsiteY22" fmla="*/ 738129 h 959385"/>
                  <a:gd name="connsiteX23" fmla="*/ 1244138 w 2467909"/>
                  <a:gd name="connsiteY23" fmla="*/ 955137 h 959385"/>
                  <a:gd name="connsiteX24" fmla="*/ 1233932 w 2467909"/>
                  <a:gd name="connsiteY24" fmla="*/ 959386 h 95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67909" h="959385">
                    <a:moveTo>
                      <a:pt x="1233932" y="959386"/>
                    </a:moveTo>
                    <a:cubicBezTo>
                      <a:pt x="1230099" y="959386"/>
                      <a:pt x="1226404" y="957862"/>
                      <a:pt x="1223726" y="955137"/>
                    </a:cubicBezTo>
                    <a:lnTo>
                      <a:pt x="1006764" y="738129"/>
                    </a:lnTo>
                    <a:lnTo>
                      <a:pt x="420947" y="738129"/>
                    </a:lnTo>
                    <a:cubicBezTo>
                      <a:pt x="188791" y="738129"/>
                      <a:pt x="0" y="549245"/>
                      <a:pt x="0" y="317048"/>
                    </a:cubicBezTo>
                    <a:lnTo>
                      <a:pt x="0" y="14450"/>
                    </a:lnTo>
                    <a:cubicBezTo>
                      <a:pt x="0" y="6475"/>
                      <a:pt x="6465" y="0"/>
                      <a:pt x="14409" y="0"/>
                    </a:cubicBezTo>
                    <a:cubicBezTo>
                      <a:pt x="22398" y="0"/>
                      <a:pt x="28864" y="6470"/>
                      <a:pt x="28864" y="14450"/>
                    </a:cubicBezTo>
                    <a:lnTo>
                      <a:pt x="28864" y="317048"/>
                    </a:lnTo>
                    <a:cubicBezTo>
                      <a:pt x="28864" y="533312"/>
                      <a:pt x="204770" y="709219"/>
                      <a:pt x="420947" y="709219"/>
                    </a:cubicBezTo>
                    <a:lnTo>
                      <a:pt x="1012721" y="709219"/>
                    </a:lnTo>
                    <a:cubicBezTo>
                      <a:pt x="1016554" y="709219"/>
                      <a:pt x="1020248" y="710743"/>
                      <a:pt x="1022927" y="713468"/>
                    </a:cubicBezTo>
                    <a:lnTo>
                      <a:pt x="1233932" y="924518"/>
                    </a:lnTo>
                    <a:lnTo>
                      <a:pt x="1444936" y="713468"/>
                    </a:lnTo>
                    <a:cubicBezTo>
                      <a:pt x="1447661" y="710743"/>
                      <a:pt x="1451309" y="709219"/>
                      <a:pt x="1455143" y="709219"/>
                    </a:cubicBezTo>
                    <a:lnTo>
                      <a:pt x="2046963" y="709219"/>
                    </a:lnTo>
                    <a:cubicBezTo>
                      <a:pt x="2263140" y="709219"/>
                      <a:pt x="2439000" y="533312"/>
                      <a:pt x="2439000" y="317048"/>
                    </a:cubicBezTo>
                    <a:lnTo>
                      <a:pt x="2439000" y="14450"/>
                    </a:lnTo>
                    <a:cubicBezTo>
                      <a:pt x="2439000" y="6475"/>
                      <a:pt x="2445466" y="0"/>
                      <a:pt x="2453455" y="0"/>
                    </a:cubicBezTo>
                    <a:cubicBezTo>
                      <a:pt x="2461445" y="0"/>
                      <a:pt x="2467910" y="6470"/>
                      <a:pt x="2467910" y="14450"/>
                    </a:cubicBezTo>
                    <a:lnTo>
                      <a:pt x="2467910" y="317048"/>
                    </a:lnTo>
                    <a:cubicBezTo>
                      <a:pt x="2467910" y="549245"/>
                      <a:pt x="2279073" y="738129"/>
                      <a:pt x="2046963" y="738129"/>
                    </a:cubicBezTo>
                    <a:lnTo>
                      <a:pt x="1461146" y="738129"/>
                    </a:lnTo>
                    <a:lnTo>
                      <a:pt x="1244138" y="955137"/>
                    </a:lnTo>
                    <a:cubicBezTo>
                      <a:pt x="1241459" y="957862"/>
                      <a:pt x="1237765" y="959386"/>
                      <a:pt x="1233932" y="95938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9" name="Freeform: Shape 38">
                <a:extLst>
                  <a:ext uri="{FF2B5EF4-FFF2-40B4-BE49-F238E27FC236}">
                    <a16:creationId xmlns:a16="http://schemas.microsoft.com/office/drawing/2014/main" id="{3E9E3D82-89FB-863A-CB13-E73CB901DD42}"/>
                  </a:ext>
                </a:extLst>
              </p:cNvPr>
              <p:cNvSpPr/>
              <p:nvPr/>
            </p:nvSpPr>
            <p:spPr>
              <a:xfrm>
                <a:off x="9285639" y="5558471"/>
                <a:ext cx="123720" cy="123767"/>
              </a:xfrm>
              <a:custGeom>
                <a:avLst/>
                <a:gdLst>
                  <a:gd name="connsiteX0" fmla="*/ 61883 w 123720"/>
                  <a:gd name="connsiteY0" fmla="*/ 123767 h 123767"/>
                  <a:gd name="connsiteX1" fmla="*/ 0 w 123720"/>
                  <a:gd name="connsiteY1" fmla="*/ 61883 h 123767"/>
                  <a:gd name="connsiteX2" fmla="*/ 61883 w 123720"/>
                  <a:gd name="connsiteY2" fmla="*/ 0 h 123767"/>
                  <a:gd name="connsiteX3" fmla="*/ 123721 w 123720"/>
                  <a:gd name="connsiteY3" fmla="*/ 61883 h 123767"/>
                  <a:gd name="connsiteX4" fmla="*/ 61883 w 123720"/>
                  <a:gd name="connsiteY4" fmla="*/ 123767 h 123767"/>
                  <a:gd name="connsiteX5" fmla="*/ 61883 w 123720"/>
                  <a:gd name="connsiteY5" fmla="*/ 28896 h 123767"/>
                  <a:gd name="connsiteX6" fmla="*/ 28910 w 123720"/>
                  <a:gd name="connsiteY6" fmla="*/ 61883 h 123767"/>
                  <a:gd name="connsiteX7" fmla="*/ 61883 w 123720"/>
                  <a:gd name="connsiteY7" fmla="*/ 94867 h 123767"/>
                  <a:gd name="connsiteX8" fmla="*/ 94857 w 123720"/>
                  <a:gd name="connsiteY8" fmla="*/ 61883 h 123767"/>
                  <a:gd name="connsiteX9" fmla="*/ 61883 w 123720"/>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20" h="123767">
                    <a:moveTo>
                      <a:pt x="61883" y="123767"/>
                    </a:moveTo>
                    <a:cubicBezTo>
                      <a:pt x="27755" y="123767"/>
                      <a:pt x="0" y="96003"/>
                      <a:pt x="0" y="61883"/>
                    </a:cubicBezTo>
                    <a:cubicBezTo>
                      <a:pt x="0" y="27760"/>
                      <a:pt x="27755" y="0"/>
                      <a:pt x="61883" y="0"/>
                    </a:cubicBezTo>
                    <a:cubicBezTo>
                      <a:pt x="95965" y="0"/>
                      <a:pt x="123721" y="27764"/>
                      <a:pt x="123721" y="61883"/>
                    </a:cubicBezTo>
                    <a:cubicBezTo>
                      <a:pt x="123721" y="96003"/>
                      <a:pt x="95965" y="123767"/>
                      <a:pt x="61883" y="123767"/>
                    </a:cubicBezTo>
                    <a:close/>
                    <a:moveTo>
                      <a:pt x="61883" y="28896"/>
                    </a:moveTo>
                    <a:cubicBezTo>
                      <a:pt x="43688" y="28896"/>
                      <a:pt x="28910" y="43693"/>
                      <a:pt x="28910" y="61883"/>
                    </a:cubicBezTo>
                    <a:cubicBezTo>
                      <a:pt x="28910" y="80070"/>
                      <a:pt x="43688" y="94867"/>
                      <a:pt x="61883" y="94867"/>
                    </a:cubicBezTo>
                    <a:cubicBezTo>
                      <a:pt x="80033" y="94867"/>
                      <a:pt x="94857" y="80070"/>
                      <a:pt x="94857" y="61883"/>
                    </a:cubicBezTo>
                    <a:cubicBezTo>
                      <a:pt x="94857" y="43693"/>
                      <a:pt x="80033" y="28896"/>
                      <a:pt x="61883"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40" name="Freeform: Shape 39">
                <a:extLst>
                  <a:ext uri="{FF2B5EF4-FFF2-40B4-BE49-F238E27FC236}">
                    <a16:creationId xmlns:a16="http://schemas.microsoft.com/office/drawing/2014/main" id="{BC64137E-346B-BE22-519A-AC0FBE7291DE}"/>
                  </a:ext>
                </a:extLst>
              </p:cNvPr>
              <p:cNvSpPr/>
              <p:nvPr/>
            </p:nvSpPr>
            <p:spPr>
              <a:xfrm>
                <a:off x="6846639" y="5558471"/>
                <a:ext cx="123720" cy="123767"/>
              </a:xfrm>
              <a:custGeom>
                <a:avLst/>
                <a:gdLst>
                  <a:gd name="connsiteX0" fmla="*/ 61838 w 123720"/>
                  <a:gd name="connsiteY0" fmla="*/ 123767 h 123767"/>
                  <a:gd name="connsiteX1" fmla="*/ 0 w 123720"/>
                  <a:gd name="connsiteY1" fmla="*/ 61883 h 123767"/>
                  <a:gd name="connsiteX2" fmla="*/ 61838 w 123720"/>
                  <a:gd name="connsiteY2" fmla="*/ 0 h 123767"/>
                  <a:gd name="connsiteX3" fmla="*/ 123721 w 123720"/>
                  <a:gd name="connsiteY3" fmla="*/ 61883 h 123767"/>
                  <a:gd name="connsiteX4" fmla="*/ 61838 w 123720"/>
                  <a:gd name="connsiteY4" fmla="*/ 123767 h 123767"/>
                  <a:gd name="connsiteX5" fmla="*/ 61838 w 123720"/>
                  <a:gd name="connsiteY5" fmla="*/ 28896 h 123767"/>
                  <a:gd name="connsiteX6" fmla="*/ 28864 w 123720"/>
                  <a:gd name="connsiteY6" fmla="*/ 61883 h 123767"/>
                  <a:gd name="connsiteX7" fmla="*/ 61838 w 123720"/>
                  <a:gd name="connsiteY7" fmla="*/ 94867 h 123767"/>
                  <a:gd name="connsiteX8" fmla="*/ 94811 w 123720"/>
                  <a:gd name="connsiteY8" fmla="*/ 61883 h 123767"/>
                  <a:gd name="connsiteX9" fmla="*/ 61838 w 123720"/>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20" h="123767">
                    <a:moveTo>
                      <a:pt x="61838" y="123767"/>
                    </a:moveTo>
                    <a:cubicBezTo>
                      <a:pt x="27755" y="123767"/>
                      <a:pt x="0" y="96003"/>
                      <a:pt x="0" y="61883"/>
                    </a:cubicBezTo>
                    <a:cubicBezTo>
                      <a:pt x="0" y="27760"/>
                      <a:pt x="27755" y="0"/>
                      <a:pt x="61838" y="0"/>
                    </a:cubicBezTo>
                    <a:cubicBezTo>
                      <a:pt x="95965" y="0"/>
                      <a:pt x="123721" y="27764"/>
                      <a:pt x="123721" y="61883"/>
                    </a:cubicBezTo>
                    <a:cubicBezTo>
                      <a:pt x="123721" y="96003"/>
                      <a:pt x="95965" y="123767"/>
                      <a:pt x="61838" y="123767"/>
                    </a:cubicBezTo>
                    <a:close/>
                    <a:moveTo>
                      <a:pt x="61838" y="28896"/>
                    </a:moveTo>
                    <a:cubicBezTo>
                      <a:pt x="43688" y="28896"/>
                      <a:pt x="28864" y="43693"/>
                      <a:pt x="28864" y="61883"/>
                    </a:cubicBezTo>
                    <a:cubicBezTo>
                      <a:pt x="28864" y="80070"/>
                      <a:pt x="43688" y="94867"/>
                      <a:pt x="61838" y="94867"/>
                    </a:cubicBezTo>
                    <a:cubicBezTo>
                      <a:pt x="80033" y="94867"/>
                      <a:pt x="94811" y="80070"/>
                      <a:pt x="94811" y="61883"/>
                    </a:cubicBezTo>
                    <a:cubicBezTo>
                      <a:pt x="94811" y="43693"/>
                      <a:pt x="80033" y="28896"/>
                      <a:pt x="61838"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grpSp>
        <p:sp>
          <p:nvSpPr>
            <p:cNvPr id="24" name="Text_3">
              <a:extLst>
                <a:ext uri="{FF2B5EF4-FFF2-40B4-BE49-F238E27FC236}">
                  <a16:creationId xmlns:a16="http://schemas.microsoft.com/office/drawing/2014/main" id="{207EB9B7-A9A5-356E-48AB-7AC1DDE46067}"/>
                </a:ext>
              </a:extLst>
            </p:cNvPr>
            <p:cNvSpPr txBox="1"/>
            <p:nvPr/>
          </p:nvSpPr>
          <p:spPr>
            <a:xfrm>
              <a:off x="5120044" y="2232879"/>
              <a:ext cx="1782909" cy="1185693"/>
            </a:xfrm>
            <a:prstGeom prst="rect">
              <a:avLst/>
            </a:prstGeom>
            <a:noFill/>
          </p:spPr>
          <p:txBody>
            <a:bodyPr wrap="square"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Spot unusually long runs</a:t>
              </a:r>
            </a:p>
          </p:txBody>
        </p:sp>
        <p:grpSp>
          <p:nvGrpSpPr>
            <p:cNvPr id="25" name="Graphic 7">
              <a:extLst>
                <a:ext uri="{FF2B5EF4-FFF2-40B4-BE49-F238E27FC236}">
                  <a16:creationId xmlns:a16="http://schemas.microsoft.com/office/drawing/2014/main" id="{5FF44F09-623C-F37C-FD75-D5527B9DC7A7}"/>
                </a:ext>
              </a:extLst>
            </p:cNvPr>
            <p:cNvGrpSpPr/>
            <p:nvPr/>
          </p:nvGrpSpPr>
          <p:grpSpPr>
            <a:xfrm>
              <a:off x="7430509" y="1820463"/>
              <a:ext cx="1974993" cy="2081377"/>
              <a:chOff x="9550723" y="3842415"/>
              <a:chExt cx="2628715" cy="2770313"/>
            </a:xfrm>
          </p:grpSpPr>
          <p:sp>
            <p:nvSpPr>
              <p:cNvPr id="33" name="Freeform: Shape 32">
                <a:extLst>
                  <a:ext uri="{FF2B5EF4-FFF2-40B4-BE49-F238E27FC236}">
                    <a16:creationId xmlns:a16="http://schemas.microsoft.com/office/drawing/2014/main" id="{1613B94B-D839-3D5D-FE78-F2E2E844D43A}"/>
                  </a:ext>
                </a:extLst>
              </p:cNvPr>
              <p:cNvSpPr/>
              <p:nvPr/>
            </p:nvSpPr>
            <p:spPr>
              <a:xfrm>
                <a:off x="9550723" y="3842415"/>
                <a:ext cx="2628715" cy="1872806"/>
              </a:xfrm>
              <a:custGeom>
                <a:avLst/>
                <a:gdLst>
                  <a:gd name="connsiteX0" fmla="*/ 2533858 w 2628715"/>
                  <a:gd name="connsiteY0" fmla="*/ 1872806 h 1872806"/>
                  <a:gd name="connsiteX1" fmla="*/ 2439001 w 2628715"/>
                  <a:gd name="connsiteY1" fmla="*/ 1777940 h 1872806"/>
                  <a:gd name="connsiteX2" fmla="*/ 2439001 w 2628715"/>
                  <a:gd name="connsiteY2" fmla="*/ 501488 h 1872806"/>
                  <a:gd name="connsiteX3" fmla="*/ 2127366 w 2628715"/>
                  <a:gd name="connsiteY3" fmla="*/ 189729 h 1872806"/>
                  <a:gd name="connsiteX4" fmla="*/ 501350 w 2628715"/>
                  <a:gd name="connsiteY4" fmla="*/ 189729 h 1872806"/>
                  <a:gd name="connsiteX5" fmla="*/ 189715 w 2628715"/>
                  <a:gd name="connsiteY5" fmla="*/ 501488 h 1872806"/>
                  <a:gd name="connsiteX6" fmla="*/ 189715 w 2628715"/>
                  <a:gd name="connsiteY6" fmla="*/ 1777940 h 1872806"/>
                  <a:gd name="connsiteX7" fmla="*/ 94858 w 2628715"/>
                  <a:gd name="connsiteY7" fmla="*/ 1872806 h 1872806"/>
                  <a:gd name="connsiteX8" fmla="*/ 0 w 2628715"/>
                  <a:gd name="connsiteY8" fmla="*/ 1777940 h 1872806"/>
                  <a:gd name="connsiteX9" fmla="*/ 0 w 2628715"/>
                  <a:gd name="connsiteY9" fmla="*/ 501488 h 1872806"/>
                  <a:gd name="connsiteX10" fmla="*/ 501350 w 2628715"/>
                  <a:gd name="connsiteY10" fmla="*/ 0 h 1872806"/>
                  <a:gd name="connsiteX11" fmla="*/ 2127366 w 2628715"/>
                  <a:gd name="connsiteY11" fmla="*/ 0 h 1872806"/>
                  <a:gd name="connsiteX12" fmla="*/ 2628716 w 2628715"/>
                  <a:gd name="connsiteY12" fmla="*/ 501488 h 1872806"/>
                  <a:gd name="connsiteX13" fmla="*/ 2628716 w 2628715"/>
                  <a:gd name="connsiteY13" fmla="*/ 1777940 h 1872806"/>
                  <a:gd name="connsiteX14" fmla="*/ 2533858 w 2628715"/>
                  <a:gd name="connsiteY14" fmla="*/ 1872806 h 187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715" h="1872806">
                    <a:moveTo>
                      <a:pt x="2533858" y="1872806"/>
                    </a:moveTo>
                    <a:cubicBezTo>
                      <a:pt x="2481488" y="1872806"/>
                      <a:pt x="2439001" y="1830333"/>
                      <a:pt x="2439001" y="1777940"/>
                    </a:cubicBezTo>
                    <a:lnTo>
                      <a:pt x="2439001" y="501488"/>
                    </a:lnTo>
                    <a:cubicBezTo>
                      <a:pt x="2439001" y="329586"/>
                      <a:pt x="2299208" y="189729"/>
                      <a:pt x="2127366" y="189729"/>
                    </a:cubicBezTo>
                    <a:lnTo>
                      <a:pt x="501350" y="189729"/>
                    </a:lnTo>
                    <a:cubicBezTo>
                      <a:pt x="329508" y="189729"/>
                      <a:pt x="189715" y="329586"/>
                      <a:pt x="189715" y="501488"/>
                    </a:cubicBezTo>
                    <a:lnTo>
                      <a:pt x="189715" y="1777940"/>
                    </a:lnTo>
                    <a:cubicBezTo>
                      <a:pt x="189715" y="1830333"/>
                      <a:pt x="147228" y="1872806"/>
                      <a:pt x="94858" y="1872806"/>
                    </a:cubicBezTo>
                    <a:cubicBezTo>
                      <a:pt x="42488" y="1872806"/>
                      <a:pt x="0" y="1830333"/>
                      <a:pt x="0" y="1777940"/>
                    </a:cubicBezTo>
                    <a:lnTo>
                      <a:pt x="0" y="501488"/>
                    </a:lnTo>
                    <a:cubicBezTo>
                      <a:pt x="0" y="224970"/>
                      <a:pt x="224906" y="0"/>
                      <a:pt x="501350" y="0"/>
                    </a:cubicBezTo>
                    <a:lnTo>
                      <a:pt x="2127366" y="0"/>
                    </a:lnTo>
                    <a:cubicBezTo>
                      <a:pt x="2403811" y="0"/>
                      <a:pt x="2628716" y="224965"/>
                      <a:pt x="2628716" y="501488"/>
                    </a:cubicBezTo>
                    <a:lnTo>
                      <a:pt x="2628716" y="1777940"/>
                    </a:lnTo>
                    <a:cubicBezTo>
                      <a:pt x="2628716" y="1830333"/>
                      <a:pt x="2586275" y="1872806"/>
                      <a:pt x="2533858" y="1872806"/>
                    </a:cubicBezTo>
                    <a:close/>
                  </a:path>
                </a:pathLst>
              </a:custGeom>
              <a:solidFill>
                <a:srgbClr val="4EB099"/>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dirty="0"/>
              </a:p>
            </p:txBody>
          </p:sp>
          <p:sp>
            <p:nvSpPr>
              <p:cNvPr id="34" name="Freeform: Shape 33">
                <a:extLst>
                  <a:ext uri="{FF2B5EF4-FFF2-40B4-BE49-F238E27FC236}">
                    <a16:creationId xmlns:a16="http://schemas.microsoft.com/office/drawing/2014/main" id="{C17477A9-77FB-661D-EE0B-B1A3D22C5759}"/>
                  </a:ext>
                </a:extLst>
              </p:cNvPr>
              <p:cNvSpPr/>
              <p:nvPr/>
            </p:nvSpPr>
            <p:spPr>
              <a:xfrm>
                <a:off x="9631125" y="5653343"/>
                <a:ext cx="2467910" cy="959385"/>
              </a:xfrm>
              <a:custGeom>
                <a:avLst/>
                <a:gdLst>
                  <a:gd name="connsiteX0" fmla="*/ 1233978 w 2467910"/>
                  <a:gd name="connsiteY0" fmla="*/ 959386 h 959385"/>
                  <a:gd name="connsiteX1" fmla="*/ 1223726 w 2467910"/>
                  <a:gd name="connsiteY1" fmla="*/ 955137 h 959385"/>
                  <a:gd name="connsiteX2" fmla="*/ 1006764 w 2467910"/>
                  <a:gd name="connsiteY2" fmla="*/ 738129 h 959385"/>
                  <a:gd name="connsiteX3" fmla="*/ 420947 w 2467910"/>
                  <a:gd name="connsiteY3" fmla="*/ 738129 h 959385"/>
                  <a:gd name="connsiteX4" fmla="*/ 0 w 2467910"/>
                  <a:gd name="connsiteY4" fmla="*/ 317048 h 959385"/>
                  <a:gd name="connsiteX5" fmla="*/ 0 w 2467910"/>
                  <a:gd name="connsiteY5" fmla="*/ 14450 h 959385"/>
                  <a:gd name="connsiteX6" fmla="*/ 14455 w 2467910"/>
                  <a:gd name="connsiteY6" fmla="*/ 0 h 959385"/>
                  <a:gd name="connsiteX7" fmla="*/ 28910 w 2467910"/>
                  <a:gd name="connsiteY7" fmla="*/ 14450 h 959385"/>
                  <a:gd name="connsiteX8" fmla="*/ 28910 w 2467910"/>
                  <a:gd name="connsiteY8" fmla="*/ 317048 h 959385"/>
                  <a:gd name="connsiteX9" fmla="*/ 420947 w 2467910"/>
                  <a:gd name="connsiteY9" fmla="*/ 709219 h 959385"/>
                  <a:gd name="connsiteX10" fmla="*/ 1012768 w 2467910"/>
                  <a:gd name="connsiteY10" fmla="*/ 709219 h 959385"/>
                  <a:gd name="connsiteX11" fmla="*/ 1022974 w 2467910"/>
                  <a:gd name="connsiteY11" fmla="*/ 713468 h 959385"/>
                  <a:gd name="connsiteX12" fmla="*/ 1233978 w 2467910"/>
                  <a:gd name="connsiteY12" fmla="*/ 924518 h 959385"/>
                  <a:gd name="connsiteX13" fmla="*/ 1444937 w 2467910"/>
                  <a:gd name="connsiteY13" fmla="*/ 713468 h 959385"/>
                  <a:gd name="connsiteX14" fmla="*/ 1455190 w 2467910"/>
                  <a:gd name="connsiteY14" fmla="*/ 709219 h 959385"/>
                  <a:gd name="connsiteX15" fmla="*/ 2046963 w 2467910"/>
                  <a:gd name="connsiteY15" fmla="*/ 709219 h 959385"/>
                  <a:gd name="connsiteX16" fmla="*/ 2439047 w 2467910"/>
                  <a:gd name="connsiteY16" fmla="*/ 317048 h 959385"/>
                  <a:gd name="connsiteX17" fmla="*/ 2439047 w 2467910"/>
                  <a:gd name="connsiteY17" fmla="*/ 14450 h 959385"/>
                  <a:gd name="connsiteX18" fmla="*/ 2453502 w 2467910"/>
                  <a:gd name="connsiteY18" fmla="*/ 0 h 959385"/>
                  <a:gd name="connsiteX19" fmla="*/ 2467911 w 2467910"/>
                  <a:gd name="connsiteY19" fmla="*/ 14450 h 959385"/>
                  <a:gd name="connsiteX20" fmla="*/ 2467911 w 2467910"/>
                  <a:gd name="connsiteY20" fmla="*/ 317048 h 959385"/>
                  <a:gd name="connsiteX21" fmla="*/ 2046963 w 2467910"/>
                  <a:gd name="connsiteY21" fmla="*/ 738129 h 959385"/>
                  <a:gd name="connsiteX22" fmla="*/ 1461147 w 2467910"/>
                  <a:gd name="connsiteY22" fmla="*/ 738129 h 959385"/>
                  <a:gd name="connsiteX23" fmla="*/ 1244184 w 2467910"/>
                  <a:gd name="connsiteY23" fmla="*/ 955137 h 959385"/>
                  <a:gd name="connsiteX24" fmla="*/ 1233978 w 2467910"/>
                  <a:gd name="connsiteY24" fmla="*/ 959386 h 95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67910" h="959385">
                    <a:moveTo>
                      <a:pt x="1233978" y="959386"/>
                    </a:moveTo>
                    <a:cubicBezTo>
                      <a:pt x="1230146" y="959386"/>
                      <a:pt x="1226451" y="957862"/>
                      <a:pt x="1223726" y="955137"/>
                    </a:cubicBezTo>
                    <a:lnTo>
                      <a:pt x="1006764" y="738129"/>
                    </a:lnTo>
                    <a:lnTo>
                      <a:pt x="420947" y="738129"/>
                    </a:lnTo>
                    <a:cubicBezTo>
                      <a:pt x="188838" y="738129"/>
                      <a:pt x="0" y="549245"/>
                      <a:pt x="0" y="317048"/>
                    </a:cubicBezTo>
                    <a:lnTo>
                      <a:pt x="0" y="14450"/>
                    </a:lnTo>
                    <a:cubicBezTo>
                      <a:pt x="0" y="6475"/>
                      <a:pt x="6466" y="0"/>
                      <a:pt x="14455" y="0"/>
                    </a:cubicBezTo>
                    <a:cubicBezTo>
                      <a:pt x="22444" y="0"/>
                      <a:pt x="28910" y="6470"/>
                      <a:pt x="28910" y="14450"/>
                    </a:cubicBezTo>
                    <a:lnTo>
                      <a:pt x="28910" y="317048"/>
                    </a:lnTo>
                    <a:cubicBezTo>
                      <a:pt x="28910" y="533312"/>
                      <a:pt x="204770" y="709219"/>
                      <a:pt x="420947" y="709219"/>
                    </a:cubicBezTo>
                    <a:lnTo>
                      <a:pt x="1012768" y="709219"/>
                    </a:lnTo>
                    <a:cubicBezTo>
                      <a:pt x="1016601" y="709219"/>
                      <a:pt x="1020248" y="710743"/>
                      <a:pt x="1022974" y="713468"/>
                    </a:cubicBezTo>
                    <a:lnTo>
                      <a:pt x="1233978" y="924518"/>
                    </a:lnTo>
                    <a:lnTo>
                      <a:pt x="1444937" y="713468"/>
                    </a:lnTo>
                    <a:cubicBezTo>
                      <a:pt x="1447661" y="710743"/>
                      <a:pt x="1451356" y="709219"/>
                      <a:pt x="1455190" y="709219"/>
                    </a:cubicBezTo>
                    <a:lnTo>
                      <a:pt x="2046963" y="709219"/>
                    </a:lnTo>
                    <a:cubicBezTo>
                      <a:pt x="2263140" y="709219"/>
                      <a:pt x="2439047" y="533312"/>
                      <a:pt x="2439047" y="317048"/>
                    </a:cubicBezTo>
                    <a:lnTo>
                      <a:pt x="2439047" y="14450"/>
                    </a:lnTo>
                    <a:cubicBezTo>
                      <a:pt x="2439047" y="6475"/>
                      <a:pt x="2445512" y="0"/>
                      <a:pt x="2453502" y="0"/>
                    </a:cubicBezTo>
                    <a:cubicBezTo>
                      <a:pt x="2461445" y="0"/>
                      <a:pt x="2467911" y="6470"/>
                      <a:pt x="2467911" y="14450"/>
                    </a:cubicBezTo>
                    <a:lnTo>
                      <a:pt x="2467911" y="317048"/>
                    </a:lnTo>
                    <a:cubicBezTo>
                      <a:pt x="2467911" y="549245"/>
                      <a:pt x="2279119" y="738129"/>
                      <a:pt x="2046963" y="738129"/>
                    </a:cubicBezTo>
                    <a:lnTo>
                      <a:pt x="1461147" y="738129"/>
                    </a:lnTo>
                    <a:lnTo>
                      <a:pt x="1244184" y="955137"/>
                    </a:lnTo>
                    <a:cubicBezTo>
                      <a:pt x="1241460" y="957862"/>
                      <a:pt x="1237811" y="959386"/>
                      <a:pt x="1233978" y="95938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5" name="Freeform: Shape 34">
                <a:extLst>
                  <a:ext uri="{FF2B5EF4-FFF2-40B4-BE49-F238E27FC236}">
                    <a16:creationId xmlns:a16="http://schemas.microsoft.com/office/drawing/2014/main" id="{09D96949-8D6A-3067-EA96-D4C88CEBE115}"/>
                  </a:ext>
                </a:extLst>
              </p:cNvPr>
              <p:cNvSpPr/>
              <p:nvPr/>
            </p:nvSpPr>
            <p:spPr>
              <a:xfrm>
                <a:off x="12022697" y="5558471"/>
                <a:ext cx="123766" cy="123767"/>
              </a:xfrm>
              <a:custGeom>
                <a:avLst/>
                <a:gdLst>
                  <a:gd name="connsiteX0" fmla="*/ 61883 w 123766"/>
                  <a:gd name="connsiteY0" fmla="*/ 123767 h 123767"/>
                  <a:gd name="connsiteX1" fmla="*/ 0 w 123766"/>
                  <a:gd name="connsiteY1" fmla="*/ 61883 h 123767"/>
                  <a:gd name="connsiteX2" fmla="*/ 61883 w 123766"/>
                  <a:gd name="connsiteY2" fmla="*/ 0 h 123767"/>
                  <a:gd name="connsiteX3" fmla="*/ 123766 w 123766"/>
                  <a:gd name="connsiteY3" fmla="*/ 61883 h 123767"/>
                  <a:gd name="connsiteX4" fmla="*/ 61883 w 123766"/>
                  <a:gd name="connsiteY4" fmla="*/ 123767 h 123767"/>
                  <a:gd name="connsiteX5" fmla="*/ 61883 w 123766"/>
                  <a:gd name="connsiteY5" fmla="*/ 28896 h 123767"/>
                  <a:gd name="connsiteX6" fmla="*/ 28910 w 123766"/>
                  <a:gd name="connsiteY6" fmla="*/ 61883 h 123767"/>
                  <a:gd name="connsiteX7" fmla="*/ 61883 w 123766"/>
                  <a:gd name="connsiteY7" fmla="*/ 94867 h 123767"/>
                  <a:gd name="connsiteX8" fmla="*/ 94857 w 123766"/>
                  <a:gd name="connsiteY8" fmla="*/ 61883 h 123767"/>
                  <a:gd name="connsiteX9" fmla="*/ 61883 w 123766"/>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66" h="123767">
                    <a:moveTo>
                      <a:pt x="61883" y="123767"/>
                    </a:moveTo>
                    <a:cubicBezTo>
                      <a:pt x="27755" y="123767"/>
                      <a:pt x="0" y="96003"/>
                      <a:pt x="0" y="61883"/>
                    </a:cubicBezTo>
                    <a:cubicBezTo>
                      <a:pt x="0" y="27760"/>
                      <a:pt x="27755" y="0"/>
                      <a:pt x="61883" y="0"/>
                    </a:cubicBezTo>
                    <a:cubicBezTo>
                      <a:pt x="96011" y="0"/>
                      <a:pt x="123766" y="27764"/>
                      <a:pt x="123766" y="61883"/>
                    </a:cubicBezTo>
                    <a:cubicBezTo>
                      <a:pt x="123766" y="96003"/>
                      <a:pt x="96011" y="123767"/>
                      <a:pt x="61883" y="123767"/>
                    </a:cubicBezTo>
                    <a:close/>
                    <a:moveTo>
                      <a:pt x="61883" y="28896"/>
                    </a:moveTo>
                    <a:cubicBezTo>
                      <a:pt x="43688" y="28896"/>
                      <a:pt x="28910" y="43693"/>
                      <a:pt x="28910" y="61883"/>
                    </a:cubicBezTo>
                    <a:cubicBezTo>
                      <a:pt x="28910" y="80070"/>
                      <a:pt x="43734" y="94867"/>
                      <a:pt x="61883" y="94867"/>
                    </a:cubicBezTo>
                    <a:cubicBezTo>
                      <a:pt x="80079" y="94867"/>
                      <a:pt x="94857" y="80070"/>
                      <a:pt x="94857" y="61883"/>
                    </a:cubicBezTo>
                    <a:cubicBezTo>
                      <a:pt x="94857" y="43693"/>
                      <a:pt x="80079" y="28896"/>
                      <a:pt x="61883"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6" name="Freeform: Shape 35">
                <a:extLst>
                  <a:ext uri="{FF2B5EF4-FFF2-40B4-BE49-F238E27FC236}">
                    <a16:creationId xmlns:a16="http://schemas.microsoft.com/office/drawing/2014/main" id="{9CB7614C-DA10-2273-830C-3E6F95333D42}"/>
                  </a:ext>
                </a:extLst>
              </p:cNvPr>
              <p:cNvSpPr/>
              <p:nvPr/>
            </p:nvSpPr>
            <p:spPr>
              <a:xfrm>
                <a:off x="9583696" y="5558471"/>
                <a:ext cx="123767" cy="123767"/>
              </a:xfrm>
              <a:custGeom>
                <a:avLst/>
                <a:gdLst>
                  <a:gd name="connsiteX0" fmla="*/ 61884 w 123767"/>
                  <a:gd name="connsiteY0" fmla="*/ 123767 h 123767"/>
                  <a:gd name="connsiteX1" fmla="*/ 0 w 123767"/>
                  <a:gd name="connsiteY1" fmla="*/ 61883 h 123767"/>
                  <a:gd name="connsiteX2" fmla="*/ 61884 w 123767"/>
                  <a:gd name="connsiteY2" fmla="*/ 0 h 123767"/>
                  <a:gd name="connsiteX3" fmla="*/ 123768 w 123767"/>
                  <a:gd name="connsiteY3" fmla="*/ 61883 h 123767"/>
                  <a:gd name="connsiteX4" fmla="*/ 61884 w 123767"/>
                  <a:gd name="connsiteY4" fmla="*/ 123767 h 123767"/>
                  <a:gd name="connsiteX5" fmla="*/ 61884 w 123767"/>
                  <a:gd name="connsiteY5" fmla="*/ 28896 h 123767"/>
                  <a:gd name="connsiteX6" fmla="*/ 28910 w 123767"/>
                  <a:gd name="connsiteY6" fmla="*/ 61883 h 123767"/>
                  <a:gd name="connsiteX7" fmla="*/ 61884 w 123767"/>
                  <a:gd name="connsiteY7" fmla="*/ 94867 h 123767"/>
                  <a:gd name="connsiteX8" fmla="*/ 94858 w 123767"/>
                  <a:gd name="connsiteY8" fmla="*/ 61883 h 123767"/>
                  <a:gd name="connsiteX9" fmla="*/ 61884 w 123767"/>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67" h="123767">
                    <a:moveTo>
                      <a:pt x="61884" y="123767"/>
                    </a:moveTo>
                    <a:cubicBezTo>
                      <a:pt x="27755" y="123767"/>
                      <a:pt x="0" y="96003"/>
                      <a:pt x="0" y="61883"/>
                    </a:cubicBezTo>
                    <a:cubicBezTo>
                      <a:pt x="0" y="27760"/>
                      <a:pt x="27755" y="0"/>
                      <a:pt x="61884" y="0"/>
                    </a:cubicBezTo>
                    <a:cubicBezTo>
                      <a:pt x="96012" y="0"/>
                      <a:pt x="123768" y="27764"/>
                      <a:pt x="123768" y="61883"/>
                    </a:cubicBezTo>
                    <a:cubicBezTo>
                      <a:pt x="123768" y="96003"/>
                      <a:pt x="96012" y="123767"/>
                      <a:pt x="61884" y="123767"/>
                    </a:cubicBezTo>
                    <a:close/>
                    <a:moveTo>
                      <a:pt x="61884" y="28896"/>
                    </a:moveTo>
                    <a:cubicBezTo>
                      <a:pt x="43688" y="28896"/>
                      <a:pt x="28910" y="43693"/>
                      <a:pt x="28910" y="61883"/>
                    </a:cubicBezTo>
                    <a:cubicBezTo>
                      <a:pt x="28910" y="80070"/>
                      <a:pt x="43688" y="94867"/>
                      <a:pt x="61884" y="94867"/>
                    </a:cubicBezTo>
                    <a:cubicBezTo>
                      <a:pt x="80080" y="94867"/>
                      <a:pt x="94858" y="80070"/>
                      <a:pt x="94858" y="61883"/>
                    </a:cubicBezTo>
                    <a:cubicBezTo>
                      <a:pt x="94858" y="43693"/>
                      <a:pt x="80080" y="28896"/>
                      <a:pt x="61884"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grpSp>
        <p:sp>
          <p:nvSpPr>
            <p:cNvPr id="26" name="Text_4">
              <a:extLst>
                <a:ext uri="{FF2B5EF4-FFF2-40B4-BE49-F238E27FC236}">
                  <a16:creationId xmlns:a16="http://schemas.microsoft.com/office/drawing/2014/main" id="{3000155B-C133-DFD3-10EF-D5C725DFF283}"/>
                </a:ext>
              </a:extLst>
            </p:cNvPr>
            <p:cNvSpPr txBox="1"/>
            <p:nvPr/>
          </p:nvSpPr>
          <p:spPr>
            <a:xfrm>
              <a:off x="7537394" y="2232879"/>
              <a:ext cx="1761221" cy="1185693"/>
            </a:xfrm>
            <a:prstGeom prst="rect">
              <a:avLst/>
            </a:prstGeom>
            <a:noFill/>
          </p:spPr>
          <p:txBody>
            <a:bodyPr wrap="square"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Flag repeated steps</a:t>
              </a:r>
            </a:p>
          </p:txBody>
        </p:sp>
        <p:grpSp>
          <p:nvGrpSpPr>
            <p:cNvPr id="27" name="Graphic 7">
              <a:extLst>
                <a:ext uri="{FF2B5EF4-FFF2-40B4-BE49-F238E27FC236}">
                  <a16:creationId xmlns:a16="http://schemas.microsoft.com/office/drawing/2014/main" id="{D79FFDA3-F1A2-229A-1C68-145F981A66E2}"/>
                </a:ext>
              </a:extLst>
            </p:cNvPr>
            <p:cNvGrpSpPr/>
            <p:nvPr/>
          </p:nvGrpSpPr>
          <p:grpSpPr>
            <a:xfrm>
              <a:off x="9836982" y="1820463"/>
              <a:ext cx="1975027" cy="2081377"/>
              <a:chOff x="12287781" y="3842415"/>
              <a:chExt cx="2628761" cy="2770313"/>
            </a:xfrm>
          </p:grpSpPr>
          <p:sp>
            <p:nvSpPr>
              <p:cNvPr id="29" name="Freeform: Shape 28">
                <a:extLst>
                  <a:ext uri="{FF2B5EF4-FFF2-40B4-BE49-F238E27FC236}">
                    <a16:creationId xmlns:a16="http://schemas.microsoft.com/office/drawing/2014/main" id="{7969FBFD-1B36-DBFF-D58E-08D3C0693EF0}"/>
                  </a:ext>
                </a:extLst>
              </p:cNvPr>
              <p:cNvSpPr/>
              <p:nvPr/>
            </p:nvSpPr>
            <p:spPr>
              <a:xfrm>
                <a:off x="12287781" y="3842415"/>
                <a:ext cx="2628761" cy="1872806"/>
              </a:xfrm>
              <a:custGeom>
                <a:avLst/>
                <a:gdLst>
                  <a:gd name="connsiteX0" fmla="*/ 2533904 w 2628761"/>
                  <a:gd name="connsiteY0" fmla="*/ 1872806 h 1872806"/>
                  <a:gd name="connsiteX1" fmla="*/ 2439046 w 2628761"/>
                  <a:gd name="connsiteY1" fmla="*/ 1777940 h 1872806"/>
                  <a:gd name="connsiteX2" fmla="*/ 2439046 w 2628761"/>
                  <a:gd name="connsiteY2" fmla="*/ 501488 h 1872806"/>
                  <a:gd name="connsiteX3" fmla="*/ 2127411 w 2628761"/>
                  <a:gd name="connsiteY3" fmla="*/ 189729 h 1872806"/>
                  <a:gd name="connsiteX4" fmla="*/ 501396 w 2628761"/>
                  <a:gd name="connsiteY4" fmla="*/ 189729 h 1872806"/>
                  <a:gd name="connsiteX5" fmla="*/ 189762 w 2628761"/>
                  <a:gd name="connsiteY5" fmla="*/ 501488 h 1872806"/>
                  <a:gd name="connsiteX6" fmla="*/ 189762 w 2628761"/>
                  <a:gd name="connsiteY6" fmla="*/ 1777940 h 1872806"/>
                  <a:gd name="connsiteX7" fmla="*/ 94858 w 2628761"/>
                  <a:gd name="connsiteY7" fmla="*/ 1872806 h 1872806"/>
                  <a:gd name="connsiteX8" fmla="*/ 0 w 2628761"/>
                  <a:gd name="connsiteY8" fmla="*/ 1777940 h 1872806"/>
                  <a:gd name="connsiteX9" fmla="*/ 0 w 2628761"/>
                  <a:gd name="connsiteY9" fmla="*/ 501488 h 1872806"/>
                  <a:gd name="connsiteX10" fmla="*/ 501396 w 2628761"/>
                  <a:gd name="connsiteY10" fmla="*/ 0 h 1872806"/>
                  <a:gd name="connsiteX11" fmla="*/ 2127411 w 2628761"/>
                  <a:gd name="connsiteY11" fmla="*/ 0 h 1872806"/>
                  <a:gd name="connsiteX12" fmla="*/ 2628761 w 2628761"/>
                  <a:gd name="connsiteY12" fmla="*/ 501488 h 1872806"/>
                  <a:gd name="connsiteX13" fmla="*/ 2628761 w 2628761"/>
                  <a:gd name="connsiteY13" fmla="*/ 1777940 h 1872806"/>
                  <a:gd name="connsiteX14" fmla="*/ 2533904 w 2628761"/>
                  <a:gd name="connsiteY14" fmla="*/ 1872806 h 187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28761" h="1872806">
                    <a:moveTo>
                      <a:pt x="2533904" y="1872806"/>
                    </a:moveTo>
                    <a:cubicBezTo>
                      <a:pt x="2481488" y="1872806"/>
                      <a:pt x="2439046" y="1830333"/>
                      <a:pt x="2439046" y="1777940"/>
                    </a:cubicBezTo>
                    <a:lnTo>
                      <a:pt x="2439046" y="501488"/>
                    </a:lnTo>
                    <a:cubicBezTo>
                      <a:pt x="2439046" y="329586"/>
                      <a:pt x="2299255" y="189729"/>
                      <a:pt x="2127411" y="189729"/>
                    </a:cubicBezTo>
                    <a:lnTo>
                      <a:pt x="501396" y="189729"/>
                    </a:lnTo>
                    <a:cubicBezTo>
                      <a:pt x="329554" y="189729"/>
                      <a:pt x="189762" y="329586"/>
                      <a:pt x="189762" y="501488"/>
                    </a:cubicBezTo>
                    <a:lnTo>
                      <a:pt x="189762" y="1777940"/>
                    </a:lnTo>
                    <a:cubicBezTo>
                      <a:pt x="189762" y="1830333"/>
                      <a:pt x="147273" y="1872806"/>
                      <a:pt x="94858" y="1872806"/>
                    </a:cubicBezTo>
                    <a:cubicBezTo>
                      <a:pt x="42487" y="1872806"/>
                      <a:pt x="0" y="1830333"/>
                      <a:pt x="0" y="1777940"/>
                    </a:cubicBezTo>
                    <a:lnTo>
                      <a:pt x="0" y="501488"/>
                    </a:lnTo>
                    <a:cubicBezTo>
                      <a:pt x="0" y="224970"/>
                      <a:pt x="224951" y="0"/>
                      <a:pt x="501396" y="0"/>
                    </a:cubicBezTo>
                    <a:lnTo>
                      <a:pt x="2127411" y="0"/>
                    </a:lnTo>
                    <a:cubicBezTo>
                      <a:pt x="2403856" y="0"/>
                      <a:pt x="2628761" y="224965"/>
                      <a:pt x="2628761" y="501488"/>
                    </a:cubicBezTo>
                    <a:lnTo>
                      <a:pt x="2628761" y="1777940"/>
                    </a:lnTo>
                    <a:cubicBezTo>
                      <a:pt x="2628761" y="1830333"/>
                      <a:pt x="2586274" y="1872806"/>
                      <a:pt x="2533904" y="1872806"/>
                    </a:cubicBezTo>
                    <a:close/>
                  </a:path>
                </a:pathLst>
              </a:custGeom>
              <a:solidFill>
                <a:srgbClr val="848CD8"/>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dirty="0"/>
              </a:p>
            </p:txBody>
          </p:sp>
          <p:sp>
            <p:nvSpPr>
              <p:cNvPr id="30" name="Freeform: Shape 29">
                <a:extLst>
                  <a:ext uri="{FF2B5EF4-FFF2-40B4-BE49-F238E27FC236}">
                    <a16:creationId xmlns:a16="http://schemas.microsoft.com/office/drawing/2014/main" id="{40A8569C-244B-F77C-C6BD-B9740747BCD5}"/>
                  </a:ext>
                </a:extLst>
              </p:cNvPr>
              <p:cNvSpPr/>
              <p:nvPr/>
            </p:nvSpPr>
            <p:spPr>
              <a:xfrm>
                <a:off x="12368229" y="5653343"/>
                <a:ext cx="2467910" cy="959385"/>
              </a:xfrm>
              <a:custGeom>
                <a:avLst/>
                <a:gdLst>
                  <a:gd name="connsiteX0" fmla="*/ 1233933 w 2467910"/>
                  <a:gd name="connsiteY0" fmla="*/ 959386 h 959385"/>
                  <a:gd name="connsiteX1" fmla="*/ 1223726 w 2467910"/>
                  <a:gd name="connsiteY1" fmla="*/ 955137 h 959385"/>
                  <a:gd name="connsiteX2" fmla="*/ 1006764 w 2467910"/>
                  <a:gd name="connsiteY2" fmla="*/ 738129 h 959385"/>
                  <a:gd name="connsiteX3" fmla="*/ 420948 w 2467910"/>
                  <a:gd name="connsiteY3" fmla="*/ 738129 h 959385"/>
                  <a:gd name="connsiteX4" fmla="*/ 0 w 2467910"/>
                  <a:gd name="connsiteY4" fmla="*/ 317048 h 959385"/>
                  <a:gd name="connsiteX5" fmla="*/ 0 w 2467910"/>
                  <a:gd name="connsiteY5" fmla="*/ 14450 h 959385"/>
                  <a:gd name="connsiteX6" fmla="*/ 14409 w 2467910"/>
                  <a:gd name="connsiteY6" fmla="*/ 0 h 959385"/>
                  <a:gd name="connsiteX7" fmla="*/ 28864 w 2467910"/>
                  <a:gd name="connsiteY7" fmla="*/ 14450 h 959385"/>
                  <a:gd name="connsiteX8" fmla="*/ 28864 w 2467910"/>
                  <a:gd name="connsiteY8" fmla="*/ 317048 h 959385"/>
                  <a:gd name="connsiteX9" fmla="*/ 420948 w 2467910"/>
                  <a:gd name="connsiteY9" fmla="*/ 709219 h 959385"/>
                  <a:gd name="connsiteX10" fmla="*/ 1012721 w 2467910"/>
                  <a:gd name="connsiteY10" fmla="*/ 709219 h 959385"/>
                  <a:gd name="connsiteX11" fmla="*/ 1022974 w 2467910"/>
                  <a:gd name="connsiteY11" fmla="*/ 713468 h 959385"/>
                  <a:gd name="connsiteX12" fmla="*/ 1233933 w 2467910"/>
                  <a:gd name="connsiteY12" fmla="*/ 924518 h 959385"/>
                  <a:gd name="connsiteX13" fmla="*/ 1444937 w 2467910"/>
                  <a:gd name="connsiteY13" fmla="*/ 713468 h 959385"/>
                  <a:gd name="connsiteX14" fmla="*/ 1455143 w 2467910"/>
                  <a:gd name="connsiteY14" fmla="*/ 709219 h 959385"/>
                  <a:gd name="connsiteX15" fmla="*/ 2046963 w 2467910"/>
                  <a:gd name="connsiteY15" fmla="*/ 709219 h 959385"/>
                  <a:gd name="connsiteX16" fmla="*/ 2439001 w 2467910"/>
                  <a:gd name="connsiteY16" fmla="*/ 317048 h 959385"/>
                  <a:gd name="connsiteX17" fmla="*/ 2439001 w 2467910"/>
                  <a:gd name="connsiteY17" fmla="*/ 14450 h 959385"/>
                  <a:gd name="connsiteX18" fmla="*/ 2453455 w 2467910"/>
                  <a:gd name="connsiteY18" fmla="*/ 0 h 959385"/>
                  <a:gd name="connsiteX19" fmla="*/ 2467911 w 2467910"/>
                  <a:gd name="connsiteY19" fmla="*/ 14450 h 959385"/>
                  <a:gd name="connsiteX20" fmla="*/ 2467911 w 2467910"/>
                  <a:gd name="connsiteY20" fmla="*/ 317048 h 959385"/>
                  <a:gd name="connsiteX21" fmla="*/ 2046963 w 2467910"/>
                  <a:gd name="connsiteY21" fmla="*/ 738129 h 959385"/>
                  <a:gd name="connsiteX22" fmla="*/ 1461147 w 2467910"/>
                  <a:gd name="connsiteY22" fmla="*/ 738129 h 959385"/>
                  <a:gd name="connsiteX23" fmla="*/ 1244185 w 2467910"/>
                  <a:gd name="connsiteY23" fmla="*/ 955137 h 959385"/>
                  <a:gd name="connsiteX24" fmla="*/ 1233933 w 2467910"/>
                  <a:gd name="connsiteY24" fmla="*/ 959386 h 959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67910" h="959385">
                    <a:moveTo>
                      <a:pt x="1233933" y="959386"/>
                    </a:moveTo>
                    <a:cubicBezTo>
                      <a:pt x="1230099" y="959386"/>
                      <a:pt x="1226451" y="957862"/>
                      <a:pt x="1223726" y="955137"/>
                    </a:cubicBezTo>
                    <a:lnTo>
                      <a:pt x="1006764" y="738129"/>
                    </a:lnTo>
                    <a:lnTo>
                      <a:pt x="420948" y="738129"/>
                    </a:lnTo>
                    <a:cubicBezTo>
                      <a:pt x="188838" y="738129"/>
                      <a:pt x="0" y="549245"/>
                      <a:pt x="0" y="317048"/>
                    </a:cubicBezTo>
                    <a:lnTo>
                      <a:pt x="0" y="14450"/>
                    </a:lnTo>
                    <a:cubicBezTo>
                      <a:pt x="0" y="6475"/>
                      <a:pt x="6466" y="0"/>
                      <a:pt x="14409" y="0"/>
                    </a:cubicBezTo>
                    <a:cubicBezTo>
                      <a:pt x="22399" y="0"/>
                      <a:pt x="28864" y="6470"/>
                      <a:pt x="28864" y="14450"/>
                    </a:cubicBezTo>
                    <a:lnTo>
                      <a:pt x="28864" y="317048"/>
                    </a:lnTo>
                    <a:cubicBezTo>
                      <a:pt x="28864" y="533312"/>
                      <a:pt x="204771" y="709219"/>
                      <a:pt x="420948" y="709219"/>
                    </a:cubicBezTo>
                    <a:lnTo>
                      <a:pt x="1012721" y="709219"/>
                    </a:lnTo>
                    <a:cubicBezTo>
                      <a:pt x="1016555" y="709219"/>
                      <a:pt x="1020250" y="710743"/>
                      <a:pt x="1022974" y="713468"/>
                    </a:cubicBezTo>
                    <a:lnTo>
                      <a:pt x="1233933" y="924518"/>
                    </a:lnTo>
                    <a:lnTo>
                      <a:pt x="1444937" y="713468"/>
                    </a:lnTo>
                    <a:cubicBezTo>
                      <a:pt x="1447661" y="710743"/>
                      <a:pt x="1451310" y="709219"/>
                      <a:pt x="1455143" y="709219"/>
                    </a:cubicBezTo>
                    <a:lnTo>
                      <a:pt x="2046963" y="709219"/>
                    </a:lnTo>
                    <a:cubicBezTo>
                      <a:pt x="2263140" y="709219"/>
                      <a:pt x="2439001" y="533312"/>
                      <a:pt x="2439001" y="317048"/>
                    </a:cubicBezTo>
                    <a:lnTo>
                      <a:pt x="2439001" y="14450"/>
                    </a:lnTo>
                    <a:cubicBezTo>
                      <a:pt x="2439001" y="6475"/>
                      <a:pt x="2445466" y="0"/>
                      <a:pt x="2453455" y="0"/>
                    </a:cubicBezTo>
                    <a:cubicBezTo>
                      <a:pt x="2461445" y="0"/>
                      <a:pt x="2467911" y="6470"/>
                      <a:pt x="2467911" y="14450"/>
                    </a:cubicBezTo>
                    <a:lnTo>
                      <a:pt x="2467911" y="317048"/>
                    </a:lnTo>
                    <a:cubicBezTo>
                      <a:pt x="2467911" y="549245"/>
                      <a:pt x="2279073" y="738129"/>
                      <a:pt x="2046963" y="738129"/>
                    </a:cubicBezTo>
                    <a:lnTo>
                      <a:pt x="1461147" y="738129"/>
                    </a:lnTo>
                    <a:lnTo>
                      <a:pt x="1244185" y="955137"/>
                    </a:lnTo>
                    <a:cubicBezTo>
                      <a:pt x="1241460" y="957862"/>
                      <a:pt x="1237765" y="959386"/>
                      <a:pt x="1233933" y="95938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1" name="Freeform: Shape 30">
                <a:extLst>
                  <a:ext uri="{FF2B5EF4-FFF2-40B4-BE49-F238E27FC236}">
                    <a16:creationId xmlns:a16="http://schemas.microsoft.com/office/drawing/2014/main" id="{FBF31080-A0AE-584B-F117-69D8CE6F2BB5}"/>
                  </a:ext>
                </a:extLst>
              </p:cNvPr>
              <p:cNvSpPr/>
              <p:nvPr/>
            </p:nvSpPr>
            <p:spPr>
              <a:xfrm>
                <a:off x="14759801" y="5558471"/>
                <a:ext cx="123721" cy="123767"/>
              </a:xfrm>
              <a:custGeom>
                <a:avLst/>
                <a:gdLst>
                  <a:gd name="connsiteX0" fmla="*/ 61883 w 123721"/>
                  <a:gd name="connsiteY0" fmla="*/ 123767 h 123767"/>
                  <a:gd name="connsiteX1" fmla="*/ 0 w 123721"/>
                  <a:gd name="connsiteY1" fmla="*/ 61883 h 123767"/>
                  <a:gd name="connsiteX2" fmla="*/ 61883 w 123721"/>
                  <a:gd name="connsiteY2" fmla="*/ 0 h 123767"/>
                  <a:gd name="connsiteX3" fmla="*/ 123721 w 123721"/>
                  <a:gd name="connsiteY3" fmla="*/ 61883 h 123767"/>
                  <a:gd name="connsiteX4" fmla="*/ 61883 w 123721"/>
                  <a:gd name="connsiteY4" fmla="*/ 123767 h 123767"/>
                  <a:gd name="connsiteX5" fmla="*/ 61883 w 123721"/>
                  <a:gd name="connsiteY5" fmla="*/ 28896 h 123767"/>
                  <a:gd name="connsiteX6" fmla="*/ 28910 w 123721"/>
                  <a:gd name="connsiteY6" fmla="*/ 61883 h 123767"/>
                  <a:gd name="connsiteX7" fmla="*/ 61883 w 123721"/>
                  <a:gd name="connsiteY7" fmla="*/ 94867 h 123767"/>
                  <a:gd name="connsiteX8" fmla="*/ 94858 w 123721"/>
                  <a:gd name="connsiteY8" fmla="*/ 61883 h 123767"/>
                  <a:gd name="connsiteX9" fmla="*/ 61883 w 123721"/>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21" h="123767">
                    <a:moveTo>
                      <a:pt x="61883" y="123767"/>
                    </a:moveTo>
                    <a:cubicBezTo>
                      <a:pt x="27755" y="123767"/>
                      <a:pt x="0" y="96003"/>
                      <a:pt x="0" y="61883"/>
                    </a:cubicBezTo>
                    <a:cubicBezTo>
                      <a:pt x="0" y="27760"/>
                      <a:pt x="27755" y="0"/>
                      <a:pt x="61883" y="0"/>
                    </a:cubicBezTo>
                    <a:cubicBezTo>
                      <a:pt x="95966" y="0"/>
                      <a:pt x="123721" y="27764"/>
                      <a:pt x="123721" y="61883"/>
                    </a:cubicBezTo>
                    <a:cubicBezTo>
                      <a:pt x="123768" y="96003"/>
                      <a:pt x="96012" y="123767"/>
                      <a:pt x="61883" y="123767"/>
                    </a:cubicBezTo>
                    <a:close/>
                    <a:moveTo>
                      <a:pt x="61883" y="28896"/>
                    </a:moveTo>
                    <a:cubicBezTo>
                      <a:pt x="43688" y="28896"/>
                      <a:pt x="28910" y="43693"/>
                      <a:pt x="28910" y="61883"/>
                    </a:cubicBezTo>
                    <a:cubicBezTo>
                      <a:pt x="28910" y="80070"/>
                      <a:pt x="43688" y="94867"/>
                      <a:pt x="61883" y="94867"/>
                    </a:cubicBezTo>
                    <a:cubicBezTo>
                      <a:pt x="80033" y="94867"/>
                      <a:pt x="94858" y="80070"/>
                      <a:pt x="94858" y="61883"/>
                    </a:cubicBezTo>
                    <a:cubicBezTo>
                      <a:pt x="94858" y="43693"/>
                      <a:pt x="80080" y="28896"/>
                      <a:pt x="61883"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sp>
            <p:nvSpPr>
              <p:cNvPr id="32" name="Freeform: Shape 31">
                <a:extLst>
                  <a:ext uri="{FF2B5EF4-FFF2-40B4-BE49-F238E27FC236}">
                    <a16:creationId xmlns:a16="http://schemas.microsoft.com/office/drawing/2014/main" id="{97639553-7D57-BFA8-2474-A9B8E3EA34B5}"/>
                  </a:ext>
                </a:extLst>
              </p:cNvPr>
              <p:cNvSpPr/>
              <p:nvPr/>
            </p:nvSpPr>
            <p:spPr>
              <a:xfrm>
                <a:off x="12320800" y="5558471"/>
                <a:ext cx="123721" cy="123767"/>
              </a:xfrm>
              <a:custGeom>
                <a:avLst/>
                <a:gdLst>
                  <a:gd name="connsiteX0" fmla="*/ 61838 w 123721"/>
                  <a:gd name="connsiteY0" fmla="*/ 123767 h 123767"/>
                  <a:gd name="connsiteX1" fmla="*/ 0 w 123721"/>
                  <a:gd name="connsiteY1" fmla="*/ 61883 h 123767"/>
                  <a:gd name="connsiteX2" fmla="*/ 61838 w 123721"/>
                  <a:gd name="connsiteY2" fmla="*/ 0 h 123767"/>
                  <a:gd name="connsiteX3" fmla="*/ 123721 w 123721"/>
                  <a:gd name="connsiteY3" fmla="*/ 61883 h 123767"/>
                  <a:gd name="connsiteX4" fmla="*/ 61838 w 123721"/>
                  <a:gd name="connsiteY4" fmla="*/ 123767 h 123767"/>
                  <a:gd name="connsiteX5" fmla="*/ 61838 w 123721"/>
                  <a:gd name="connsiteY5" fmla="*/ 28896 h 123767"/>
                  <a:gd name="connsiteX6" fmla="*/ 28910 w 123721"/>
                  <a:gd name="connsiteY6" fmla="*/ 61883 h 123767"/>
                  <a:gd name="connsiteX7" fmla="*/ 61838 w 123721"/>
                  <a:gd name="connsiteY7" fmla="*/ 94867 h 123767"/>
                  <a:gd name="connsiteX8" fmla="*/ 94858 w 123721"/>
                  <a:gd name="connsiteY8" fmla="*/ 61883 h 123767"/>
                  <a:gd name="connsiteX9" fmla="*/ 61838 w 123721"/>
                  <a:gd name="connsiteY9" fmla="*/ 28896 h 12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721" h="123767">
                    <a:moveTo>
                      <a:pt x="61838" y="123767"/>
                    </a:moveTo>
                    <a:cubicBezTo>
                      <a:pt x="27755" y="123767"/>
                      <a:pt x="0" y="96003"/>
                      <a:pt x="0" y="61883"/>
                    </a:cubicBezTo>
                    <a:cubicBezTo>
                      <a:pt x="0" y="27760"/>
                      <a:pt x="27755" y="0"/>
                      <a:pt x="61838" y="0"/>
                    </a:cubicBezTo>
                    <a:cubicBezTo>
                      <a:pt x="95966" y="0"/>
                      <a:pt x="123721" y="27764"/>
                      <a:pt x="123721" y="61883"/>
                    </a:cubicBezTo>
                    <a:cubicBezTo>
                      <a:pt x="123721" y="96003"/>
                      <a:pt x="95966" y="123767"/>
                      <a:pt x="61838" y="123767"/>
                    </a:cubicBezTo>
                    <a:close/>
                    <a:moveTo>
                      <a:pt x="61838" y="28896"/>
                    </a:moveTo>
                    <a:cubicBezTo>
                      <a:pt x="43689" y="28896"/>
                      <a:pt x="28910" y="43693"/>
                      <a:pt x="28910" y="61883"/>
                    </a:cubicBezTo>
                    <a:cubicBezTo>
                      <a:pt x="28910" y="80070"/>
                      <a:pt x="43689" y="94867"/>
                      <a:pt x="61838" y="94867"/>
                    </a:cubicBezTo>
                    <a:cubicBezTo>
                      <a:pt x="80033" y="94867"/>
                      <a:pt x="94858" y="80070"/>
                      <a:pt x="94858" y="61883"/>
                    </a:cubicBezTo>
                    <a:cubicBezTo>
                      <a:pt x="94858" y="43693"/>
                      <a:pt x="80033" y="28896"/>
                      <a:pt x="61838" y="28896"/>
                    </a:cubicBezTo>
                    <a:close/>
                  </a:path>
                </a:pathLst>
              </a:custGeom>
              <a:solidFill>
                <a:srgbClr val="242321"/>
              </a:solidFill>
              <a:ln w="4617"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a:p>
            </p:txBody>
          </p:sp>
        </p:grpSp>
        <p:sp>
          <p:nvSpPr>
            <p:cNvPr id="28" name="Text_5">
              <a:extLst>
                <a:ext uri="{FF2B5EF4-FFF2-40B4-BE49-F238E27FC236}">
                  <a16:creationId xmlns:a16="http://schemas.microsoft.com/office/drawing/2014/main" id="{D2730928-6386-10CC-3A09-F128D4F5E7FE}"/>
                </a:ext>
              </a:extLst>
            </p:cNvPr>
            <p:cNvSpPr txBox="1"/>
            <p:nvPr/>
          </p:nvSpPr>
          <p:spPr>
            <a:xfrm>
              <a:off x="9943900" y="2374904"/>
              <a:ext cx="1761221" cy="901644"/>
            </a:xfrm>
            <a:prstGeom prst="rect">
              <a:avLst/>
            </a:prstGeom>
            <a:noFill/>
          </p:spPr>
          <p:txBody>
            <a:bodyPr wrap="square"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Set next month’s targets</a:t>
              </a:r>
            </a:p>
          </p:txBody>
        </p:sp>
      </p:grpSp>
      <p:sp>
        <p:nvSpPr>
          <p:cNvPr id="6" name="Brandline_LVC">
            <a:extLst>
              <a:ext uri="{FF2B5EF4-FFF2-40B4-BE49-F238E27FC236}">
                <a16:creationId xmlns:a16="http://schemas.microsoft.com/office/drawing/2014/main" id="{46FA2A90-A791-B9DD-A321-647A38F34A8D}"/>
              </a:ext>
            </a:extLst>
          </p:cNvPr>
          <p:cNvSpPr/>
          <p:nvPr/>
        </p:nvSpPr>
        <p:spPr>
          <a:xfrm>
            <a:off x="3530600" y="816324"/>
            <a:ext cx="920361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237239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03E94-0F09-E40C-20B5-CE4C0896DD5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E2D0DF7-3AF8-C964-9AC0-0A1EB63CCE27}"/>
              </a:ext>
            </a:extLst>
          </p:cNvPr>
          <p:cNvSpPr>
            <a:spLocks noGrp="1"/>
          </p:cNvSpPr>
          <p:nvPr>
            <p:ph type="body" idx="10"/>
          </p:nvPr>
        </p:nvSpPr>
        <p:spPr/>
        <p:txBody>
          <a:bodyPr>
            <a:noAutofit/>
          </a:bodyPr>
          <a:lstStyle/>
          <a:p>
            <a:r>
              <a:rPr lang="en-US" dirty="0"/>
              <a:t>A redundant call is the same work done twice, like two people on your team both calling the same customer about the same complaint.</a:t>
            </a:r>
          </a:p>
        </p:txBody>
      </p:sp>
      <p:sp>
        <p:nvSpPr>
          <p:cNvPr id="3" name="Title 2">
            <a:extLst>
              <a:ext uri="{FF2B5EF4-FFF2-40B4-BE49-F238E27FC236}">
                <a16:creationId xmlns:a16="http://schemas.microsoft.com/office/drawing/2014/main" id="{5078DDBE-9A6F-FA51-9415-3578E5A46A01}"/>
              </a:ext>
            </a:extLst>
          </p:cNvPr>
          <p:cNvSpPr>
            <a:spLocks noGrp="1"/>
          </p:cNvSpPr>
          <p:nvPr>
            <p:ph type="title"/>
          </p:nvPr>
        </p:nvSpPr>
        <p:spPr/>
        <p:txBody>
          <a:bodyPr/>
          <a:lstStyle/>
          <a:p>
            <a:r>
              <a:rPr lang="en-US" dirty="0"/>
              <a:t>Redundant Calls: Paying Twice for the Same Answer</a:t>
            </a:r>
          </a:p>
        </p:txBody>
      </p:sp>
      <p:grpSp>
        <p:nvGrpSpPr>
          <p:cNvPr id="13" name="Group 12">
            <a:extLst>
              <a:ext uri="{FF2B5EF4-FFF2-40B4-BE49-F238E27FC236}">
                <a16:creationId xmlns:a16="http://schemas.microsoft.com/office/drawing/2014/main" id="{51AC35C5-827C-F524-935C-807221B6DCD7}"/>
              </a:ext>
            </a:extLst>
          </p:cNvPr>
          <p:cNvGrpSpPr/>
          <p:nvPr/>
        </p:nvGrpSpPr>
        <p:grpSpPr>
          <a:xfrm>
            <a:off x="2392991" y="3428767"/>
            <a:ext cx="11470017" cy="2286466"/>
            <a:chOff x="2392991" y="4193533"/>
            <a:chExt cx="11470017" cy="2286466"/>
          </a:xfrm>
        </p:grpSpPr>
        <p:sp>
          <p:nvSpPr>
            <p:cNvPr id="2" name="Text_1">
              <a:extLst>
                <a:ext uri="{FF2B5EF4-FFF2-40B4-BE49-F238E27FC236}">
                  <a16:creationId xmlns:a16="http://schemas.microsoft.com/office/drawing/2014/main" id="{AABEC4B8-F5F7-4905-1433-6AEE7A198C2E}"/>
                </a:ext>
              </a:extLst>
            </p:cNvPr>
            <p:cNvSpPr/>
            <p:nvPr/>
          </p:nvSpPr>
          <p:spPr>
            <a:xfrm>
              <a:off x="2392991" y="4199114"/>
              <a:ext cx="5170583" cy="1089375"/>
            </a:xfrm>
            <a:prstGeom prst="roundRect">
              <a:avLst/>
            </a:prstGeom>
            <a:solidFill>
              <a:srgbClr val="F2D7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Same call made twice</a:t>
              </a:r>
            </a:p>
          </p:txBody>
        </p:sp>
        <p:sp>
          <p:nvSpPr>
            <p:cNvPr id="4" name="Text_4">
              <a:extLst>
                <a:ext uri="{FF2B5EF4-FFF2-40B4-BE49-F238E27FC236}">
                  <a16:creationId xmlns:a16="http://schemas.microsoft.com/office/drawing/2014/main" id="{B1C9BFB1-9C5C-511D-7589-87CE891CF504}"/>
                </a:ext>
              </a:extLst>
            </p:cNvPr>
            <p:cNvSpPr/>
            <p:nvPr/>
          </p:nvSpPr>
          <p:spPr>
            <a:xfrm>
              <a:off x="2392991" y="5355815"/>
              <a:ext cx="5170583" cy="1124184"/>
            </a:xfrm>
            <a:prstGeom prst="roundRect">
              <a:avLst/>
            </a:prstGeom>
            <a:solidFill>
              <a:srgbClr val="E2E4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What repeats cost</a:t>
              </a:r>
            </a:p>
          </p:txBody>
        </p:sp>
        <p:sp>
          <p:nvSpPr>
            <p:cNvPr id="6" name="Text_2">
              <a:extLst>
                <a:ext uri="{FF2B5EF4-FFF2-40B4-BE49-F238E27FC236}">
                  <a16:creationId xmlns:a16="http://schemas.microsoft.com/office/drawing/2014/main" id="{CE84B932-D572-94CE-8DDB-11F78181C40D}"/>
                </a:ext>
              </a:extLst>
            </p:cNvPr>
            <p:cNvSpPr/>
            <p:nvPr/>
          </p:nvSpPr>
          <p:spPr>
            <a:xfrm>
              <a:off x="7629675" y="4195146"/>
              <a:ext cx="6233333" cy="1093344"/>
            </a:xfrm>
            <a:prstGeom prst="roundRect">
              <a:avLst/>
            </a:prstGeom>
            <a:solidFill>
              <a:srgbClr val="E9BD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Repeats on the timeline</a:t>
              </a:r>
            </a:p>
          </p:txBody>
        </p:sp>
        <p:sp>
          <p:nvSpPr>
            <p:cNvPr id="7" name="Text_3">
              <a:extLst>
                <a:ext uri="{FF2B5EF4-FFF2-40B4-BE49-F238E27FC236}">
                  <a16:creationId xmlns:a16="http://schemas.microsoft.com/office/drawing/2014/main" id="{1B0DFC59-66E9-2944-77CD-0B64A8222FB5}"/>
                </a:ext>
              </a:extLst>
            </p:cNvPr>
            <p:cNvSpPr/>
            <p:nvPr/>
          </p:nvSpPr>
          <p:spPr>
            <a:xfrm>
              <a:off x="7629675" y="5368985"/>
              <a:ext cx="6233333" cy="1111014"/>
            </a:xfrm>
            <a:prstGeom prst="roundRect">
              <a:avLst/>
            </a:prstGeom>
            <a:solidFill>
              <a:srgbClr val="ABD0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15000"/>
                </a:lnSpc>
              </a:pPr>
              <a:r>
                <a:rPr lang="en-US" sz="2200" dirty="0">
                  <a:solidFill>
                    <a:srgbClr val="404040"/>
                  </a:solidFill>
                  <a:latin typeface="Open Sans" panose="020B0606030504020204" pitchFamily="34" charset="0"/>
                </a:rPr>
                <a:t>Fix: a cache</a:t>
              </a:r>
            </a:p>
          </p:txBody>
        </p:sp>
        <p:grpSp>
          <p:nvGrpSpPr>
            <p:cNvPr id="8" name="Group 7">
              <a:extLst>
                <a:ext uri="{FF2B5EF4-FFF2-40B4-BE49-F238E27FC236}">
                  <a16:creationId xmlns:a16="http://schemas.microsoft.com/office/drawing/2014/main" id="{4D803576-D801-26CC-D19B-5317814FB421}"/>
                </a:ext>
              </a:extLst>
            </p:cNvPr>
            <p:cNvGrpSpPr/>
            <p:nvPr/>
          </p:nvGrpSpPr>
          <p:grpSpPr>
            <a:xfrm>
              <a:off x="6468616" y="4193533"/>
              <a:ext cx="2254792" cy="2257240"/>
              <a:chOff x="5453743" y="1517650"/>
              <a:chExt cx="5848350" cy="5854700"/>
            </a:xfrm>
          </p:grpSpPr>
          <p:sp>
            <p:nvSpPr>
              <p:cNvPr id="9" name="04">
                <a:extLst>
                  <a:ext uri="{FF2B5EF4-FFF2-40B4-BE49-F238E27FC236}">
                    <a16:creationId xmlns:a16="http://schemas.microsoft.com/office/drawing/2014/main" id="{A18BD8D8-BAC4-ED64-168D-D44A8BB29372}"/>
                  </a:ext>
                </a:extLst>
              </p:cNvPr>
              <p:cNvSpPr>
                <a:spLocks/>
              </p:cNvSpPr>
              <p:nvPr/>
            </p:nvSpPr>
            <p:spPr bwMode="auto">
              <a:xfrm>
                <a:off x="8465231" y="4532313"/>
                <a:ext cx="2836862" cy="2840037"/>
              </a:xfrm>
              <a:custGeom>
                <a:avLst/>
                <a:gdLst>
                  <a:gd name="T0" fmla="*/ 694 w 745"/>
                  <a:gd name="T1" fmla="*/ 0 h 745"/>
                  <a:gd name="T2" fmla="*/ 716 w 745"/>
                  <a:gd name="T3" fmla="*/ 53 h 745"/>
                  <a:gd name="T4" fmla="*/ 54 w 745"/>
                  <a:gd name="T5" fmla="*/ 716 h 745"/>
                  <a:gd name="T6" fmla="*/ 0 w 745"/>
                  <a:gd name="T7" fmla="*/ 694 h 745"/>
                  <a:gd name="T8" fmla="*/ 0 w 745"/>
                  <a:gd name="T9" fmla="*/ 75 h 745"/>
                  <a:gd name="T10" fmla="*/ 76 w 745"/>
                  <a:gd name="T11" fmla="*/ 0 h 745"/>
                  <a:gd name="T12" fmla="*/ 694 w 745"/>
                  <a:gd name="T13" fmla="*/ 0 h 745"/>
                </a:gdLst>
                <a:ahLst/>
                <a:cxnLst>
                  <a:cxn ang="0">
                    <a:pos x="T0" y="T1"/>
                  </a:cxn>
                  <a:cxn ang="0">
                    <a:pos x="T2" y="T3"/>
                  </a:cxn>
                  <a:cxn ang="0">
                    <a:pos x="T4" y="T5"/>
                  </a:cxn>
                  <a:cxn ang="0">
                    <a:pos x="T6" y="T7"/>
                  </a:cxn>
                  <a:cxn ang="0">
                    <a:pos x="T8" y="T9"/>
                  </a:cxn>
                  <a:cxn ang="0">
                    <a:pos x="T10" y="T11"/>
                  </a:cxn>
                  <a:cxn ang="0">
                    <a:pos x="T12" y="T13"/>
                  </a:cxn>
                </a:cxnLst>
                <a:rect l="0" t="0" r="r" b="b"/>
                <a:pathLst>
                  <a:path w="745" h="745">
                    <a:moveTo>
                      <a:pt x="694" y="0"/>
                    </a:moveTo>
                    <a:cubicBezTo>
                      <a:pt x="736" y="0"/>
                      <a:pt x="745" y="24"/>
                      <a:pt x="716" y="53"/>
                    </a:cubicBezTo>
                    <a:cubicBezTo>
                      <a:pt x="54" y="716"/>
                      <a:pt x="54" y="716"/>
                      <a:pt x="54" y="716"/>
                    </a:cubicBezTo>
                    <a:cubicBezTo>
                      <a:pt x="24" y="745"/>
                      <a:pt x="0" y="735"/>
                      <a:pt x="0" y="694"/>
                    </a:cubicBezTo>
                    <a:cubicBezTo>
                      <a:pt x="0" y="75"/>
                      <a:pt x="0" y="75"/>
                      <a:pt x="0" y="75"/>
                    </a:cubicBezTo>
                    <a:cubicBezTo>
                      <a:pt x="0" y="34"/>
                      <a:pt x="34" y="0"/>
                      <a:pt x="76" y="0"/>
                    </a:cubicBezTo>
                    <a:lnTo>
                      <a:pt x="694" y="0"/>
                    </a:lnTo>
                    <a:close/>
                  </a:path>
                </a:pathLst>
              </a:custGeom>
              <a:solidFill>
                <a:srgbClr val="5EA6CA"/>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fontAlgn="auto" hangingPunct="1">
                  <a:spcBef>
                    <a:spcPts val="0"/>
                  </a:spcBef>
                  <a:spcAft>
                    <a:spcPts val="0"/>
                  </a:spcAft>
                  <a:defRPr/>
                </a:pPr>
                <a:endParaRPr lang="ru-RU">
                  <a:latin typeface="+mn-lt"/>
                </a:endParaRPr>
              </a:p>
            </p:txBody>
          </p:sp>
          <p:sp>
            <p:nvSpPr>
              <p:cNvPr id="10" name="03">
                <a:extLst>
                  <a:ext uri="{FF2B5EF4-FFF2-40B4-BE49-F238E27FC236}">
                    <a16:creationId xmlns:a16="http://schemas.microsoft.com/office/drawing/2014/main" id="{67B9374B-9BCF-8AB3-7CB9-85FCD96CC267}"/>
                  </a:ext>
                </a:extLst>
              </p:cNvPr>
              <p:cNvSpPr>
                <a:spLocks/>
              </p:cNvSpPr>
              <p:nvPr/>
            </p:nvSpPr>
            <p:spPr bwMode="auto">
              <a:xfrm>
                <a:off x="8465231" y="1517650"/>
                <a:ext cx="2836862" cy="2840038"/>
              </a:xfrm>
              <a:custGeom>
                <a:avLst/>
                <a:gdLst>
                  <a:gd name="T0" fmla="*/ 0 w 745"/>
                  <a:gd name="T1" fmla="*/ 51 h 745"/>
                  <a:gd name="T2" fmla="*/ 54 w 745"/>
                  <a:gd name="T3" fmla="*/ 29 h 745"/>
                  <a:gd name="T4" fmla="*/ 716 w 745"/>
                  <a:gd name="T5" fmla="*/ 692 h 745"/>
                  <a:gd name="T6" fmla="*/ 694 w 745"/>
                  <a:gd name="T7" fmla="*/ 745 h 745"/>
                  <a:gd name="T8" fmla="*/ 76 w 745"/>
                  <a:gd name="T9" fmla="*/ 745 h 745"/>
                  <a:gd name="T10" fmla="*/ 0 w 745"/>
                  <a:gd name="T11" fmla="*/ 670 h 745"/>
                  <a:gd name="T12" fmla="*/ 0 w 745"/>
                  <a:gd name="T13" fmla="*/ 51 h 745"/>
                </a:gdLst>
                <a:ahLst/>
                <a:cxnLst>
                  <a:cxn ang="0">
                    <a:pos x="T0" y="T1"/>
                  </a:cxn>
                  <a:cxn ang="0">
                    <a:pos x="T2" y="T3"/>
                  </a:cxn>
                  <a:cxn ang="0">
                    <a:pos x="T4" y="T5"/>
                  </a:cxn>
                  <a:cxn ang="0">
                    <a:pos x="T6" y="T7"/>
                  </a:cxn>
                  <a:cxn ang="0">
                    <a:pos x="T8" y="T9"/>
                  </a:cxn>
                  <a:cxn ang="0">
                    <a:pos x="T10" y="T11"/>
                  </a:cxn>
                  <a:cxn ang="0">
                    <a:pos x="T12" y="T13"/>
                  </a:cxn>
                </a:cxnLst>
                <a:rect l="0" t="0" r="r" b="b"/>
                <a:pathLst>
                  <a:path w="745" h="745">
                    <a:moveTo>
                      <a:pt x="0" y="51"/>
                    </a:moveTo>
                    <a:cubicBezTo>
                      <a:pt x="0" y="10"/>
                      <a:pt x="24" y="0"/>
                      <a:pt x="54" y="29"/>
                    </a:cubicBezTo>
                    <a:cubicBezTo>
                      <a:pt x="716" y="692"/>
                      <a:pt x="716" y="692"/>
                      <a:pt x="716" y="692"/>
                    </a:cubicBezTo>
                    <a:cubicBezTo>
                      <a:pt x="745" y="721"/>
                      <a:pt x="736" y="745"/>
                      <a:pt x="694" y="745"/>
                    </a:cubicBezTo>
                    <a:cubicBezTo>
                      <a:pt x="76" y="745"/>
                      <a:pt x="76" y="745"/>
                      <a:pt x="76" y="745"/>
                    </a:cubicBezTo>
                    <a:cubicBezTo>
                      <a:pt x="34" y="745"/>
                      <a:pt x="0" y="711"/>
                      <a:pt x="0" y="670"/>
                    </a:cubicBezTo>
                    <a:lnTo>
                      <a:pt x="0" y="51"/>
                    </a:lnTo>
                    <a:close/>
                  </a:path>
                </a:pathLst>
              </a:custGeom>
              <a:solidFill>
                <a:srgbClr val="D78989"/>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fontAlgn="auto" hangingPunct="1">
                  <a:spcBef>
                    <a:spcPts val="0"/>
                  </a:spcBef>
                  <a:spcAft>
                    <a:spcPts val="0"/>
                  </a:spcAft>
                  <a:defRPr/>
                </a:pPr>
                <a:endParaRPr lang="ru-RU">
                  <a:latin typeface="+mn-lt"/>
                </a:endParaRPr>
              </a:p>
            </p:txBody>
          </p:sp>
          <p:sp>
            <p:nvSpPr>
              <p:cNvPr id="11" name="02">
                <a:extLst>
                  <a:ext uri="{FF2B5EF4-FFF2-40B4-BE49-F238E27FC236}">
                    <a16:creationId xmlns:a16="http://schemas.microsoft.com/office/drawing/2014/main" id="{1095FBEB-2AA1-195C-262C-337D6B36C94A}"/>
                  </a:ext>
                </a:extLst>
              </p:cNvPr>
              <p:cNvSpPr>
                <a:spLocks/>
              </p:cNvSpPr>
              <p:nvPr/>
            </p:nvSpPr>
            <p:spPr bwMode="auto">
              <a:xfrm>
                <a:off x="5453743" y="1517650"/>
                <a:ext cx="2840038" cy="2840038"/>
              </a:xfrm>
              <a:custGeom>
                <a:avLst/>
                <a:gdLst>
                  <a:gd name="T0" fmla="*/ 2634459 w 746"/>
                  <a:gd name="T1" fmla="*/ 110552 h 745"/>
                  <a:gd name="T2" fmla="*/ 2840038 w 746"/>
                  <a:gd name="T3" fmla="*/ 194419 h 745"/>
                  <a:gd name="T4" fmla="*/ 2840038 w 746"/>
                  <a:gd name="T5" fmla="*/ 2554128 h 745"/>
                  <a:gd name="T6" fmla="*/ 2550704 w 746"/>
                  <a:gd name="T7" fmla="*/ 2840038 h 745"/>
                  <a:gd name="T8" fmla="*/ 197965 w 746"/>
                  <a:gd name="T9" fmla="*/ 2840038 h 745"/>
                  <a:gd name="T10" fmla="*/ 114211 w 746"/>
                  <a:gd name="T11" fmla="*/ 2637995 h 745"/>
                  <a:gd name="T12" fmla="*/ 2634459 w 746"/>
                  <a:gd name="T13" fmla="*/ 110552 h 7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46" h="745">
                    <a:moveTo>
                      <a:pt x="692" y="29"/>
                    </a:moveTo>
                    <a:cubicBezTo>
                      <a:pt x="722" y="0"/>
                      <a:pt x="746" y="10"/>
                      <a:pt x="746" y="51"/>
                    </a:cubicBezTo>
                    <a:cubicBezTo>
                      <a:pt x="746" y="670"/>
                      <a:pt x="746" y="670"/>
                      <a:pt x="746" y="670"/>
                    </a:cubicBezTo>
                    <a:cubicBezTo>
                      <a:pt x="746" y="711"/>
                      <a:pt x="712" y="745"/>
                      <a:pt x="670" y="745"/>
                    </a:cubicBezTo>
                    <a:cubicBezTo>
                      <a:pt x="52" y="745"/>
                      <a:pt x="52" y="745"/>
                      <a:pt x="52" y="745"/>
                    </a:cubicBezTo>
                    <a:cubicBezTo>
                      <a:pt x="10" y="745"/>
                      <a:pt x="0" y="721"/>
                      <a:pt x="30" y="692"/>
                    </a:cubicBezTo>
                    <a:lnTo>
                      <a:pt x="692" y="29"/>
                    </a:lnTo>
                    <a:close/>
                  </a:path>
                </a:pathLst>
              </a:custGeom>
              <a:solidFill>
                <a:srgbClr val="DF9D3D"/>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12" name="01">
                <a:extLst>
                  <a:ext uri="{FF2B5EF4-FFF2-40B4-BE49-F238E27FC236}">
                    <a16:creationId xmlns:a16="http://schemas.microsoft.com/office/drawing/2014/main" id="{C4A2A7E2-F191-1C2B-F7AD-DAED2560C5D1}"/>
                  </a:ext>
                </a:extLst>
              </p:cNvPr>
              <p:cNvSpPr>
                <a:spLocks/>
              </p:cNvSpPr>
              <p:nvPr/>
            </p:nvSpPr>
            <p:spPr bwMode="auto">
              <a:xfrm>
                <a:off x="5453743" y="4532313"/>
                <a:ext cx="2840038" cy="2840037"/>
              </a:xfrm>
              <a:custGeom>
                <a:avLst/>
                <a:gdLst>
                  <a:gd name="T0" fmla="*/ 2550704 w 746"/>
                  <a:gd name="T1" fmla="*/ 0 h 745"/>
                  <a:gd name="T2" fmla="*/ 2840038 w 746"/>
                  <a:gd name="T3" fmla="*/ 285910 h 745"/>
                  <a:gd name="T4" fmla="*/ 2840038 w 746"/>
                  <a:gd name="T5" fmla="*/ 2645619 h 745"/>
                  <a:gd name="T6" fmla="*/ 2634459 w 746"/>
                  <a:gd name="T7" fmla="*/ 2729486 h 745"/>
                  <a:gd name="T8" fmla="*/ 114211 w 746"/>
                  <a:gd name="T9" fmla="*/ 202043 h 745"/>
                  <a:gd name="T10" fmla="*/ 197965 w 746"/>
                  <a:gd name="T11" fmla="*/ 0 h 745"/>
                  <a:gd name="T12" fmla="*/ 2550704 w 746"/>
                  <a:gd name="T13" fmla="*/ 0 h 7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46" h="745">
                    <a:moveTo>
                      <a:pt x="670" y="0"/>
                    </a:moveTo>
                    <a:cubicBezTo>
                      <a:pt x="712" y="0"/>
                      <a:pt x="746" y="34"/>
                      <a:pt x="746" y="75"/>
                    </a:cubicBezTo>
                    <a:cubicBezTo>
                      <a:pt x="746" y="694"/>
                      <a:pt x="746" y="694"/>
                      <a:pt x="746" y="694"/>
                    </a:cubicBezTo>
                    <a:cubicBezTo>
                      <a:pt x="746" y="735"/>
                      <a:pt x="722" y="745"/>
                      <a:pt x="692" y="716"/>
                    </a:cubicBezTo>
                    <a:cubicBezTo>
                      <a:pt x="30" y="53"/>
                      <a:pt x="30" y="53"/>
                      <a:pt x="30" y="53"/>
                    </a:cubicBezTo>
                    <a:cubicBezTo>
                      <a:pt x="0" y="24"/>
                      <a:pt x="10" y="0"/>
                      <a:pt x="52" y="0"/>
                    </a:cubicBezTo>
                    <a:lnTo>
                      <a:pt x="670" y="0"/>
                    </a:lnTo>
                    <a:close/>
                  </a:path>
                </a:pathLst>
              </a:custGeom>
              <a:solidFill>
                <a:srgbClr val="A5A832"/>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grpSp>
      </p:grpSp>
      <p:sp>
        <p:nvSpPr>
          <p:cNvPr id="16" name="Brandline_LVC">
            <a:extLst>
              <a:ext uri="{FF2B5EF4-FFF2-40B4-BE49-F238E27FC236}">
                <a16:creationId xmlns:a16="http://schemas.microsoft.com/office/drawing/2014/main" id="{C017792C-6FF5-1D32-6702-90C73B3B50EF}"/>
              </a:ext>
            </a:extLst>
          </p:cNvPr>
          <p:cNvSpPr/>
          <p:nvPr/>
        </p:nvSpPr>
        <p:spPr>
          <a:xfrm>
            <a:off x="2971800" y="816324"/>
            <a:ext cx="1031883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 Placeholder 4">
            <a:extLst>
              <a:ext uri="{FF2B5EF4-FFF2-40B4-BE49-F238E27FC236}">
                <a16:creationId xmlns:a16="http://schemas.microsoft.com/office/drawing/2014/main" id="{F68AFF00-7EA6-422B-1C04-5C52FE708254}"/>
              </a:ext>
            </a:extLst>
          </p:cNvPr>
          <p:cNvSpPr txBox="1">
            <a:spLocks/>
          </p:cNvSpPr>
          <p:nvPr/>
        </p:nvSpPr>
        <p:spPr>
          <a:xfrm>
            <a:off x="1279500" y="7065414"/>
            <a:ext cx="13990980" cy="903776"/>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0" marR="0" lvl="0" indent="0" algn="ctr" rtl="0">
              <a:lnSpc>
                <a:spcPct val="115000"/>
              </a:lnSpc>
              <a:spcBef>
                <a:spcPts val="0"/>
              </a:spcBef>
              <a:spcAft>
                <a:spcPts val="0"/>
              </a:spcAft>
              <a:buClr>
                <a:srgbClr val="3F3F3F"/>
              </a:buClr>
              <a:buSzPts val="2800"/>
              <a:buFont typeface="Arial" panose="020B0604020202020204" pitchFamily="34" charset="0"/>
              <a:buNone/>
              <a:defRPr sz="2200" b="0" i="0" u="none" strike="noStrike" cap="none">
                <a:solidFill>
                  <a:schemeClr val="tx1">
                    <a:lumMod val="75000"/>
                    <a:lumOff val="25000"/>
                  </a:schemeClr>
                </a:solidFill>
                <a:latin typeface="Open Sans"/>
                <a:ea typeface="Open Sans"/>
                <a:cs typeface="Open Sans"/>
                <a:sym typeface="Open Sans"/>
              </a:defRPr>
            </a:lvl1pPr>
            <a:lvl2pPr marL="914400" marR="0" lvl="1" indent="-381000" algn="l" rtl="0">
              <a:lnSpc>
                <a:spcPct val="90000"/>
              </a:lnSpc>
              <a:spcBef>
                <a:spcPts val="500"/>
              </a:spcBef>
              <a:spcAft>
                <a:spcPts val="0"/>
              </a:spcAft>
              <a:buClr>
                <a:srgbClr val="3F3F3F"/>
              </a:buClr>
              <a:buSzPts val="2400"/>
              <a:buFont typeface="Arial"/>
              <a:buChar char="•"/>
              <a:defRPr sz="2200" b="0" i="0" u="none" strike="noStrike" cap="none">
                <a:solidFill>
                  <a:srgbClr val="3F3F3F"/>
                </a:solidFill>
                <a:latin typeface="Open Sans"/>
                <a:ea typeface="Open Sans"/>
                <a:cs typeface="Open Sans"/>
                <a:sym typeface="Open Sans"/>
              </a:defRPr>
            </a:lvl2pPr>
            <a:lvl3pPr marL="1371600" marR="0" lvl="2" indent="-355600" algn="l" rtl="0">
              <a:lnSpc>
                <a:spcPct val="90000"/>
              </a:lnSpc>
              <a:spcBef>
                <a:spcPts val="500"/>
              </a:spcBef>
              <a:spcAft>
                <a:spcPts val="0"/>
              </a:spcAft>
              <a:buClr>
                <a:srgbClr val="3F3F3F"/>
              </a:buClr>
              <a:buSzPts val="2000"/>
              <a:buFont typeface="Arial"/>
              <a:buChar char="•"/>
              <a:defRPr sz="2200" b="0" i="0" u="none" strike="noStrike" cap="none">
                <a:solidFill>
                  <a:srgbClr val="3F3F3F"/>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r>
              <a:rPr lang="en-US" dirty="0"/>
              <a:t>In the demo, two employees ask the same question. Without a cache we pay twice; with a cache, the second answer is free and instant.</a:t>
            </a:r>
          </a:p>
        </p:txBody>
      </p:sp>
    </p:spTree>
    <p:custDataLst>
      <p:tags r:id="rId1"/>
    </p:custDataLst>
    <p:extLst>
      <p:ext uri="{BB962C8B-B14F-4D97-AF65-F5344CB8AC3E}">
        <p14:creationId xmlns:p14="http://schemas.microsoft.com/office/powerpoint/2010/main" val="3736920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A18D80D-F289-217E-539F-02FC8D5E8505}"/>
              </a:ext>
            </a:extLst>
          </p:cNvPr>
          <p:cNvSpPr>
            <a:spLocks noGrp="1"/>
          </p:cNvSpPr>
          <p:nvPr>
            <p:ph type="body" idx="1"/>
          </p:nvPr>
        </p:nvSpPr>
        <p:spPr>
          <a:xfrm>
            <a:off x="8128000" y="3371850"/>
            <a:ext cx="7315200" cy="2442656"/>
          </a:xfrm>
        </p:spPr>
        <p:txBody>
          <a:bodyPr/>
          <a:lstStyle/>
          <a:p>
            <a:r>
              <a:rPr lang="en-US" dirty="0"/>
              <a:t>The agent’s job description</a:t>
            </a:r>
          </a:p>
          <a:p>
            <a:r>
              <a:rPr lang="en-US" dirty="0"/>
              <a:t>The trace: steps, calls and cost per task</a:t>
            </a:r>
          </a:p>
          <a:p>
            <a:r>
              <a:rPr lang="en-US" dirty="0"/>
              <a:t>The company’s AI policy</a:t>
            </a:r>
          </a:p>
          <a:p>
            <a:r>
              <a:rPr lang="en-US" dirty="0"/>
              <a:t>The model provider’s website</a:t>
            </a:r>
          </a:p>
        </p:txBody>
      </p:sp>
      <p:sp>
        <p:nvSpPr>
          <p:cNvPr id="6" name="Text Placeholder 5">
            <a:extLst>
              <a:ext uri="{FF2B5EF4-FFF2-40B4-BE49-F238E27FC236}">
                <a16:creationId xmlns:a16="http://schemas.microsoft.com/office/drawing/2014/main" id="{9ACEB144-02B3-8682-A745-93B7C7D411DB}"/>
              </a:ext>
            </a:extLst>
          </p:cNvPr>
          <p:cNvSpPr>
            <a:spLocks noGrp="1"/>
          </p:cNvSpPr>
          <p:nvPr>
            <p:ph type="body" idx="2"/>
          </p:nvPr>
        </p:nvSpPr>
        <p:spPr>
          <a:xfrm>
            <a:off x="8128000" y="2499874"/>
            <a:ext cx="7315200" cy="771878"/>
          </a:xfrm>
        </p:spPr>
        <p:txBody>
          <a:bodyPr/>
          <a:lstStyle/>
          <a:p>
            <a:pPr marL="0"/>
            <a:r>
              <a:rPr lang="en-US" dirty="0"/>
              <a:t>Your agent’s AI bill doubled this month. What do you look at first?</a:t>
            </a:r>
          </a:p>
        </p:txBody>
      </p:sp>
    </p:spTree>
    <p:extLst>
      <p:ext uri="{BB962C8B-B14F-4D97-AF65-F5344CB8AC3E}">
        <p14:creationId xmlns:p14="http://schemas.microsoft.com/office/powerpoint/2010/main" val="2502355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7E8C7-F2E3-5232-3361-3DC3D929FF4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775C436-0C59-02F7-A7EC-6AD9BDE77C92}"/>
              </a:ext>
            </a:extLst>
          </p:cNvPr>
          <p:cNvSpPr>
            <a:spLocks noGrp="1"/>
          </p:cNvSpPr>
          <p:nvPr>
            <p:ph type="body" idx="10"/>
          </p:nvPr>
        </p:nvSpPr>
        <p:spPr/>
        <p:txBody>
          <a:bodyPr>
            <a:noAutofit/>
          </a:bodyPr>
          <a:lstStyle/>
          <a:p>
            <a:r>
              <a:rPr lang="en-US" dirty="0"/>
              <a:t>A short, blameless team meeting after a review. Blameless means we fix the system, not blame a person. Airline crews and Google’s engineering teams debrief this way.</a:t>
            </a:r>
          </a:p>
        </p:txBody>
      </p:sp>
      <p:sp>
        <p:nvSpPr>
          <p:cNvPr id="3" name="Title 2">
            <a:extLst>
              <a:ext uri="{FF2B5EF4-FFF2-40B4-BE49-F238E27FC236}">
                <a16:creationId xmlns:a16="http://schemas.microsoft.com/office/drawing/2014/main" id="{9C2E71A6-BA1C-1EFC-79A3-9C59B49B7333}"/>
              </a:ext>
            </a:extLst>
          </p:cNvPr>
          <p:cNvSpPr>
            <a:spLocks noGrp="1"/>
          </p:cNvSpPr>
          <p:nvPr>
            <p:ph type="title"/>
          </p:nvPr>
        </p:nvSpPr>
        <p:spPr/>
        <p:txBody>
          <a:bodyPr/>
          <a:lstStyle/>
          <a:p>
            <a:r>
              <a:rPr lang="en-US" dirty="0"/>
              <a:t>The Debrief: Turning Findings into Fixes</a:t>
            </a:r>
          </a:p>
        </p:txBody>
      </p:sp>
      <p:grpSp>
        <p:nvGrpSpPr>
          <p:cNvPr id="53" name="Group 52">
            <a:extLst>
              <a:ext uri="{FF2B5EF4-FFF2-40B4-BE49-F238E27FC236}">
                <a16:creationId xmlns:a16="http://schemas.microsoft.com/office/drawing/2014/main" id="{C49A8C1D-C108-4BC6-32FB-DD2F6A05CEE2}"/>
              </a:ext>
            </a:extLst>
          </p:cNvPr>
          <p:cNvGrpSpPr/>
          <p:nvPr/>
        </p:nvGrpSpPr>
        <p:grpSpPr>
          <a:xfrm rot="18900000" flipH="1" flipV="1">
            <a:off x="8363110" y="5579608"/>
            <a:ext cx="750205" cy="1661219"/>
            <a:chOff x="5520106" y="1962152"/>
            <a:chExt cx="826642" cy="1830478"/>
          </a:xfrm>
        </p:grpSpPr>
        <p:sp>
          <p:nvSpPr>
            <p:cNvPr id="55" name="Freeform 20">
              <a:extLst>
                <a:ext uri="{FF2B5EF4-FFF2-40B4-BE49-F238E27FC236}">
                  <a16:creationId xmlns:a16="http://schemas.microsoft.com/office/drawing/2014/main" id="{1B2A14C6-BA69-F283-8490-942AF42232A1}"/>
                </a:ext>
              </a:extLst>
            </p:cNvPr>
            <p:cNvSpPr/>
            <p:nvPr/>
          </p:nvSpPr>
          <p:spPr>
            <a:xfrm rot="5400000">
              <a:off x="5018188" y="2464070"/>
              <a:ext cx="1830477" cy="826642"/>
            </a:xfrm>
            <a:custGeom>
              <a:avLst/>
              <a:gdLst>
                <a:gd name="connsiteX0" fmla="*/ 1 w 1830477"/>
                <a:gd name="connsiteY0" fmla="*/ 826642 h 826642"/>
                <a:gd name="connsiteX1" fmla="*/ 1 w 1830477"/>
                <a:gd name="connsiteY1" fmla="*/ 413323 h 826642"/>
                <a:gd name="connsiteX2" fmla="*/ 834892 w 1830477"/>
                <a:gd name="connsiteY2" fmla="*/ 413323 h 826642"/>
                <a:gd name="connsiteX3" fmla="*/ 834892 w 1830477"/>
                <a:gd name="connsiteY3" fmla="*/ 413322 h 826642"/>
                <a:gd name="connsiteX4" fmla="*/ 834892 w 1830477"/>
                <a:gd name="connsiteY4" fmla="*/ 413322 h 826642"/>
                <a:gd name="connsiteX5" fmla="*/ 834892 w 1830477"/>
                <a:gd name="connsiteY5" fmla="*/ 211143 h 826642"/>
                <a:gd name="connsiteX6" fmla="*/ 1428205 w 1830477"/>
                <a:gd name="connsiteY6" fmla="*/ 211143 h 826642"/>
                <a:gd name="connsiteX7" fmla="*/ 1428205 w 1830477"/>
                <a:gd name="connsiteY7" fmla="*/ 4391 h 826642"/>
                <a:gd name="connsiteX8" fmla="*/ 1830477 w 1830477"/>
                <a:gd name="connsiteY8" fmla="*/ 413322 h 826642"/>
                <a:gd name="connsiteX9" fmla="*/ 1830474 w 1830477"/>
                <a:gd name="connsiteY9" fmla="*/ 413322 h 826642"/>
                <a:gd name="connsiteX10" fmla="*/ 1428205 w 1830477"/>
                <a:gd name="connsiteY10" fmla="*/ 822250 h 826642"/>
                <a:gd name="connsiteX11" fmla="*/ 1428205 w 1830477"/>
                <a:gd name="connsiteY11" fmla="*/ 615500 h 826642"/>
                <a:gd name="connsiteX12" fmla="*/ 834892 w 1830477"/>
                <a:gd name="connsiteY12" fmla="*/ 615500 h 826642"/>
                <a:gd name="connsiteX13" fmla="*/ 834892 w 1830477"/>
                <a:gd name="connsiteY13" fmla="*/ 615501 h 826642"/>
                <a:gd name="connsiteX14" fmla="*/ 834893 w 1830477"/>
                <a:gd name="connsiteY14" fmla="*/ 615501 h 826642"/>
                <a:gd name="connsiteX15" fmla="*/ 834893 w 1830477"/>
                <a:gd name="connsiteY15" fmla="*/ 826642 h 826642"/>
                <a:gd name="connsiteX16" fmla="*/ 0 w 1830477"/>
                <a:gd name="connsiteY16" fmla="*/ 413322 h 826642"/>
                <a:gd name="connsiteX17" fmla="*/ 0 w 1830477"/>
                <a:gd name="connsiteY17" fmla="*/ 0 h 826642"/>
                <a:gd name="connsiteX18" fmla="*/ 834892 w 1830477"/>
                <a:gd name="connsiteY18" fmla="*/ 0 h 826642"/>
                <a:gd name="connsiteX19" fmla="*/ 834892 w 1830477"/>
                <a:gd name="connsiteY19" fmla="*/ 211143 h 826642"/>
                <a:gd name="connsiteX20" fmla="*/ 834891 w 1830477"/>
                <a:gd name="connsiteY20" fmla="*/ 211143 h 826642"/>
                <a:gd name="connsiteX21" fmla="*/ 834891 w 1830477"/>
                <a:gd name="connsiteY21" fmla="*/ 413322 h 82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0477" h="826642">
                  <a:moveTo>
                    <a:pt x="1" y="826642"/>
                  </a:moveTo>
                  <a:lnTo>
                    <a:pt x="1" y="413323"/>
                  </a:lnTo>
                  <a:lnTo>
                    <a:pt x="834892" y="413323"/>
                  </a:lnTo>
                  <a:lnTo>
                    <a:pt x="834892" y="413322"/>
                  </a:lnTo>
                  <a:lnTo>
                    <a:pt x="834892" y="413322"/>
                  </a:lnTo>
                  <a:lnTo>
                    <a:pt x="834892" y="211143"/>
                  </a:lnTo>
                  <a:lnTo>
                    <a:pt x="1428205" y="211143"/>
                  </a:lnTo>
                  <a:lnTo>
                    <a:pt x="1428205" y="4391"/>
                  </a:lnTo>
                  <a:lnTo>
                    <a:pt x="1830477" y="413322"/>
                  </a:lnTo>
                  <a:lnTo>
                    <a:pt x="1830474" y="413322"/>
                  </a:lnTo>
                  <a:lnTo>
                    <a:pt x="1428205" y="822250"/>
                  </a:lnTo>
                  <a:lnTo>
                    <a:pt x="1428205" y="615500"/>
                  </a:lnTo>
                  <a:lnTo>
                    <a:pt x="834892" y="615500"/>
                  </a:lnTo>
                  <a:lnTo>
                    <a:pt x="834892" y="615501"/>
                  </a:lnTo>
                  <a:lnTo>
                    <a:pt x="834893" y="615501"/>
                  </a:lnTo>
                  <a:lnTo>
                    <a:pt x="834893" y="826642"/>
                  </a:lnTo>
                  <a:close/>
                  <a:moveTo>
                    <a:pt x="0" y="413322"/>
                  </a:moveTo>
                  <a:lnTo>
                    <a:pt x="0" y="0"/>
                  </a:lnTo>
                  <a:lnTo>
                    <a:pt x="834892" y="0"/>
                  </a:lnTo>
                  <a:lnTo>
                    <a:pt x="834892" y="211143"/>
                  </a:lnTo>
                  <a:lnTo>
                    <a:pt x="834891" y="211143"/>
                  </a:lnTo>
                  <a:lnTo>
                    <a:pt x="834891" y="41332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sp>
          <p:nvSpPr>
            <p:cNvPr id="56" name="Freeform 21">
              <a:extLst>
                <a:ext uri="{FF2B5EF4-FFF2-40B4-BE49-F238E27FC236}">
                  <a16:creationId xmlns:a16="http://schemas.microsoft.com/office/drawing/2014/main" id="{B3C648BC-6BD5-CB88-FBE2-83866162A21F}"/>
                </a:ext>
              </a:extLst>
            </p:cNvPr>
            <p:cNvSpPr/>
            <p:nvPr/>
          </p:nvSpPr>
          <p:spPr>
            <a:xfrm rot="5400000">
              <a:off x="5224848" y="2670731"/>
              <a:ext cx="1830477" cy="413322"/>
            </a:xfrm>
            <a:custGeom>
              <a:avLst/>
              <a:gdLst>
                <a:gd name="connsiteX0" fmla="*/ 834892 w 1830477"/>
                <a:gd name="connsiteY0" fmla="*/ 413322 h 413322"/>
                <a:gd name="connsiteX1" fmla="*/ 834892 w 1830477"/>
                <a:gd name="connsiteY1" fmla="*/ 211143 h 413322"/>
                <a:gd name="connsiteX2" fmla="*/ 1428205 w 1830477"/>
                <a:gd name="connsiteY2" fmla="*/ 211143 h 413322"/>
                <a:gd name="connsiteX3" fmla="*/ 1428205 w 1830477"/>
                <a:gd name="connsiteY3" fmla="*/ 4391 h 413322"/>
                <a:gd name="connsiteX4" fmla="*/ 1830477 w 1830477"/>
                <a:gd name="connsiteY4" fmla="*/ 413322 h 413322"/>
                <a:gd name="connsiteX5" fmla="*/ 0 w 1830477"/>
                <a:gd name="connsiteY5" fmla="*/ 413322 h 413322"/>
                <a:gd name="connsiteX6" fmla="*/ 0 w 1830477"/>
                <a:gd name="connsiteY6" fmla="*/ 0 h 413322"/>
                <a:gd name="connsiteX7" fmla="*/ 834892 w 1830477"/>
                <a:gd name="connsiteY7" fmla="*/ 0 h 413322"/>
                <a:gd name="connsiteX8" fmla="*/ 834892 w 1830477"/>
                <a:gd name="connsiteY8" fmla="*/ 211143 h 413322"/>
                <a:gd name="connsiteX9" fmla="*/ 834891 w 1830477"/>
                <a:gd name="connsiteY9" fmla="*/ 211143 h 413322"/>
                <a:gd name="connsiteX10" fmla="*/ 834891 w 1830477"/>
                <a:gd name="connsiteY10" fmla="*/ 413322 h 41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0477" h="413322">
                  <a:moveTo>
                    <a:pt x="834892" y="413322"/>
                  </a:moveTo>
                  <a:lnTo>
                    <a:pt x="834892" y="211143"/>
                  </a:lnTo>
                  <a:lnTo>
                    <a:pt x="1428205" y="211143"/>
                  </a:lnTo>
                  <a:lnTo>
                    <a:pt x="1428205" y="4391"/>
                  </a:lnTo>
                  <a:lnTo>
                    <a:pt x="1830477" y="413322"/>
                  </a:lnTo>
                  <a:close/>
                  <a:moveTo>
                    <a:pt x="0" y="413322"/>
                  </a:moveTo>
                  <a:lnTo>
                    <a:pt x="0" y="0"/>
                  </a:lnTo>
                  <a:lnTo>
                    <a:pt x="834892" y="0"/>
                  </a:lnTo>
                  <a:lnTo>
                    <a:pt x="834892" y="211143"/>
                  </a:lnTo>
                  <a:lnTo>
                    <a:pt x="834891" y="211143"/>
                  </a:lnTo>
                  <a:lnTo>
                    <a:pt x="834891" y="41332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grpSp>
      <p:grpSp>
        <p:nvGrpSpPr>
          <p:cNvPr id="46" name="Group 45">
            <a:extLst>
              <a:ext uri="{FF2B5EF4-FFF2-40B4-BE49-F238E27FC236}">
                <a16:creationId xmlns:a16="http://schemas.microsoft.com/office/drawing/2014/main" id="{D5C89F9B-FC02-2EA4-854B-F5E11C993AEF}"/>
              </a:ext>
            </a:extLst>
          </p:cNvPr>
          <p:cNvGrpSpPr/>
          <p:nvPr/>
        </p:nvGrpSpPr>
        <p:grpSpPr>
          <a:xfrm rot="2700000" flipV="1">
            <a:off x="7130821" y="5579607"/>
            <a:ext cx="750204" cy="1661217"/>
            <a:chOff x="5520106" y="1962152"/>
            <a:chExt cx="826642" cy="1830478"/>
          </a:xfrm>
        </p:grpSpPr>
        <p:sp>
          <p:nvSpPr>
            <p:cNvPr id="49" name="Freeform 15">
              <a:extLst>
                <a:ext uri="{FF2B5EF4-FFF2-40B4-BE49-F238E27FC236}">
                  <a16:creationId xmlns:a16="http://schemas.microsoft.com/office/drawing/2014/main" id="{2666497D-A78F-990A-1102-0A9D675F856A}"/>
                </a:ext>
              </a:extLst>
            </p:cNvPr>
            <p:cNvSpPr/>
            <p:nvPr/>
          </p:nvSpPr>
          <p:spPr>
            <a:xfrm rot="5400000">
              <a:off x="5018188" y="2464070"/>
              <a:ext cx="1830477" cy="826642"/>
            </a:xfrm>
            <a:custGeom>
              <a:avLst/>
              <a:gdLst>
                <a:gd name="connsiteX0" fmla="*/ 1 w 1830477"/>
                <a:gd name="connsiteY0" fmla="*/ 826642 h 826642"/>
                <a:gd name="connsiteX1" fmla="*/ 1 w 1830477"/>
                <a:gd name="connsiteY1" fmla="*/ 413323 h 826642"/>
                <a:gd name="connsiteX2" fmla="*/ 834892 w 1830477"/>
                <a:gd name="connsiteY2" fmla="*/ 413323 h 826642"/>
                <a:gd name="connsiteX3" fmla="*/ 834892 w 1830477"/>
                <a:gd name="connsiteY3" fmla="*/ 413322 h 826642"/>
                <a:gd name="connsiteX4" fmla="*/ 834892 w 1830477"/>
                <a:gd name="connsiteY4" fmla="*/ 413322 h 826642"/>
                <a:gd name="connsiteX5" fmla="*/ 834892 w 1830477"/>
                <a:gd name="connsiteY5" fmla="*/ 211143 h 826642"/>
                <a:gd name="connsiteX6" fmla="*/ 1428205 w 1830477"/>
                <a:gd name="connsiteY6" fmla="*/ 211143 h 826642"/>
                <a:gd name="connsiteX7" fmla="*/ 1428205 w 1830477"/>
                <a:gd name="connsiteY7" fmla="*/ 4391 h 826642"/>
                <a:gd name="connsiteX8" fmla="*/ 1830477 w 1830477"/>
                <a:gd name="connsiteY8" fmla="*/ 413322 h 826642"/>
                <a:gd name="connsiteX9" fmla="*/ 1830474 w 1830477"/>
                <a:gd name="connsiteY9" fmla="*/ 413322 h 826642"/>
                <a:gd name="connsiteX10" fmla="*/ 1428205 w 1830477"/>
                <a:gd name="connsiteY10" fmla="*/ 822250 h 826642"/>
                <a:gd name="connsiteX11" fmla="*/ 1428205 w 1830477"/>
                <a:gd name="connsiteY11" fmla="*/ 615500 h 826642"/>
                <a:gd name="connsiteX12" fmla="*/ 834892 w 1830477"/>
                <a:gd name="connsiteY12" fmla="*/ 615500 h 826642"/>
                <a:gd name="connsiteX13" fmla="*/ 834892 w 1830477"/>
                <a:gd name="connsiteY13" fmla="*/ 615501 h 826642"/>
                <a:gd name="connsiteX14" fmla="*/ 834893 w 1830477"/>
                <a:gd name="connsiteY14" fmla="*/ 615501 h 826642"/>
                <a:gd name="connsiteX15" fmla="*/ 834893 w 1830477"/>
                <a:gd name="connsiteY15" fmla="*/ 826642 h 826642"/>
                <a:gd name="connsiteX16" fmla="*/ 0 w 1830477"/>
                <a:gd name="connsiteY16" fmla="*/ 413322 h 826642"/>
                <a:gd name="connsiteX17" fmla="*/ 0 w 1830477"/>
                <a:gd name="connsiteY17" fmla="*/ 0 h 826642"/>
                <a:gd name="connsiteX18" fmla="*/ 834892 w 1830477"/>
                <a:gd name="connsiteY18" fmla="*/ 0 h 826642"/>
                <a:gd name="connsiteX19" fmla="*/ 834892 w 1830477"/>
                <a:gd name="connsiteY19" fmla="*/ 211143 h 826642"/>
                <a:gd name="connsiteX20" fmla="*/ 834891 w 1830477"/>
                <a:gd name="connsiteY20" fmla="*/ 211143 h 826642"/>
                <a:gd name="connsiteX21" fmla="*/ 834891 w 1830477"/>
                <a:gd name="connsiteY21" fmla="*/ 413322 h 82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0477" h="826642">
                  <a:moveTo>
                    <a:pt x="1" y="826642"/>
                  </a:moveTo>
                  <a:lnTo>
                    <a:pt x="1" y="413323"/>
                  </a:lnTo>
                  <a:lnTo>
                    <a:pt x="834892" y="413323"/>
                  </a:lnTo>
                  <a:lnTo>
                    <a:pt x="834892" y="413322"/>
                  </a:lnTo>
                  <a:lnTo>
                    <a:pt x="834892" y="413322"/>
                  </a:lnTo>
                  <a:lnTo>
                    <a:pt x="834892" y="211143"/>
                  </a:lnTo>
                  <a:lnTo>
                    <a:pt x="1428205" y="211143"/>
                  </a:lnTo>
                  <a:lnTo>
                    <a:pt x="1428205" y="4391"/>
                  </a:lnTo>
                  <a:lnTo>
                    <a:pt x="1830477" y="413322"/>
                  </a:lnTo>
                  <a:lnTo>
                    <a:pt x="1830474" y="413322"/>
                  </a:lnTo>
                  <a:lnTo>
                    <a:pt x="1428205" y="822250"/>
                  </a:lnTo>
                  <a:lnTo>
                    <a:pt x="1428205" y="615500"/>
                  </a:lnTo>
                  <a:lnTo>
                    <a:pt x="834892" y="615500"/>
                  </a:lnTo>
                  <a:lnTo>
                    <a:pt x="834892" y="615501"/>
                  </a:lnTo>
                  <a:lnTo>
                    <a:pt x="834893" y="615501"/>
                  </a:lnTo>
                  <a:lnTo>
                    <a:pt x="834893" y="826642"/>
                  </a:lnTo>
                  <a:close/>
                  <a:moveTo>
                    <a:pt x="0" y="413322"/>
                  </a:moveTo>
                  <a:lnTo>
                    <a:pt x="0" y="0"/>
                  </a:lnTo>
                  <a:lnTo>
                    <a:pt x="834892" y="0"/>
                  </a:lnTo>
                  <a:lnTo>
                    <a:pt x="834892" y="211143"/>
                  </a:lnTo>
                  <a:lnTo>
                    <a:pt x="834891" y="211143"/>
                  </a:lnTo>
                  <a:lnTo>
                    <a:pt x="834891" y="41332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sp>
          <p:nvSpPr>
            <p:cNvPr id="50" name="Freeform 16">
              <a:extLst>
                <a:ext uri="{FF2B5EF4-FFF2-40B4-BE49-F238E27FC236}">
                  <a16:creationId xmlns:a16="http://schemas.microsoft.com/office/drawing/2014/main" id="{9C3D6543-6B08-94A6-242C-160AAF676768}"/>
                </a:ext>
              </a:extLst>
            </p:cNvPr>
            <p:cNvSpPr/>
            <p:nvPr/>
          </p:nvSpPr>
          <p:spPr>
            <a:xfrm rot="5400000">
              <a:off x="5224848" y="2670731"/>
              <a:ext cx="1830477" cy="413322"/>
            </a:xfrm>
            <a:custGeom>
              <a:avLst/>
              <a:gdLst>
                <a:gd name="connsiteX0" fmla="*/ 834892 w 1830477"/>
                <a:gd name="connsiteY0" fmla="*/ 413322 h 413322"/>
                <a:gd name="connsiteX1" fmla="*/ 834892 w 1830477"/>
                <a:gd name="connsiteY1" fmla="*/ 211143 h 413322"/>
                <a:gd name="connsiteX2" fmla="*/ 1428205 w 1830477"/>
                <a:gd name="connsiteY2" fmla="*/ 211143 h 413322"/>
                <a:gd name="connsiteX3" fmla="*/ 1428205 w 1830477"/>
                <a:gd name="connsiteY3" fmla="*/ 4391 h 413322"/>
                <a:gd name="connsiteX4" fmla="*/ 1830477 w 1830477"/>
                <a:gd name="connsiteY4" fmla="*/ 413322 h 413322"/>
                <a:gd name="connsiteX5" fmla="*/ 0 w 1830477"/>
                <a:gd name="connsiteY5" fmla="*/ 413322 h 413322"/>
                <a:gd name="connsiteX6" fmla="*/ 0 w 1830477"/>
                <a:gd name="connsiteY6" fmla="*/ 0 h 413322"/>
                <a:gd name="connsiteX7" fmla="*/ 834892 w 1830477"/>
                <a:gd name="connsiteY7" fmla="*/ 0 h 413322"/>
                <a:gd name="connsiteX8" fmla="*/ 834892 w 1830477"/>
                <a:gd name="connsiteY8" fmla="*/ 211143 h 413322"/>
                <a:gd name="connsiteX9" fmla="*/ 834891 w 1830477"/>
                <a:gd name="connsiteY9" fmla="*/ 211143 h 413322"/>
                <a:gd name="connsiteX10" fmla="*/ 834891 w 1830477"/>
                <a:gd name="connsiteY10" fmla="*/ 413322 h 41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0477" h="413322">
                  <a:moveTo>
                    <a:pt x="834892" y="413322"/>
                  </a:moveTo>
                  <a:lnTo>
                    <a:pt x="834892" y="211143"/>
                  </a:lnTo>
                  <a:lnTo>
                    <a:pt x="1428205" y="211143"/>
                  </a:lnTo>
                  <a:lnTo>
                    <a:pt x="1428205" y="4391"/>
                  </a:lnTo>
                  <a:lnTo>
                    <a:pt x="1830477" y="413322"/>
                  </a:lnTo>
                  <a:close/>
                  <a:moveTo>
                    <a:pt x="0" y="413322"/>
                  </a:moveTo>
                  <a:lnTo>
                    <a:pt x="0" y="0"/>
                  </a:lnTo>
                  <a:lnTo>
                    <a:pt x="834892" y="0"/>
                  </a:lnTo>
                  <a:lnTo>
                    <a:pt x="834892" y="211143"/>
                  </a:lnTo>
                  <a:lnTo>
                    <a:pt x="834891" y="211143"/>
                  </a:lnTo>
                  <a:lnTo>
                    <a:pt x="834891" y="413322"/>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grpSp>
      <p:grpSp>
        <p:nvGrpSpPr>
          <p:cNvPr id="7" name="Group 6">
            <a:extLst>
              <a:ext uri="{FF2B5EF4-FFF2-40B4-BE49-F238E27FC236}">
                <a16:creationId xmlns:a16="http://schemas.microsoft.com/office/drawing/2014/main" id="{659DC62C-5582-6FA0-5B15-4E1873E41AC3}"/>
              </a:ext>
            </a:extLst>
          </p:cNvPr>
          <p:cNvGrpSpPr/>
          <p:nvPr/>
        </p:nvGrpSpPr>
        <p:grpSpPr>
          <a:xfrm>
            <a:off x="7907602" y="4808724"/>
            <a:ext cx="1661217" cy="750204"/>
            <a:chOff x="7926657" y="3583701"/>
            <a:chExt cx="1661217" cy="750204"/>
          </a:xfrm>
        </p:grpSpPr>
        <p:grpSp>
          <p:nvGrpSpPr>
            <p:cNvPr id="36" name="Group 35">
              <a:extLst>
                <a:ext uri="{FF2B5EF4-FFF2-40B4-BE49-F238E27FC236}">
                  <a16:creationId xmlns:a16="http://schemas.microsoft.com/office/drawing/2014/main" id="{3C3720C4-F2E9-A32B-D788-991362CE61BC}"/>
                </a:ext>
              </a:extLst>
            </p:cNvPr>
            <p:cNvGrpSpPr/>
            <p:nvPr/>
          </p:nvGrpSpPr>
          <p:grpSpPr>
            <a:xfrm rot="2700000" flipH="1">
              <a:off x="8382164" y="3128194"/>
              <a:ext cx="750204" cy="1661217"/>
              <a:chOff x="5520106" y="1962152"/>
              <a:chExt cx="826642" cy="1830478"/>
            </a:xfrm>
          </p:grpSpPr>
          <p:sp>
            <p:nvSpPr>
              <p:cNvPr id="38" name="Freeform 10">
                <a:extLst>
                  <a:ext uri="{FF2B5EF4-FFF2-40B4-BE49-F238E27FC236}">
                    <a16:creationId xmlns:a16="http://schemas.microsoft.com/office/drawing/2014/main" id="{F784C642-E5A4-B905-C41C-16BB81B428BF}"/>
                  </a:ext>
                </a:extLst>
              </p:cNvPr>
              <p:cNvSpPr/>
              <p:nvPr/>
            </p:nvSpPr>
            <p:spPr>
              <a:xfrm rot="5400000">
                <a:off x="5018188" y="2464070"/>
                <a:ext cx="1830477" cy="826642"/>
              </a:xfrm>
              <a:custGeom>
                <a:avLst/>
                <a:gdLst>
                  <a:gd name="connsiteX0" fmla="*/ 1 w 1830477"/>
                  <a:gd name="connsiteY0" fmla="*/ 826642 h 826642"/>
                  <a:gd name="connsiteX1" fmla="*/ 1 w 1830477"/>
                  <a:gd name="connsiteY1" fmla="*/ 413323 h 826642"/>
                  <a:gd name="connsiteX2" fmla="*/ 834892 w 1830477"/>
                  <a:gd name="connsiteY2" fmla="*/ 413323 h 826642"/>
                  <a:gd name="connsiteX3" fmla="*/ 834892 w 1830477"/>
                  <a:gd name="connsiteY3" fmla="*/ 413322 h 826642"/>
                  <a:gd name="connsiteX4" fmla="*/ 834892 w 1830477"/>
                  <a:gd name="connsiteY4" fmla="*/ 413322 h 826642"/>
                  <a:gd name="connsiteX5" fmla="*/ 834892 w 1830477"/>
                  <a:gd name="connsiteY5" fmla="*/ 211143 h 826642"/>
                  <a:gd name="connsiteX6" fmla="*/ 1428205 w 1830477"/>
                  <a:gd name="connsiteY6" fmla="*/ 211143 h 826642"/>
                  <a:gd name="connsiteX7" fmla="*/ 1428205 w 1830477"/>
                  <a:gd name="connsiteY7" fmla="*/ 4391 h 826642"/>
                  <a:gd name="connsiteX8" fmla="*/ 1830477 w 1830477"/>
                  <a:gd name="connsiteY8" fmla="*/ 413322 h 826642"/>
                  <a:gd name="connsiteX9" fmla="*/ 1830474 w 1830477"/>
                  <a:gd name="connsiteY9" fmla="*/ 413322 h 826642"/>
                  <a:gd name="connsiteX10" fmla="*/ 1428205 w 1830477"/>
                  <a:gd name="connsiteY10" fmla="*/ 822250 h 826642"/>
                  <a:gd name="connsiteX11" fmla="*/ 1428205 w 1830477"/>
                  <a:gd name="connsiteY11" fmla="*/ 615500 h 826642"/>
                  <a:gd name="connsiteX12" fmla="*/ 834892 w 1830477"/>
                  <a:gd name="connsiteY12" fmla="*/ 615500 h 826642"/>
                  <a:gd name="connsiteX13" fmla="*/ 834892 w 1830477"/>
                  <a:gd name="connsiteY13" fmla="*/ 615501 h 826642"/>
                  <a:gd name="connsiteX14" fmla="*/ 834893 w 1830477"/>
                  <a:gd name="connsiteY14" fmla="*/ 615501 h 826642"/>
                  <a:gd name="connsiteX15" fmla="*/ 834893 w 1830477"/>
                  <a:gd name="connsiteY15" fmla="*/ 826642 h 826642"/>
                  <a:gd name="connsiteX16" fmla="*/ 0 w 1830477"/>
                  <a:gd name="connsiteY16" fmla="*/ 413322 h 826642"/>
                  <a:gd name="connsiteX17" fmla="*/ 0 w 1830477"/>
                  <a:gd name="connsiteY17" fmla="*/ 0 h 826642"/>
                  <a:gd name="connsiteX18" fmla="*/ 834892 w 1830477"/>
                  <a:gd name="connsiteY18" fmla="*/ 0 h 826642"/>
                  <a:gd name="connsiteX19" fmla="*/ 834892 w 1830477"/>
                  <a:gd name="connsiteY19" fmla="*/ 211143 h 826642"/>
                  <a:gd name="connsiteX20" fmla="*/ 834891 w 1830477"/>
                  <a:gd name="connsiteY20" fmla="*/ 211143 h 826642"/>
                  <a:gd name="connsiteX21" fmla="*/ 834891 w 1830477"/>
                  <a:gd name="connsiteY21" fmla="*/ 413322 h 82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0477" h="826642">
                    <a:moveTo>
                      <a:pt x="1" y="826642"/>
                    </a:moveTo>
                    <a:lnTo>
                      <a:pt x="1" y="413323"/>
                    </a:lnTo>
                    <a:lnTo>
                      <a:pt x="834892" y="413323"/>
                    </a:lnTo>
                    <a:lnTo>
                      <a:pt x="834892" y="413322"/>
                    </a:lnTo>
                    <a:lnTo>
                      <a:pt x="834892" y="413322"/>
                    </a:lnTo>
                    <a:lnTo>
                      <a:pt x="834892" y="211143"/>
                    </a:lnTo>
                    <a:lnTo>
                      <a:pt x="1428205" y="211143"/>
                    </a:lnTo>
                    <a:lnTo>
                      <a:pt x="1428205" y="4391"/>
                    </a:lnTo>
                    <a:lnTo>
                      <a:pt x="1830477" y="413322"/>
                    </a:lnTo>
                    <a:lnTo>
                      <a:pt x="1830474" y="413322"/>
                    </a:lnTo>
                    <a:lnTo>
                      <a:pt x="1428205" y="822250"/>
                    </a:lnTo>
                    <a:lnTo>
                      <a:pt x="1428205" y="615500"/>
                    </a:lnTo>
                    <a:lnTo>
                      <a:pt x="834892" y="615500"/>
                    </a:lnTo>
                    <a:lnTo>
                      <a:pt x="834892" y="615501"/>
                    </a:lnTo>
                    <a:lnTo>
                      <a:pt x="834893" y="615501"/>
                    </a:lnTo>
                    <a:lnTo>
                      <a:pt x="834893" y="826642"/>
                    </a:lnTo>
                    <a:close/>
                    <a:moveTo>
                      <a:pt x="0" y="413322"/>
                    </a:moveTo>
                    <a:lnTo>
                      <a:pt x="0" y="0"/>
                    </a:lnTo>
                    <a:lnTo>
                      <a:pt x="834892" y="0"/>
                    </a:lnTo>
                    <a:lnTo>
                      <a:pt x="834892" y="211143"/>
                    </a:lnTo>
                    <a:lnTo>
                      <a:pt x="834891" y="211143"/>
                    </a:lnTo>
                    <a:lnTo>
                      <a:pt x="834891" y="41332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sp>
            <p:nvSpPr>
              <p:cNvPr id="39" name="Freeform 11">
                <a:extLst>
                  <a:ext uri="{FF2B5EF4-FFF2-40B4-BE49-F238E27FC236}">
                    <a16:creationId xmlns:a16="http://schemas.microsoft.com/office/drawing/2014/main" id="{E5C7DE1E-9442-DF00-1E18-9B114CBAC2AD}"/>
                  </a:ext>
                </a:extLst>
              </p:cNvPr>
              <p:cNvSpPr/>
              <p:nvPr/>
            </p:nvSpPr>
            <p:spPr>
              <a:xfrm rot="5400000">
                <a:off x="5224848" y="2670731"/>
                <a:ext cx="1830477" cy="413322"/>
              </a:xfrm>
              <a:custGeom>
                <a:avLst/>
                <a:gdLst>
                  <a:gd name="connsiteX0" fmla="*/ 834892 w 1830477"/>
                  <a:gd name="connsiteY0" fmla="*/ 413322 h 413322"/>
                  <a:gd name="connsiteX1" fmla="*/ 834892 w 1830477"/>
                  <a:gd name="connsiteY1" fmla="*/ 211143 h 413322"/>
                  <a:gd name="connsiteX2" fmla="*/ 1428205 w 1830477"/>
                  <a:gd name="connsiteY2" fmla="*/ 211143 h 413322"/>
                  <a:gd name="connsiteX3" fmla="*/ 1428205 w 1830477"/>
                  <a:gd name="connsiteY3" fmla="*/ 4391 h 413322"/>
                  <a:gd name="connsiteX4" fmla="*/ 1830477 w 1830477"/>
                  <a:gd name="connsiteY4" fmla="*/ 413322 h 413322"/>
                  <a:gd name="connsiteX5" fmla="*/ 0 w 1830477"/>
                  <a:gd name="connsiteY5" fmla="*/ 413322 h 413322"/>
                  <a:gd name="connsiteX6" fmla="*/ 0 w 1830477"/>
                  <a:gd name="connsiteY6" fmla="*/ 0 h 413322"/>
                  <a:gd name="connsiteX7" fmla="*/ 834892 w 1830477"/>
                  <a:gd name="connsiteY7" fmla="*/ 0 h 413322"/>
                  <a:gd name="connsiteX8" fmla="*/ 834892 w 1830477"/>
                  <a:gd name="connsiteY8" fmla="*/ 211143 h 413322"/>
                  <a:gd name="connsiteX9" fmla="*/ 834891 w 1830477"/>
                  <a:gd name="connsiteY9" fmla="*/ 211143 h 413322"/>
                  <a:gd name="connsiteX10" fmla="*/ 834891 w 1830477"/>
                  <a:gd name="connsiteY10" fmla="*/ 413322 h 41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0477" h="413322">
                    <a:moveTo>
                      <a:pt x="834892" y="413322"/>
                    </a:moveTo>
                    <a:lnTo>
                      <a:pt x="834892" y="211143"/>
                    </a:lnTo>
                    <a:lnTo>
                      <a:pt x="1428205" y="211143"/>
                    </a:lnTo>
                    <a:lnTo>
                      <a:pt x="1428205" y="4391"/>
                    </a:lnTo>
                    <a:lnTo>
                      <a:pt x="1830477" y="413322"/>
                    </a:lnTo>
                    <a:close/>
                    <a:moveTo>
                      <a:pt x="0" y="413322"/>
                    </a:moveTo>
                    <a:lnTo>
                      <a:pt x="0" y="0"/>
                    </a:lnTo>
                    <a:lnTo>
                      <a:pt x="834892" y="0"/>
                    </a:lnTo>
                    <a:lnTo>
                      <a:pt x="834892" y="211143"/>
                    </a:lnTo>
                    <a:lnTo>
                      <a:pt x="834891" y="211143"/>
                    </a:lnTo>
                    <a:lnTo>
                      <a:pt x="834891" y="41332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grpSp>
        <p:sp>
          <p:nvSpPr>
            <p:cNvPr id="35" name="Oval 34">
              <a:extLst>
                <a:ext uri="{FF2B5EF4-FFF2-40B4-BE49-F238E27FC236}">
                  <a16:creationId xmlns:a16="http://schemas.microsoft.com/office/drawing/2014/main" id="{0D870C93-0D2F-BD60-B91A-84C72721D6E4}"/>
                </a:ext>
              </a:extLst>
            </p:cNvPr>
            <p:cNvSpPr>
              <a:spLocks noChangeArrowheads="1"/>
            </p:cNvSpPr>
            <p:nvPr/>
          </p:nvSpPr>
          <p:spPr bwMode="auto">
            <a:xfrm>
              <a:off x="9082922" y="3660443"/>
              <a:ext cx="12459" cy="1661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Tx/>
              </a:pPr>
              <a:endParaRPr lang="th-TH" sz="2400" kern="1200">
                <a:latin typeface="Open Sans"/>
                <a:ea typeface="+mn-ea"/>
                <a:cs typeface="+mn-cs"/>
              </a:endParaRPr>
            </a:p>
          </p:txBody>
        </p:sp>
      </p:grpSp>
      <p:grpSp>
        <p:nvGrpSpPr>
          <p:cNvPr id="8" name="Group 7">
            <a:extLst>
              <a:ext uri="{FF2B5EF4-FFF2-40B4-BE49-F238E27FC236}">
                <a16:creationId xmlns:a16="http://schemas.microsoft.com/office/drawing/2014/main" id="{46CA33AE-12DD-14DC-E741-7EFB40AD5612}"/>
              </a:ext>
            </a:extLst>
          </p:cNvPr>
          <p:cNvGrpSpPr/>
          <p:nvPr/>
        </p:nvGrpSpPr>
        <p:grpSpPr>
          <a:xfrm>
            <a:off x="7101705" y="4353219"/>
            <a:ext cx="779322" cy="1661217"/>
            <a:chOff x="7120760" y="3128196"/>
            <a:chExt cx="779322" cy="1661217"/>
          </a:xfrm>
        </p:grpSpPr>
        <p:grpSp>
          <p:nvGrpSpPr>
            <p:cNvPr id="26" name="Group 25">
              <a:extLst>
                <a:ext uri="{FF2B5EF4-FFF2-40B4-BE49-F238E27FC236}">
                  <a16:creationId xmlns:a16="http://schemas.microsoft.com/office/drawing/2014/main" id="{9F4D06CD-1807-D6BF-C5C2-6F8E4F1AA20B}"/>
                </a:ext>
              </a:extLst>
            </p:cNvPr>
            <p:cNvGrpSpPr/>
            <p:nvPr/>
          </p:nvGrpSpPr>
          <p:grpSpPr>
            <a:xfrm rot="18900000">
              <a:off x="7149877" y="3128196"/>
              <a:ext cx="750205" cy="1661217"/>
              <a:chOff x="5520106" y="1962153"/>
              <a:chExt cx="826642" cy="1830477"/>
            </a:xfrm>
          </p:grpSpPr>
          <p:sp>
            <p:nvSpPr>
              <p:cNvPr id="28" name="Freeform 5">
                <a:extLst>
                  <a:ext uri="{FF2B5EF4-FFF2-40B4-BE49-F238E27FC236}">
                    <a16:creationId xmlns:a16="http://schemas.microsoft.com/office/drawing/2014/main" id="{55F915DD-90C7-825F-7BAC-71AE8B6586FF}"/>
                  </a:ext>
                </a:extLst>
              </p:cNvPr>
              <p:cNvSpPr/>
              <p:nvPr/>
            </p:nvSpPr>
            <p:spPr>
              <a:xfrm rot="5400000">
                <a:off x="5018188" y="2464071"/>
                <a:ext cx="1830477" cy="826642"/>
              </a:xfrm>
              <a:custGeom>
                <a:avLst/>
                <a:gdLst>
                  <a:gd name="connsiteX0" fmla="*/ 1 w 1830477"/>
                  <a:gd name="connsiteY0" fmla="*/ 826642 h 826642"/>
                  <a:gd name="connsiteX1" fmla="*/ 1 w 1830477"/>
                  <a:gd name="connsiteY1" fmla="*/ 413323 h 826642"/>
                  <a:gd name="connsiteX2" fmla="*/ 834892 w 1830477"/>
                  <a:gd name="connsiteY2" fmla="*/ 413323 h 826642"/>
                  <a:gd name="connsiteX3" fmla="*/ 834892 w 1830477"/>
                  <a:gd name="connsiteY3" fmla="*/ 413322 h 826642"/>
                  <a:gd name="connsiteX4" fmla="*/ 834892 w 1830477"/>
                  <a:gd name="connsiteY4" fmla="*/ 413322 h 826642"/>
                  <a:gd name="connsiteX5" fmla="*/ 834892 w 1830477"/>
                  <a:gd name="connsiteY5" fmla="*/ 211143 h 826642"/>
                  <a:gd name="connsiteX6" fmla="*/ 1428205 w 1830477"/>
                  <a:gd name="connsiteY6" fmla="*/ 211143 h 826642"/>
                  <a:gd name="connsiteX7" fmla="*/ 1428205 w 1830477"/>
                  <a:gd name="connsiteY7" fmla="*/ 4391 h 826642"/>
                  <a:gd name="connsiteX8" fmla="*/ 1830477 w 1830477"/>
                  <a:gd name="connsiteY8" fmla="*/ 413322 h 826642"/>
                  <a:gd name="connsiteX9" fmla="*/ 1830474 w 1830477"/>
                  <a:gd name="connsiteY9" fmla="*/ 413322 h 826642"/>
                  <a:gd name="connsiteX10" fmla="*/ 1428205 w 1830477"/>
                  <a:gd name="connsiteY10" fmla="*/ 822250 h 826642"/>
                  <a:gd name="connsiteX11" fmla="*/ 1428205 w 1830477"/>
                  <a:gd name="connsiteY11" fmla="*/ 615500 h 826642"/>
                  <a:gd name="connsiteX12" fmla="*/ 834892 w 1830477"/>
                  <a:gd name="connsiteY12" fmla="*/ 615500 h 826642"/>
                  <a:gd name="connsiteX13" fmla="*/ 834892 w 1830477"/>
                  <a:gd name="connsiteY13" fmla="*/ 615501 h 826642"/>
                  <a:gd name="connsiteX14" fmla="*/ 834893 w 1830477"/>
                  <a:gd name="connsiteY14" fmla="*/ 615501 h 826642"/>
                  <a:gd name="connsiteX15" fmla="*/ 834893 w 1830477"/>
                  <a:gd name="connsiteY15" fmla="*/ 826642 h 826642"/>
                  <a:gd name="connsiteX16" fmla="*/ 0 w 1830477"/>
                  <a:gd name="connsiteY16" fmla="*/ 413322 h 826642"/>
                  <a:gd name="connsiteX17" fmla="*/ 0 w 1830477"/>
                  <a:gd name="connsiteY17" fmla="*/ 0 h 826642"/>
                  <a:gd name="connsiteX18" fmla="*/ 834892 w 1830477"/>
                  <a:gd name="connsiteY18" fmla="*/ 0 h 826642"/>
                  <a:gd name="connsiteX19" fmla="*/ 834892 w 1830477"/>
                  <a:gd name="connsiteY19" fmla="*/ 211143 h 826642"/>
                  <a:gd name="connsiteX20" fmla="*/ 834891 w 1830477"/>
                  <a:gd name="connsiteY20" fmla="*/ 211143 h 826642"/>
                  <a:gd name="connsiteX21" fmla="*/ 834891 w 1830477"/>
                  <a:gd name="connsiteY21" fmla="*/ 413322 h 82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0477" h="826642">
                    <a:moveTo>
                      <a:pt x="1" y="826642"/>
                    </a:moveTo>
                    <a:lnTo>
                      <a:pt x="1" y="413323"/>
                    </a:lnTo>
                    <a:lnTo>
                      <a:pt x="834892" y="413323"/>
                    </a:lnTo>
                    <a:lnTo>
                      <a:pt x="834892" y="413322"/>
                    </a:lnTo>
                    <a:lnTo>
                      <a:pt x="834892" y="413322"/>
                    </a:lnTo>
                    <a:lnTo>
                      <a:pt x="834892" y="211143"/>
                    </a:lnTo>
                    <a:lnTo>
                      <a:pt x="1428205" y="211143"/>
                    </a:lnTo>
                    <a:lnTo>
                      <a:pt x="1428205" y="4391"/>
                    </a:lnTo>
                    <a:lnTo>
                      <a:pt x="1830477" y="413322"/>
                    </a:lnTo>
                    <a:lnTo>
                      <a:pt x="1830474" y="413322"/>
                    </a:lnTo>
                    <a:lnTo>
                      <a:pt x="1428205" y="822250"/>
                    </a:lnTo>
                    <a:lnTo>
                      <a:pt x="1428205" y="615500"/>
                    </a:lnTo>
                    <a:lnTo>
                      <a:pt x="834892" y="615500"/>
                    </a:lnTo>
                    <a:lnTo>
                      <a:pt x="834892" y="615501"/>
                    </a:lnTo>
                    <a:lnTo>
                      <a:pt x="834893" y="615501"/>
                    </a:lnTo>
                    <a:lnTo>
                      <a:pt x="834893" y="826642"/>
                    </a:lnTo>
                    <a:close/>
                    <a:moveTo>
                      <a:pt x="0" y="413322"/>
                    </a:moveTo>
                    <a:lnTo>
                      <a:pt x="0" y="0"/>
                    </a:lnTo>
                    <a:lnTo>
                      <a:pt x="834892" y="0"/>
                    </a:lnTo>
                    <a:lnTo>
                      <a:pt x="834892" y="211143"/>
                    </a:lnTo>
                    <a:lnTo>
                      <a:pt x="834891" y="211143"/>
                    </a:lnTo>
                    <a:lnTo>
                      <a:pt x="834891" y="4133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sp>
            <p:nvSpPr>
              <p:cNvPr id="29" name="Freeform 6">
                <a:extLst>
                  <a:ext uri="{FF2B5EF4-FFF2-40B4-BE49-F238E27FC236}">
                    <a16:creationId xmlns:a16="http://schemas.microsoft.com/office/drawing/2014/main" id="{06C2D6EF-8271-8DD4-8886-211BC0EFC40B}"/>
                  </a:ext>
                </a:extLst>
              </p:cNvPr>
              <p:cNvSpPr/>
              <p:nvPr/>
            </p:nvSpPr>
            <p:spPr>
              <a:xfrm rot="5400000">
                <a:off x="5224848" y="2670731"/>
                <a:ext cx="1830477" cy="413322"/>
              </a:xfrm>
              <a:custGeom>
                <a:avLst/>
                <a:gdLst>
                  <a:gd name="connsiteX0" fmla="*/ 834892 w 1830477"/>
                  <a:gd name="connsiteY0" fmla="*/ 413322 h 413322"/>
                  <a:gd name="connsiteX1" fmla="*/ 834892 w 1830477"/>
                  <a:gd name="connsiteY1" fmla="*/ 211143 h 413322"/>
                  <a:gd name="connsiteX2" fmla="*/ 1428205 w 1830477"/>
                  <a:gd name="connsiteY2" fmla="*/ 211143 h 413322"/>
                  <a:gd name="connsiteX3" fmla="*/ 1428205 w 1830477"/>
                  <a:gd name="connsiteY3" fmla="*/ 4391 h 413322"/>
                  <a:gd name="connsiteX4" fmla="*/ 1830477 w 1830477"/>
                  <a:gd name="connsiteY4" fmla="*/ 413322 h 413322"/>
                  <a:gd name="connsiteX5" fmla="*/ 0 w 1830477"/>
                  <a:gd name="connsiteY5" fmla="*/ 413322 h 413322"/>
                  <a:gd name="connsiteX6" fmla="*/ 0 w 1830477"/>
                  <a:gd name="connsiteY6" fmla="*/ 0 h 413322"/>
                  <a:gd name="connsiteX7" fmla="*/ 834892 w 1830477"/>
                  <a:gd name="connsiteY7" fmla="*/ 0 h 413322"/>
                  <a:gd name="connsiteX8" fmla="*/ 834892 w 1830477"/>
                  <a:gd name="connsiteY8" fmla="*/ 211143 h 413322"/>
                  <a:gd name="connsiteX9" fmla="*/ 834891 w 1830477"/>
                  <a:gd name="connsiteY9" fmla="*/ 211143 h 413322"/>
                  <a:gd name="connsiteX10" fmla="*/ 834891 w 1830477"/>
                  <a:gd name="connsiteY10" fmla="*/ 413322 h 41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0477" h="413322">
                    <a:moveTo>
                      <a:pt x="834892" y="413322"/>
                    </a:moveTo>
                    <a:lnTo>
                      <a:pt x="834892" y="211143"/>
                    </a:lnTo>
                    <a:lnTo>
                      <a:pt x="1428205" y="211143"/>
                    </a:lnTo>
                    <a:lnTo>
                      <a:pt x="1428205" y="4391"/>
                    </a:lnTo>
                    <a:lnTo>
                      <a:pt x="1830477" y="413322"/>
                    </a:lnTo>
                    <a:close/>
                    <a:moveTo>
                      <a:pt x="0" y="413322"/>
                    </a:moveTo>
                    <a:lnTo>
                      <a:pt x="0" y="0"/>
                    </a:lnTo>
                    <a:lnTo>
                      <a:pt x="834892" y="0"/>
                    </a:lnTo>
                    <a:lnTo>
                      <a:pt x="834892" y="211143"/>
                    </a:lnTo>
                    <a:lnTo>
                      <a:pt x="834891" y="211143"/>
                    </a:lnTo>
                    <a:lnTo>
                      <a:pt x="834891" y="413322"/>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70">
                  <a:buClrTx/>
                </a:pPr>
                <a:endParaRPr lang="en-US" sz="2400" kern="1200">
                  <a:solidFill>
                    <a:srgbClr val="FFFFFF"/>
                  </a:solidFill>
                  <a:latin typeface="Open Sans"/>
                </a:endParaRPr>
              </a:p>
            </p:txBody>
          </p:sp>
        </p:grpSp>
        <p:grpSp>
          <p:nvGrpSpPr>
            <p:cNvPr id="18" name="กลุ่ม 253">
              <a:extLst>
                <a:ext uri="{FF2B5EF4-FFF2-40B4-BE49-F238E27FC236}">
                  <a16:creationId xmlns:a16="http://schemas.microsoft.com/office/drawing/2014/main" id="{E5B32660-09AB-7DFA-F006-6110368A9A23}"/>
                </a:ext>
              </a:extLst>
            </p:cNvPr>
            <p:cNvGrpSpPr/>
            <p:nvPr/>
          </p:nvGrpSpPr>
          <p:grpSpPr>
            <a:xfrm>
              <a:off x="7120760" y="3621107"/>
              <a:ext cx="103424" cy="103424"/>
              <a:chOff x="17253334" y="11803008"/>
              <a:chExt cx="238125" cy="238125"/>
            </a:xfrm>
            <a:solidFill>
              <a:schemeClr val="accent1"/>
            </a:solidFill>
          </p:grpSpPr>
          <p:sp>
            <p:nvSpPr>
              <p:cNvPr id="20" name="Freeform 210">
                <a:extLst>
                  <a:ext uri="{FF2B5EF4-FFF2-40B4-BE49-F238E27FC236}">
                    <a16:creationId xmlns:a16="http://schemas.microsoft.com/office/drawing/2014/main" id="{635027A7-5BBF-6348-52E3-F012FB62B9E8}"/>
                  </a:ext>
                </a:extLst>
              </p:cNvPr>
              <p:cNvSpPr>
                <a:spLocks noEditPoints="1"/>
              </p:cNvSpPr>
              <p:nvPr/>
            </p:nvSpPr>
            <p:spPr bwMode="auto">
              <a:xfrm>
                <a:off x="17253334" y="11936358"/>
                <a:ext cx="104775" cy="104775"/>
              </a:xfrm>
              <a:custGeom>
                <a:avLst/>
                <a:gdLst>
                  <a:gd name="T0" fmla="*/ 1 w 11"/>
                  <a:gd name="T1" fmla="*/ 11 h 11"/>
                  <a:gd name="T2" fmla="*/ 10 w 11"/>
                  <a:gd name="T3" fmla="*/ 11 h 11"/>
                  <a:gd name="T4" fmla="*/ 11 w 11"/>
                  <a:gd name="T5" fmla="*/ 10 h 11"/>
                  <a:gd name="T6" fmla="*/ 11 w 11"/>
                  <a:gd name="T7" fmla="*/ 1 h 11"/>
                  <a:gd name="T8" fmla="*/ 10 w 11"/>
                  <a:gd name="T9" fmla="*/ 0 h 11"/>
                  <a:gd name="T10" fmla="*/ 1 w 11"/>
                  <a:gd name="T11" fmla="*/ 0 h 11"/>
                  <a:gd name="T12" fmla="*/ 0 w 11"/>
                  <a:gd name="T13" fmla="*/ 1 h 11"/>
                  <a:gd name="T14" fmla="*/ 0 w 11"/>
                  <a:gd name="T15" fmla="*/ 10 h 11"/>
                  <a:gd name="T16" fmla="*/ 1 w 11"/>
                  <a:gd name="T17" fmla="*/ 11 h 11"/>
                  <a:gd name="T18" fmla="*/ 3 w 11"/>
                  <a:gd name="T19" fmla="*/ 3 h 11"/>
                  <a:gd name="T20" fmla="*/ 8 w 11"/>
                  <a:gd name="T21" fmla="*/ 3 h 11"/>
                  <a:gd name="T22" fmla="*/ 8 w 11"/>
                  <a:gd name="T23" fmla="*/ 9 h 11"/>
                  <a:gd name="T24" fmla="*/ 3 w 11"/>
                  <a:gd name="T25" fmla="*/ 9 h 11"/>
                  <a:gd name="T26" fmla="*/ 3 w 11"/>
                  <a:gd name="T27"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1">
                    <a:moveTo>
                      <a:pt x="1" y="11"/>
                    </a:moveTo>
                    <a:cubicBezTo>
                      <a:pt x="10" y="11"/>
                      <a:pt x="10" y="11"/>
                      <a:pt x="10" y="11"/>
                    </a:cubicBezTo>
                    <a:cubicBezTo>
                      <a:pt x="10" y="11"/>
                      <a:pt x="11" y="10"/>
                      <a:pt x="11" y="10"/>
                    </a:cubicBezTo>
                    <a:cubicBezTo>
                      <a:pt x="11" y="1"/>
                      <a:pt x="11" y="1"/>
                      <a:pt x="11" y="1"/>
                    </a:cubicBezTo>
                    <a:cubicBezTo>
                      <a:pt x="11" y="1"/>
                      <a:pt x="10" y="0"/>
                      <a:pt x="10" y="0"/>
                    </a:cubicBezTo>
                    <a:cubicBezTo>
                      <a:pt x="1" y="0"/>
                      <a:pt x="1" y="0"/>
                      <a:pt x="1" y="0"/>
                    </a:cubicBezTo>
                    <a:cubicBezTo>
                      <a:pt x="1" y="0"/>
                      <a:pt x="0" y="1"/>
                      <a:pt x="0" y="1"/>
                    </a:cubicBezTo>
                    <a:cubicBezTo>
                      <a:pt x="0" y="10"/>
                      <a:pt x="0" y="10"/>
                      <a:pt x="0" y="10"/>
                    </a:cubicBezTo>
                    <a:cubicBezTo>
                      <a:pt x="0" y="10"/>
                      <a:pt x="1" y="11"/>
                      <a:pt x="1" y="11"/>
                    </a:cubicBezTo>
                    <a:close/>
                    <a:moveTo>
                      <a:pt x="3" y="3"/>
                    </a:moveTo>
                    <a:cubicBezTo>
                      <a:pt x="8" y="3"/>
                      <a:pt x="8" y="3"/>
                      <a:pt x="8" y="3"/>
                    </a:cubicBezTo>
                    <a:cubicBezTo>
                      <a:pt x="8" y="9"/>
                      <a:pt x="8" y="9"/>
                      <a:pt x="8" y="9"/>
                    </a:cubicBezTo>
                    <a:cubicBezTo>
                      <a:pt x="3" y="9"/>
                      <a:pt x="3" y="9"/>
                      <a:pt x="3" y="9"/>
                    </a:cubicBezTo>
                    <a:lnTo>
                      <a:pt x="3"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Tx/>
                </a:pPr>
                <a:endParaRPr lang="th-TH" sz="2400" kern="1200">
                  <a:latin typeface="Open Sans"/>
                  <a:ea typeface="+mn-ea"/>
                  <a:cs typeface="+mn-cs"/>
                </a:endParaRPr>
              </a:p>
            </p:txBody>
          </p:sp>
          <p:sp>
            <p:nvSpPr>
              <p:cNvPr id="21" name="Freeform 211">
                <a:extLst>
                  <a:ext uri="{FF2B5EF4-FFF2-40B4-BE49-F238E27FC236}">
                    <a16:creationId xmlns:a16="http://schemas.microsoft.com/office/drawing/2014/main" id="{FCC2A7BE-5E4E-6660-E304-FF8B30D926A4}"/>
                  </a:ext>
                </a:extLst>
              </p:cNvPr>
              <p:cNvSpPr>
                <a:spLocks noEditPoints="1"/>
              </p:cNvSpPr>
              <p:nvPr/>
            </p:nvSpPr>
            <p:spPr bwMode="auto">
              <a:xfrm>
                <a:off x="17396209" y="11936358"/>
                <a:ext cx="95250" cy="104775"/>
              </a:xfrm>
              <a:custGeom>
                <a:avLst/>
                <a:gdLst>
                  <a:gd name="T0" fmla="*/ 1 w 10"/>
                  <a:gd name="T1" fmla="*/ 11 h 11"/>
                  <a:gd name="T2" fmla="*/ 9 w 10"/>
                  <a:gd name="T3" fmla="*/ 11 h 11"/>
                  <a:gd name="T4" fmla="*/ 10 w 10"/>
                  <a:gd name="T5" fmla="*/ 10 h 11"/>
                  <a:gd name="T6" fmla="*/ 10 w 10"/>
                  <a:gd name="T7" fmla="*/ 1 h 11"/>
                  <a:gd name="T8" fmla="*/ 9 w 10"/>
                  <a:gd name="T9" fmla="*/ 0 h 11"/>
                  <a:gd name="T10" fmla="*/ 1 w 10"/>
                  <a:gd name="T11" fmla="*/ 0 h 11"/>
                  <a:gd name="T12" fmla="*/ 0 w 10"/>
                  <a:gd name="T13" fmla="*/ 1 h 11"/>
                  <a:gd name="T14" fmla="*/ 0 w 10"/>
                  <a:gd name="T15" fmla="*/ 10 h 11"/>
                  <a:gd name="T16" fmla="*/ 1 w 10"/>
                  <a:gd name="T17" fmla="*/ 11 h 11"/>
                  <a:gd name="T18" fmla="*/ 2 w 10"/>
                  <a:gd name="T19" fmla="*/ 3 h 11"/>
                  <a:gd name="T20" fmla="*/ 8 w 10"/>
                  <a:gd name="T21" fmla="*/ 3 h 11"/>
                  <a:gd name="T22" fmla="*/ 8 w 10"/>
                  <a:gd name="T23" fmla="*/ 9 h 11"/>
                  <a:gd name="T24" fmla="*/ 2 w 10"/>
                  <a:gd name="T25" fmla="*/ 9 h 11"/>
                  <a:gd name="T26" fmla="*/ 2 w 10"/>
                  <a:gd name="T27"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1">
                    <a:moveTo>
                      <a:pt x="1" y="11"/>
                    </a:moveTo>
                    <a:cubicBezTo>
                      <a:pt x="9" y="11"/>
                      <a:pt x="9" y="11"/>
                      <a:pt x="9" y="11"/>
                    </a:cubicBezTo>
                    <a:cubicBezTo>
                      <a:pt x="10" y="11"/>
                      <a:pt x="10" y="10"/>
                      <a:pt x="10" y="10"/>
                    </a:cubicBezTo>
                    <a:cubicBezTo>
                      <a:pt x="10" y="1"/>
                      <a:pt x="10" y="1"/>
                      <a:pt x="10" y="1"/>
                    </a:cubicBezTo>
                    <a:cubicBezTo>
                      <a:pt x="10" y="1"/>
                      <a:pt x="10" y="0"/>
                      <a:pt x="9" y="0"/>
                    </a:cubicBezTo>
                    <a:cubicBezTo>
                      <a:pt x="1" y="0"/>
                      <a:pt x="1" y="0"/>
                      <a:pt x="1" y="0"/>
                    </a:cubicBezTo>
                    <a:cubicBezTo>
                      <a:pt x="0" y="0"/>
                      <a:pt x="0" y="1"/>
                      <a:pt x="0" y="1"/>
                    </a:cubicBezTo>
                    <a:cubicBezTo>
                      <a:pt x="0" y="10"/>
                      <a:pt x="0" y="10"/>
                      <a:pt x="0" y="10"/>
                    </a:cubicBezTo>
                    <a:cubicBezTo>
                      <a:pt x="0" y="10"/>
                      <a:pt x="0" y="11"/>
                      <a:pt x="1" y="11"/>
                    </a:cubicBezTo>
                    <a:close/>
                    <a:moveTo>
                      <a:pt x="2" y="3"/>
                    </a:moveTo>
                    <a:cubicBezTo>
                      <a:pt x="8" y="3"/>
                      <a:pt x="8" y="3"/>
                      <a:pt x="8" y="3"/>
                    </a:cubicBezTo>
                    <a:cubicBezTo>
                      <a:pt x="8" y="9"/>
                      <a:pt x="8" y="9"/>
                      <a:pt x="8" y="9"/>
                    </a:cubicBezTo>
                    <a:cubicBezTo>
                      <a:pt x="2" y="9"/>
                      <a:pt x="2" y="9"/>
                      <a:pt x="2" y="9"/>
                    </a:cubicBezTo>
                    <a:lnTo>
                      <a:pt x="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Tx/>
                </a:pPr>
                <a:endParaRPr lang="th-TH" sz="2400" kern="1200">
                  <a:latin typeface="Open Sans"/>
                  <a:ea typeface="+mn-ea"/>
                  <a:cs typeface="+mn-cs"/>
                </a:endParaRPr>
              </a:p>
            </p:txBody>
          </p:sp>
          <p:sp>
            <p:nvSpPr>
              <p:cNvPr id="23" name="Freeform 213">
                <a:extLst>
                  <a:ext uri="{FF2B5EF4-FFF2-40B4-BE49-F238E27FC236}">
                    <a16:creationId xmlns:a16="http://schemas.microsoft.com/office/drawing/2014/main" id="{51D7817D-5817-0A5F-2EFC-3180AC54C4F4}"/>
                  </a:ext>
                </a:extLst>
              </p:cNvPr>
              <p:cNvSpPr>
                <a:spLocks noEditPoints="1"/>
              </p:cNvSpPr>
              <p:nvPr/>
            </p:nvSpPr>
            <p:spPr bwMode="auto">
              <a:xfrm>
                <a:off x="17253334" y="11803008"/>
                <a:ext cx="104775" cy="95250"/>
              </a:xfrm>
              <a:custGeom>
                <a:avLst/>
                <a:gdLst>
                  <a:gd name="T0" fmla="*/ 1 w 11"/>
                  <a:gd name="T1" fmla="*/ 10 h 10"/>
                  <a:gd name="T2" fmla="*/ 10 w 11"/>
                  <a:gd name="T3" fmla="*/ 10 h 10"/>
                  <a:gd name="T4" fmla="*/ 11 w 11"/>
                  <a:gd name="T5" fmla="*/ 9 h 10"/>
                  <a:gd name="T6" fmla="*/ 11 w 11"/>
                  <a:gd name="T7" fmla="*/ 1 h 10"/>
                  <a:gd name="T8" fmla="*/ 10 w 11"/>
                  <a:gd name="T9" fmla="*/ 0 h 10"/>
                  <a:gd name="T10" fmla="*/ 1 w 11"/>
                  <a:gd name="T11" fmla="*/ 0 h 10"/>
                  <a:gd name="T12" fmla="*/ 0 w 11"/>
                  <a:gd name="T13" fmla="*/ 1 h 10"/>
                  <a:gd name="T14" fmla="*/ 0 w 11"/>
                  <a:gd name="T15" fmla="*/ 9 h 10"/>
                  <a:gd name="T16" fmla="*/ 1 w 11"/>
                  <a:gd name="T17" fmla="*/ 10 h 10"/>
                  <a:gd name="T18" fmla="*/ 3 w 11"/>
                  <a:gd name="T19" fmla="*/ 2 h 10"/>
                  <a:gd name="T20" fmla="*/ 8 w 11"/>
                  <a:gd name="T21" fmla="*/ 2 h 10"/>
                  <a:gd name="T22" fmla="*/ 8 w 11"/>
                  <a:gd name="T23" fmla="*/ 8 h 10"/>
                  <a:gd name="T24" fmla="*/ 3 w 11"/>
                  <a:gd name="T25" fmla="*/ 8 h 10"/>
                  <a:gd name="T26" fmla="*/ 3 w 11"/>
                  <a:gd name="T27"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0">
                    <a:moveTo>
                      <a:pt x="1" y="10"/>
                    </a:moveTo>
                    <a:cubicBezTo>
                      <a:pt x="10" y="10"/>
                      <a:pt x="10" y="10"/>
                      <a:pt x="10" y="10"/>
                    </a:cubicBezTo>
                    <a:cubicBezTo>
                      <a:pt x="10" y="10"/>
                      <a:pt x="11" y="10"/>
                      <a:pt x="11" y="9"/>
                    </a:cubicBezTo>
                    <a:cubicBezTo>
                      <a:pt x="11" y="1"/>
                      <a:pt x="11" y="1"/>
                      <a:pt x="11" y="1"/>
                    </a:cubicBezTo>
                    <a:cubicBezTo>
                      <a:pt x="11" y="0"/>
                      <a:pt x="10" y="0"/>
                      <a:pt x="10" y="0"/>
                    </a:cubicBezTo>
                    <a:cubicBezTo>
                      <a:pt x="1" y="0"/>
                      <a:pt x="1" y="0"/>
                      <a:pt x="1" y="0"/>
                    </a:cubicBezTo>
                    <a:cubicBezTo>
                      <a:pt x="1" y="0"/>
                      <a:pt x="0" y="0"/>
                      <a:pt x="0" y="1"/>
                    </a:cubicBezTo>
                    <a:cubicBezTo>
                      <a:pt x="0" y="9"/>
                      <a:pt x="0" y="9"/>
                      <a:pt x="0" y="9"/>
                    </a:cubicBezTo>
                    <a:cubicBezTo>
                      <a:pt x="0" y="10"/>
                      <a:pt x="1" y="10"/>
                      <a:pt x="1" y="10"/>
                    </a:cubicBezTo>
                    <a:close/>
                    <a:moveTo>
                      <a:pt x="3" y="2"/>
                    </a:moveTo>
                    <a:cubicBezTo>
                      <a:pt x="8" y="2"/>
                      <a:pt x="8" y="2"/>
                      <a:pt x="8" y="2"/>
                    </a:cubicBezTo>
                    <a:cubicBezTo>
                      <a:pt x="8" y="8"/>
                      <a:pt x="8" y="8"/>
                      <a:pt x="8" y="8"/>
                    </a:cubicBezTo>
                    <a:cubicBezTo>
                      <a:pt x="3" y="8"/>
                      <a:pt x="3" y="8"/>
                      <a:pt x="3" y="8"/>
                    </a:cubicBezTo>
                    <a:lnTo>
                      <a:pt x="3"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Tx/>
                </a:pPr>
                <a:endParaRPr lang="th-TH" sz="2400" kern="1200">
                  <a:latin typeface="Open Sans"/>
                  <a:ea typeface="+mn-ea"/>
                  <a:cs typeface="+mn-cs"/>
                </a:endParaRPr>
              </a:p>
            </p:txBody>
          </p:sp>
        </p:grpSp>
      </p:grpSp>
      <p:sp>
        <p:nvSpPr>
          <p:cNvPr id="9" name="Text_1">
            <a:extLst>
              <a:ext uri="{FF2B5EF4-FFF2-40B4-BE49-F238E27FC236}">
                <a16:creationId xmlns:a16="http://schemas.microsoft.com/office/drawing/2014/main" id="{70D61B64-B335-71FD-83D5-A1B69C697228}"/>
              </a:ext>
            </a:extLst>
          </p:cNvPr>
          <p:cNvSpPr txBox="1"/>
          <p:nvPr/>
        </p:nvSpPr>
        <p:spPr>
          <a:xfrm>
            <a:off x="3724102" y="4425280"/>
            <a:ext cx="2875751" cy="846514"/>
          </a:xfrm>
          <a:prstGeom prst="rect">
            <a:avLst/>
          </a:prstGeom>
          <a:noFill/>
        </p:spPr>
        <p:txBody>
          <a:bodyPr wrap="square" rtlCol="0"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625275">
              <a:lnSpc>
                <a:spcPct val="115000"/>
              </a:lnSpc>
              <a:buClrTx/>
            </a:pPr>
            <a:r>
              <a:rPr lang="en-US" sz="2200" dirty="0">
                <a:solidFill>
                  <a:srgbClr val="404040"/>
                </a:solidFill>
                <a:latin typeface="Open Sans" panose="020B0606030504020204" pitchFamily="34" charset="0"/>
                <a:ea typeface="Open Sans" panose="020B0604020202020204" charset="0"/>
                <a:cs typeface="Open Sans" panose="020B0604020202020204" charset="0"/>
              </a:rPr>
              <a:t>What went well, what hurt</a:t>
            </a:r>
          </a:p>
        </p:txBody>
      </p:sp>
      <p:sp>
        <p:nvSpPr>
          <p:cNvPr id="11" name="Text_2">
            <a:extLst>
              <a:ext uri="{FF2B5EF4-FFF2-40B4-BE49-F238E27FC236}">
                <a16:creationId xmlns:a16="http://schemas.microsoft.com/office/drawing/2014/main" id="{D31A98D0-3812-6BF2-2C3A-C61AD8AC11D0}"/>
              </a:ext>
            </a:extLst>
          </p:cNvPr>
          <p:cNvSpPr txBox="1"/>
          <p:nvPr/>
        </p:nvSpPr>
        <p:spPr>
          <a:xfrm>
            <a:off x="9656147" y="4422999"/>
            <a:ext cx="3594340" cy="846514"/>
          </a:xfrm>
          <a:prstGeom prst="rect">
            <a:avLst/>
          </a:prstGeom>
          <a:noFill/>
        </p:spPr>
        <p:txBody>
          <a:bodyPr wrap="square" rtlCol="0"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625275">
              <a:lnSpc>
                <a:spcPct val="115000"/>
              </a:lnSpc>
              <a:buClrTx/>
            </a:pPr>
            <a:r>
              <a:rPr lang="en-US" sz="2200" dirty="0">
                <a:solidFill>
                  <a:srgbClr val="404040"/>
                </a:solidFill>
                <a:latin typeface="Open Sans" panose="020B0606030504020204" pitchFamily="34" charset="0"/>
                <a:ea typeface="Open Sans" panose="020B0604020202020204" charset="0"/>
                <a:cs typeface="Open Sans" panose="020B0604020202020204" charset="0"/>
              </a:rPr>
              <a:t>Which agent or step caused it</a:t>
            </a:r>
          </a:p>
        </p:txBody>
      </p:sp>
      <p:sp>
        <p:nvSpPr>
          <p:cNvPr id="13" name="Text_3">
            <a:extLst>
              <a:ext uri="{FF2B5EF4-FFF2-40B4-BE49-F238E27FC236}">
                <a16:creationId xmlns:a16="http://schemas.microsoft.com/office/drawing/2014/main" id="{0A7C4149-3373-0EE8-9463-6938F9A7999E}"/>
              </a:ext>
            </a:extLst>
          </p:cNvPr>
          <p:cNvSpPr txBox="1"/>
          <p:nvPr/>
        </p:nvSpPr>
        <p:spPr>
          <a:xfrm>
            <a:off x="9656146" y="6334699"/>
            <a:ext cx="3274761" cy="846514"/>
          </a:xfrm>
          <a:prstGeom prst="rect">
            <a:avLst/>
          </a:prstGeom>
          <a:noFill/>
        </p:spPr>
        <p:txBody>
          <a:bodyPr wrap="square" rtlCol="0"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625275">
              <a:lnSpc>
                <a:spcPct val="115000"/>
              </a:lnSpc>
              <a:buClrTx/>
            </a:pPr>
            <a:r>
              <a:rPr lang="en-US" sz="2200" dirty="0">
                <a:solidFill>
                  <a:srgbClr val="404040"/>
                </a:solidFill>
                <a:latin typeface="Open Sans" panose="020B0606030504020204" pitchFamily="34" charset="0"/>
                <a:ea typeface="Open Sans" panose="020B0604020202020204" charset="0"/>
                <a:cs typeface="Open Sans" panose="020B0604020202020204" charset="0"/>
              </a:rPr>
              <a:t>Action items with an owner and a date</a:t>
            </a:r>
          </a:p>
        </p:txBody>
      </p:sp>
      <p:sp>
        <p:nvSpPr>
          <p:cNvPr id="15" name="Text_4">
            <a:extLst>
              <a:ext uri="{FF2B5EF4-FFF2-40B4-BE49-F238E27FC236}">
                <a16:creationId xmlns:a16="http://schemas.microsoft.com/office/drawing/2014/main" id="{2D73A647-0057-4C9E-29CD-D1AFF96609F5}"/>
              </a:ext>
            </a:extLst>
          </p:cNvPr>
          <p:cNvSpPr txBox="1"/>
          <p:nvPr/>
        </p:nvSpPr>
        <p:spPr>
          <a:xfrm>
            <a:off x="3325091" y="6336479"/>
            <a:ext cx="3274762" cy="1235851"/>
          </a:xfrm>
          <a:prstGeom prst="rect">
            <a:avLst/>
          </a:prstGeom>
          <a:noFill/>
        </p:spPr>
        <p:txBody>
          <a:bodyPr wrap="square" rtlCol="0" anchor="t"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625275">
              <a:lnSpc>
                <a:spcPct val="115000"/>
              </a:lnSpc>
              <a:buClrTx/>
            </a:pPr>
            <a:r>
              <a:rPr lang="en-US" sz="2200" dirty="0">
                <a:solidFill>
                  <a:srgbClr val="404040"/>
                </a:solidFill>
                <a:latin typeface="Open Sans" panose="020B0606030504020204" pitchFamily="34" charset="0"/>
                <a:ea typeface="Open Sans" panose="020B0604020202020204" charset="0"/>
                <a:cs typeface="Open Sans" panose="020B0604020202020204" charset="0"/>
              </a:rPr>
              <a:t>What to try next: prompt, model or settings</a:t>
            </a:r>
          </a:p>
        </p:txBody>
      </p:sp>
      <p:sp>
        <p:nvSpPr>
          <p:cNvPr id="12" name="Brandline_LVC">
            <a:extLst>
              <a:ext uri="{FF2B5EF4-FFF2-40B4-BE49-F238E27FC236}">
                <a16:creationId xmlns:a16="http://schemas.microsoft.com/office/drawing/2014/main" id="{D6B76791-F46B-C155-F81F-A521AC9D89BA}"/>
              </a:ext>
            </a:extLst>
          </p:cNvPr>
          <p:cNvSpPr/>
          <p:nvPr/>
        </p:nvSpPr>
        <p:spPr>
          <a:xfrm>
            <a:off x="3987800" y="816324"/>
            <a:ext cx="828881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2457741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_Text_Box">
            <a:extLst>
              <a:ext uri="{FF2B5EF4-FFF2-40B4-BE49-F238E27FC236}">
                <a16:creationId xmlns:a16="http://schemas.microsoft.com/office/drawing/2014/main" id="{27161EF7-5DF1-E24E-B272-D0518021DBD6}"/>
              </a:ext>
            </a:extLst>
          </p:cNvPr>
          <p:cNvSpPr>
            <a:spLocks noGrp="1"/>
          </p:cNvSpPr>
          <p:nvPr>
            <p:ph type="body" idx="10"/>
          </p:nvPr>
        </p:nvSpPr>
        <p:spPr>
          <a:xfrm>
            <a:off x="1292225" y="1512888"/>
            <a:ext cx="13696950" cy="1136155"/>
          </a:xfrm>
        </p:spPr>
        <p:txBody>
          <a:bodyPr>
            <a:normAutofit lnSpcReduction="10000"/>
          </a:bodyPr>
          <a:lstStyle/>
          <a:p>
            <a:r>
              <a:rPr lang="en-US" dirty="0"/>
              <a:t>July 2025: during a 12-day trial, Replit’s AI coding agent ignored a clear “don’t change anything” instruction and deleted a company’s live database. It also produced fake data and reports, and claimed the deleted data couldn’t be recovered. It could.</a:t>
            </a:r>
          </a:p>
        </p:txBody>
      </p:sp>
      <p:sp>
        <p:nvSpPr>
          <p:cNvPr id="4" name="Title 3">
            <a:extLst>
              <a:ext uri="{FF2B5EF4-FFF2-40B4-BE49-F238E27FC236}">
                <a16:creationId xmlns:a16="http://schemas.microsoft.com/office/drawing/2014/main" id="{2A3DEC54-C9BB-25A4-957E-D731B4AB1F5A}"/>
              </a:ext>
            </a:extLst>
          </p:cNvPr>
          <p:cNvSpPr>
            <a:spLocks noGrp="1"/>
          </p:cNvSpPr>
          <p:nvPr>
            <p:ph type="title"/>
          </p:nvPr>
        </p:nvSpPr>
        <p:spPr>
          <a:xfrm>
            <a:off x="-10160" y="229878"/>
            <a:ext cx="16276320" cy="687244"/>
          </a:xfrm>
        </p:spPr>
        <p:txBody>
          <a:bodyPr/>
          <a:lstStyle/>
          <a:p>
            <a:r>
              <a:rPr lang="en-US" dirty="0"/>
              <a:t>Case Study: Replit’s Coding Agent Deletes a Live Database</a:t>
            </a:r>
          </a:p>
        </p:txBody>
      </p:sp>
      <p:sp>
        <p:nvSpPr>
          <p:cNvPr id="17" name="Brandline_LVC">
            <a:extLst>
              <a:ext uri="{FF2B5EF4-FFF2-40B4-BE49-F238E27FC236}">
                <a16:creationId xmlns:a16="http://schemas.microsoft.com/office/drawing/2014/main" id="{71B673D3-2F2E-DF82-E6E9-F07B2AE2B89B}"/>
              </a:ext>
            </a:extLst>
          </p:cNvPr>
          <p:cNvSpPr/>
          <p:nvPr/>
        </p:nvSpPr>
        <p:spPr>
          <a:xfrm>
            <a:off x="3530600" y="816324"/>
            <a:ext cx="918972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7898F26-C0B1-383C-7336-89D019E74694}"/>
              </a:ext>
            </a:extLst>
          </p:cNvPr>
          <p:cNvSpPr/>
          <p:nvPr/>
        </p:nvSpPr>
        <p:spPr>
          <a:xfrm>
            <a:off x="1291857" y="1341120"/>
            <a:ext cx="13696999" cy="1463039"/>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25" name="Google Shape;626;p31">
            <a:extLst>
              <a:ext uri="{FF2B5EF4-FFF2-40B4-BE49-F238E27FC236}">
                <a16:creationId xmlns:a16="http://schemas.microsoft.com/office/drawing/2014/main" id="{D0489148-CEFE-44EB-71D9-F7E0E7091732}"/>
              </a:ext>
            </a:extLst>
          </p:cNvPr>
          <p:cNvSpPr/>
          <p:nvPr/>
        </p:nvSpPr>
        <p:spPr>
          <a:xfrm>
            <a:off x="1914046" y="3552846"/>
            <a:ext cx="5880565" cy="2162156"/>
          </a:xfrm>
          <a:prstGeom prst="roundRect">
            <a:avLst>
              <a:gd name="adj" fmla="val 15462"/>
            </a:avLst>
          </a:prstGeom>
          <a:noFill/>
          <a:ln w="9525" cap="flat" cmpd="sng" algn="ctr">
            <a:solidFill>
              <a:srgbClr val="3EADB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26" name="T_Text_1">
            <a:extLst>
              <a:ext uri="{FF2B5EF4-FFF2-40B4-BE49-F238E27FC236}">
                <a16:creationId xmlns:a16="http://schemas.microsoft.com/office/drawing/2014/main" id="{D431375A-019D-B9D6-FA29-1AD2430C632E}"/>
              </a:ext>
            </a:extLst>
          </p:cNvPr>
          <p:cNvSpPr/>
          <p:nvPr/>
        </p:nvSpPr>
        <p:spPr>
          <a:xfrm>
            <a:off x="2773012" y="2957863"/>
            <a:ext cx="3831942" cy="610650"/>
          </a:xfrm>
          <a:prstGeom prst="round2SameRect">
            <a:avLst>
              <a:gd name="adj1" fmla="val 50000"/>
              <a:gd name="adj2" fmla="val 0"/>
            </a:avLst>
          </a:prstGeom>
          <a:solidFill>
            <a:srgbClr val="3EADB0"/>
          </a:solidFill>
          <a:ln>
            <a:noFill/>
          </a:ln>
        </p:spPr>
        <p:txBody>
          <a:bodyPr spcFirstLastPara="1" wrap="square" lIns="68575" tIns="68575" rIns="68575" bIns="68575" anchor="ctr" anchorCtr="1">
            <a:spAutoFit/>
          </a:bodyPr>
          <a:lstStyle/>
          <a:p>
            <a:pPr marL="0" marR="0" lvl="0" indent="0" algn="ctr" rtl="0">
              <a:lnSpc>
                <a:spcPct val="114000"/>
              </a:lnSpc>
              <a:spcBef>
                <a:spcPts val="0"/>
              </a:spcBef>
              <a:spcAft>
                <a:spcPts val="0"/>
              </a:spcAft>
              <a:buClr>
                <a:schemeClr val="dk1"/>
              </a:buClr>
              <a:buSzPts val="800"/>
              <a:buFont typeface="Arial"/>
              <a:buNone/>
            </a:pPr>
            <a:r>
              <a:rPr lang="en-US" sz="2200" b="1" dirty="0">
                <a:solidFill>
                  <a:srgbClr val="FFFFFF"/>
                </a:solidFill>
                <a:latin typeface="+mj-lt"/>
                <a:ea typeface="Lato"/>
                <a:cs typeface="Lato"/>
                <a:sym typeface="Lato"/>
              </a:rPr>
              <a:t>Why it’s a breakdown:</a:t>
            </a:r>
            <a:endParaRPr sz="2200" b="1" dirty="0">
              <a:solidFill>
                <a:schemeClr val="dk1"/>
              </a:solidFill>
              <a:latin typeface="+mj-lt"/>
              <a:ea typeface="Lato"/>
              <a:cs typeface="Lato"/>
              <a:sym typeface="Lato"/>
            </a:endParaRPr>
          </a:p>
        </p:txBody>
      </p:sp>
      <p:sp>
        <p:nvSpPr>
          <p:cNvPr id="29" name="Google Shape;634;p31">
            <a:extLst>
              <a:ext uri="{FF2B5EF4-FFF2-40B4-BE49-F238E27FC236}">
                <a16:creationId xmlns:a16="http://schemas.microsoft.com/office/drawing/2014/main" id="{795EDAD7-3353-D5E8-FC38-272396598A8C}"/>
              </a:ext>
            </a:extLst>
          </p:cNvPr>
          <p:cNvSpPr/>
          <p:nvPr/>
        </p:nvSpPr>
        <p:spPr>
          <a:xfrm>
            <a:off x="5344766" y="6465966"/>
            <a:ext cx="5917677" cy="2162156"/>
          </a:xfrm>
          <a:prstGeom prst="roundRect">
            <a:avLst>
              <a:gd name="adj" fmla="val 16872"/>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30" name="T_Text_2">
            <a:extLst>
              <a:ext uri="{FF2B5EF4-FFF2-40B4-BE49-F238E27FC236}">
                <a16:creationId xmlns:a16="http://schemas.microsoft.com/office/drawing/2014/main" id="{5F6E8F30-0AA5-C2E9-9FC3-1F2405CA212D}"/>
              </a:ext>
            </a:extLst>
          </p:cNvPr>
          <p:cNvSpPr/>
          <p:nvPr/>
        </p:nvSpPr>
        <p:spPr>
          <a:xfrm>
            <a:off x="6387634" y="5855316"/>
            <a:ext cx="3831940" cy="610650"/>
          </a:xfrm>
          <a:prstGeom prst="round2SameRect">
            <a:avLst>
              <a:gd name="adj1" fmla="val 50000"/>
              <a:gd name="adj2" fmla="val 0"/>
            </a:avLst>
          </a:prstGeom>
          <a:solidFill>
            <a:srgbClr val="DF9D3D"/>
          </a:solidFill>
          <a:ln>
            <a:noFill/>
          </a:ln>
        </p:spPr>
        <p:txBody>
          <a:bodyPr spcFirstLastPara="1" wrap="square" lIns="68575" tIns="68575" rIns="68575" bIns="68575" anchor="ctr" anchorCtr="1">
            <a:spAutoFit/>
          </a:bodyPr>
          <a:lstStyle/>
          <a:p>
            <a:pPr algn="ctr">
              <a:lnSpc>
                <a:spcPct val="114000"/>
              </a:lnSpc>
              <a:buClr>
                <a:schemeClr val="dk1"/>
              </a:buClr>
              <a:buSzPts val="800"/>
            </a:pPr>
            <a:r>
              <a:rPr lang="en-US" sz="2200" b="1" dirty="0">
                <a:solidFill>
                  <a:srgbClr val="FFFFFF"/>
                </a:solidFill>
                <a:latin typeface="+mj-lt"/>
                <a:ea typeface="Lato"/>
                <a:cs typeface="Lato"/>
                <a:sym typeface="Lato"/>
              </a:rPr>
              <a:t>Lessons learned:</a:t>
            </a:r>
            <a:endParaRPr lang="en-US" sz="2200" b="1" dirty="0">
              <a:solidFill>
                <a:schemeClr val="dk1"/>
              </a:solidFill>
              <a:latin typeface="+mj-lt"/>
              <a:ea typeface="Lato"/>
              <a:cs typeface="Lato"/>
              <a:sym typeface="Lato"/>
            </a:endParaRPr>
          </a:p>
        </p:txBody>
      </p:sp>
      <p:sp>
        <p:nvSpPr>
          <p:cNvPr id="33" name="Text_1">
            <a:extLst>
              <a:ext uri="{FF2B5EF4-FFF2-40B4-BE49-F238E27FC236}">
                <a16:creationId xmlns:a16="http://schemas.microsoft.com/office/drawing/2014/main" id="{7E808F91-4210-FD07-6131-44C48C3D7E51}"/>
              </a:ext>
            </a:extLst>
          </p:cNvPr>
          <p:cNvSpPr txBox="1"/>
          <p:nvPr/>
        </p:nvSpPr>
        <p:spPr>
          <a:xfrm>
            <a:off x="2269808" y="3793207"/>
            <a:ext cx="5289231" cy="1612975"/>
          </a:xfrm>
          <a:prstGeom prst="rect">
            <a:avLst/>
          </a:prstGeom>
          <a:noFill/>
          <a:ln>
            <a:noFill/>
          </a:ln>
        </p:spPr>
        <p:txBody>
          <a:bodyPr spcFirstLastPara="1" wrap="square" lIns="68575" tIns="34275" rIns="68575" bIns="34275" anchor="ctr" anchorCtr="1">
            <a:spAutoFit/>
          </a:bodyPr>
          <a:lstStyle/>
          <a:p>
            <a:pPr marL="342900" marR="0" lvl="0" indent="-342900" rtl="0">
              <a:lnSpc>
                <a:spcPct val="114000"/>
              </a:lnSpc>
              <a:spcBef>
                <a:spcPts val="0"/>
              </a:spcBef>
              <a:spcAft>
                <a:spcPts val="0"/>
              </a:spcAft>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Ignored a code freeze, with no human approval step</a:t>
            </a:r>
          </a:p>
          <a:p>
            <a:pPr marL="342900" marR="0" lvl="0" indent="-342900" rtl="0">
              <a:lnSpc>
                <a:spcPct val="114000"/>
              </a:lnSpc>
              <a:spcBef>
                <a:spcPts val="0"/>
              </a:spcBef>
              <a:spcAft>
                <a:spcPts val="0"/>
              </a:spcAft>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Covered the mistake with fake data and test results</a:t>
            </a:r>
          </a:p>
        </p:txBody>
      </p:sp>
      <p:sp>
        <p:nvSpPr>
          <p:cNvPr id="34" name="Text_2">
            <a:extLst>
              <a:ext uri="{FF2B5EF4-FFF2-40B4-BE49-F238E27FC236}">
                <a16:creationId xmlns:a16="http://schemas.microsoft.com/office/drawing/2014/main" id="{BC785742-2526-4A4B-17EE-AC4E0467D407}"/>
              </a:ext>
            </a:extLst>
          </p:cNvPr>
          <p:cNvSpPr txBox="1"/>
          <p:nvPr/>
        </p:nvSpPr>
        <p:spPr>
          <a:xfrm>
            <a:off x="5700529" y="6706328"/>
            <a:ext cx="5206150" cy="1612975"/>
          </a:xfrm>
          <a:prstGeom prst="rect">
            <a:avLst/>
          </a:prstGeom>
          <a:noFill/>
          <a:ln>
            <a:noFill/>
          </a:ln>
        </p:spPr>
        <p:txBody>
          <a:bodyPr spcFirstLastPara="1" wrap="square" lIns="68575" tIns="34275" rIns="68575" bIns="34275" anchor="ctr" anchorCtr="1">
            <a:spAutoFit/>
          </a:bodyPr>
          <a:lstStyle/>
          <a:p>
            <a:pPr marL="342900" marR="0" lvl="0" indent="-342900" rtl="0">
              <a:lnSpc>
                <a:spcPct val="114000"/>
              </a:lnSpc>
              <a:spcBef>
                <a:spcPts val="0"/>
              </a:spcBef>
              <a:spcAft>
                <a:spcPts val="0"/>
              </a:spcAft>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Never give an agent delete rights on live systems without approval</a:t>
            </a:r>
          </a:p>
          <a:p>
            <a:pPr marL="342900" marR="0" lvl="0" indent="-342900" rtl="0">
              <a:lnSpc>
                <a:spcPct val="114000"/>
              </a:lnSpc>
              <a:spcBef>
                <a:spcPts val="0"/>
              </a:spcBef>
              <a:spcAft>
                <a:spcPts val="0"/>
              </a:spcAft>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Traces and alerts should flag destructive actions instantly</a:t>
            </a:r>
          </a:p>
        </p:txBody>
      </p:sp>
      <p:sp>
        <p:nvSpPr>
          <p:cNvPr id="46" name="Google Shape;626;p31">
            <a:extLst>
              <a:ext uri="{FF2B5EF4-FFF2-40B4-BE49-F238E27FC236}">
                <a16:creationId xmlns:a16="http://schemas.microsoft.com/office/drawing/2014/main" id="{29BD0558-F56A-C224-269F-159D932A13DD}"/>
              </a:ext>
            </a:extLst>
          </p:cNvPr>
          <p:cNvSpPr/>
          <p:nvPr/>
        </p:nvSpPr>
        <p:spPr>
          <a:xfrm>
            <a:off x="8756806" y="3552846"/>
            <a:ext cx="5880565" cy="2162156"/>
          </a:xfrm>
          <a:prstGeom prst="roundRect">
            <a:avLst>
              <a:gd name="adj" fmla="val 15462"/>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47" name="T_Text_1">
            <a:extLst>
              <a:ext uri="{FF2B5EF4-FFF2-40B4-BE49-F238E27FC236}">
                <a16:creationId xmlns:a16="http://schemas.microsoft.com/office/drawing/2014/main" id="{9AE80985-3BF3-4550-058C-5C1407C51C65}"/>
              </a:ext>
            </a:extLst>
          </p:cNvPr>
          <p:cNvSpPr/>
          <p:nvPr/>
        </p:nvSpPr>
        <p:spPr>
          <a:xfrm>
            <a:off x="9781117" y="2957863"/>
            <a:ext cx="3831942" cy="610650"/>
          </a:xfrm>
          <a:prstGeom prst="round2SameRect">
            <a:avLst>
              <a:gd name="adj1" fmla="val 50000"/>
              <a:gd name="adj2" fmla="val 0"/>
            </a:avLst>
          </a:prstGeom>
          <a:solidFill>
            <a:srgbClr val="848CD8"/>
          </a:solidFill>
          <a:ln>
            <a:noFill/>
          </a:ln>
        </p:spPr>
        <p:txBody>
          <a:bodyPr spcFirstLastPara="1" wrap="square" lIns="68575" tIns="68575" rIns="68575" bIns="68575" anchor="ctr" anchorCtr="1">
            <a:spAutoFit/>
          </a:bodyPr>
          <a:lstStyle/>
          <a:p>
            <a:pPr marL="0" marR="0" lvl="0" indent="0" algn="ctr" rtl="0">
              <a:lnSpc>
                <a:spcPct val="114000"/>
              </a:lnSpc>
              <a:spcBef>
                <a:spcPts val="0"/>
              </a:spcBef>
              <a:spcAft>
                <a:spcPts val="0"/>
              </a:spcAft>
              <a:buClr>
                <a:schemeClr val="dk1"/>
              </a:buClr>
              <a:buSzPts val="800"/>
              <a:buFont typeface="Arial"/>
              <a:buNone/>
            </a:pPr>
            <a:r>
              <a:rPr lang="en-US" sz="2200" b="1" dirty="0">
                <a:solidFill>
                  <a:srgbClr val="FFFFFF"/>
                </a:solidFill>
                <a:latin typeface="+mj-lt"/>
                <a:ea typeface="Lato"/>
                <a:cs typeface="Lato"/>
                <a:sym typeface="Lato"/>
              </a:rPr>
              <a:t>Fixes applied:</a:t>
            </a:r>
          </a:p>
        </p:txBody>
      </p:sp>
      <p:sp>
        <p:nvSpPr>
          <p:cNvPr id="48" name="Text_1">
            <a:extLst>
              <a:ext uri="{FF2B5EF4-FFF2-40B4-BE49-F238E27FC236}">
                <a16:creationId xmlns:a16="http://schemas.microsoft.com/office/drawing/2014/main" id="{BD7B61BF-4D17-7C97-2C5E-F5A2F29E2762}"/>
              </a:ext>
            </a:extLst>
          </p:cNvPr>
          <p:cNvSpPr txBox="1"/>
          <p:nvPr/>
        </p:nvSpPr>
        <p:spPr>
          <a:xfrm>
            <a:off x="9066848" y="3819525"/>
            <a:ext cx="5289231" cy="1612975"/>
          </a:xfrm>
          <a:prstGeom prst="rect">
            <a:avLst/>
          </a:prstGeom>
          <a:noFill/>
          <a:ln>
            <a:noFill/>
          </a:ln>
        </p:spPr>
        <p:txBody>
          <a:bodyPr spcFirstLastPara="1" wrap="square" lIns="68575" tIns="34275" rIns="68575" bIns="34275" anchor="ctr" anchorCtr="1">
            <a:spAutoFit/>
          </a:bodyPr>
          <a:lstStyle/>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Automatic separation of test and live databases</a:t>
            </a:r>
          </a:p>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 “planning-only” mode and one-click restore from backup</a:t>
            </a:r>
          </a:p>
        </p:txBody>
      </p:sp>
    </p:spTree>
    <p:extLst>
      <p:ext uri="{BB962C8B-B14F-4D97-AF65-F5344CB8AC3E}">
        <p14:creationId xmlns:p14="http://schemas.microsoft.com/office/powerpoint/2010/main" val="212167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EA120-9C23-881B-C3C7-91516F3E5ABA}"/>
            </a:ext>
          </a:extLst>
        </p:cNvPr>
        <p:cNvGrpSpPr/>
        <p:nvPr/>
      </p:nvGrpSpPr>
      <p:grpSpPr>
        <a:xfrm>
          <a:off x="0" y="0"/>
          <a:ext cx="0" cy="0"/>
          <a:chOff x="0" y="0"/>
          <a:chExt cx="0" cy="0"/>
        </a:xfrm>
      </p:grpSpPr>
      <p:sp>
        <p:nvSpPr>
          <p:cNvPr id="3" name="Content_Text_Box">
            <a:extLst>
              <a:ext uri="{FF2B5EF4-FFF2-40B4-BE49-F238E27FC236}">
                <a16:creationId xmlns:a16="http://schemas.microsoft.com/office/drawing/2014/main" id="{EE76FCF9-A412-1258-0234-E206D9091853}"/>
              </a:ext>
            </a:extLst>
          </p:cNvPr>
          <p:cNvSpPr>
            <a:spLocks noGrp="1"/>
          </p:cNvSpPr>
          <p:nvPr>
            <p:ph type="body" idx="10"/>
          </p:nvPr>
        </p:nvSpPr>
        <p:spPr>
          <a:xfrm>
            <a:off x="1291857" y="1512833"/>
            <a:ext cx="13696999" cy="1162528"/>
          </a:xfrm>
        </p:spPr>
        <p:txBody>
          <a:bodyPr>
            <a:normAutofit/>
          </a:bodyPr>
          <a:lstStyle/>
          <a:p>
            <a:r>
              <a:rPr lang="en-US" dirty="0"/>
              <a:t>A grieving customer asked Air Canada’s website chatbot about bereavement fares. It told him to buy a full-price ticket and claim the discount within 90 days. That was not the policy. In February 2024, a Canadian tribunal ordered the airline to pay.</a:t>
            </a:r>
          </a:p>
        </p:txBody>
      </p:sp>
      <p:sp>
        <p:nvSpPr>
          <p:cNvPr id="4" name="Title 3">
            <a:extLst>
              <a:ext uri="{FF2B5EF4-FFF2-40B4-BE49-F238E27FC236}">
                <a16:creationId xmlns:a16="http://schemas.microsoft.com/office/drawing/2014/main" id="{D116EF35-3311-111D-6105-5D6C99C93316}"/>
              </a:ext>
            </a:extLst>
          </p:cNvPr>
          <p:cNvSpPr>
            <a:spLocks noGrp="1"/>
          </p:cNvSpPr>
          <p:nvPr>
            <p:ph type="title"/>
          </p:nvPr>
        </p:nvSpPr>
        <p:spPr>
          <a:xfrm>
            <a:off x="-10160" y="229878"/>
            <a:ext cx="16276320" cy="687244"/>
          </a:xfrm>
        </p:spPr>
        <p:txBody>
          <a:bodyPr/>
          <a:lstStyle/>
          <a:p>
            <a:r>
              <a:rPr lang="en-US" dirty="0"/>
              <a:t>Case Study: Air Canada’s Chatbot Invents a Policy</a:t>
            </a:r>
          </a:p>
        </p:txBody>
      </p:sp>
      <p:sp>
        <p:nvSpPr>
          <p:cNvPr id="17" name="Brandline_LVC">
            <a:extLst>
              <a:ext uri="{FF2B5EF4-FFF2-40B4-BE49-F238E27FC236}">
                <a16:creationId xmlns:a16="http://schemas.microsoft.com/office/drawing/2014/main" id="{3736FEF4-3886-318D-C39D-799B6BEB7928}"/>
              </a:ext>
            </a:extLst>
          </p:cNvPr>
          <p:cNvSpPr/>
          <p:nvPr/>
        </p:nvSpPr>
        <p:spPr>
          <a:xfrm>
            <a:off x="3594100" y="816324"/>
            <a:ext cx="908653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857928D0-7824-B1A5-CC21-07C625A04EFB}"/>
              </a:ext>
            </a:extLst>
          </p:cNvPr>
          <p:cNvSpPr/>
          <p:nvPr/>
        </p:nvSpPr>
        <p:spPr>
          <a:xfrm>
            <a:off x="1291857" y="1341120"/>
            <a:ext cx="13696999" cy="1463039"/>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25" name="Google Shape;626;p31">
            <a:extLst>
              <a:ext uri="{FF2B5EF4-FFF2-40B4-BE49-F238E27FC236}">
                <a16:creationId xmlns:a16="http://schemas.microsoft.com/office/drawing/2014/main" id="{3ECA180E-AF70-FA8E-1161-7AD9F0BC0344}"/>
              </a:ext>
            </a:extLst>
          </p:cNvPr>
          <p:cNvSpPr/>
          <p:nvPr/>
        </p:nvSpPr>
        <p:spPr>
          <a:xfrm>
            <a:off x="1914046" y="3552846"/>
            <a:ext cx="5880565" cy="2162156"/>
          </a:xfrm>
          <a:prstGeom prst="roundRect">
            <a:avLst>
              <a:gd name="adj" fmla="val 15462"/>
            </a:avLst>
          </a:prstGeom>
          <a:noFill/>
          <a:ln w="9525" cap="flat" cmpd="sng" algn="ctr">
            <a:solidFill>
              <a:srgbClr val="3EADB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26" name="T_Text_1">
            <a:extLst>
              <a:ext uri="{FF2B5EF4-FFF2-40B4-BE49-F238E27FC236}">
                <a16:creationId xmlns:a16="http://schemas.microsoft.com/office/drawing/2014/main" id="{E74D3672-C469-27FC-9636-687B8E888D8E}"/>
              </a:ext>
            </a:extLst>
          </p:cNvPr>
          <p:cNvSpPr/>
          <p:nvPr/>
        </p:nvSpPr>
        <p:spPr>
          <a:xfrm>
            <a:off x="2773012" y="2957863"/>
            <a:ext cx="3831942" cy="610650"/>
          </a:xfrm>
          <a:prstGeom prst="round2SameRect">
            <a:avLst>
              <a:gd name="adj1" fmla="val 50000"/>
              <a:gd name="adj2" fmla="val 0"/>
            </a:avLst>
          </a:prstGeom>
          <a:solidFill>
            <a:srgbClr val="3EADB0"/>
          </a:solidFill>
          <a:ln>
            <a:noFill/>
          </a:ln>
        </p:spPr>
        <p:txBody>
          <a:bodyPr spcFirstLastPara="1" wrap="square" lIns="68575" tIns="68575" rIns="68575" bIns="68575" anchor="ctr" anchorCtr="1">
            <a:spAutoFit/>
          </a:bodyPr>
          <a:lstStyle/>
          <a:p>
            <a:pPr marL="0" marR="0" lvl="0" indent="0" algn="ctr" rtl="0">
              <a:lnSpc>
                <a:spcPct val="114000"/>
              </a:lnSpc>
              <a:spcBef>
                <a:spcPts val="0"/>
              </a:spcBef>
              <a:spcAft>
                <a:spcPts val="0"/>
              </a:spcAft>
              <a:buClr>
                <a:schemeClr val="dk1"/>
              </a:buClr>
              <a:buSzPts val="800"/>
              <a:buFont typeface="Arial"/>
              <a:buNone/>
            </a:pPr>
            <a:r>
              <a:rPr lang="en-US" sz="2200" b="1" dirty="0">
                <a:solidFill>
                  <a:srgbClr val="FFFFFF"/>
                </a:solidFill>
                <a:latin typeface="+mj-lt"/>
                <a:ea typeface="Lato"/>
                <a:cs typeface="Lato"/>
                <a:sym typeface="Lato"/>
              </a:rPr>
              <a:t>Why it’s a breakdown:</a:t>
            </a:r>
            <a:endParaRPr sz="2200" b="1" dirty="0">
              <a:solidFill>
                <a:schemeClr val="dk1"/>
              </a:solidFill>
              <a:latin typeface="+mj-lt"/>
              <a:ea typeface="Lato"/>
              <a:cs typeface="Lato"/>
              <a:sym typeface="Lato"/>
            </a:endParaRPr>
          </a:p>
        </p:txBody>
      </p:sp>
      <p:sp>
        <p:nvSpPr>
          <p:cNvPr id="29" name="Google Shape;634;p31">
            <a:extLst>
              <a:ext uri="{FF2B5EF4-FFF2-40B4-BE49-F238E27FC236}">
                <a16:creationId xmlns:a16="http://schemas.microsoft.com/office/drawing/2014/main" id="{D289A4C1-D1C4-C061-A9C3-B8995A65CFC0}"/>
              </a:ext>
            </a:extLst>
          </p:cNvPr>
          <p:cNvSpPr/>
          <p:nvPr/>
        </p:nvSpPr>
        <p:spPr>
          <a:xfrm>
            <a:off x="5344766" y="6465966"/>
            <a:ext cx="5917677" cy="2162156"/>
          </a:xfrm>
          <a:prstGeom prst="roundRect">
            <a:avLst>
              <a:gd name="adj" fmla="val 16872"/>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30" name="T_Text_2">
            <a:extLst>
              <a:ext uri="{FF2B5EF4-FFF2-40B4-BE49-F238E27FC236}">
                <a16:creationId xmlns:a16="http://schemas.microsoft.com/office/drawing/2014/main" id="{12A27516-6227-2FBB-C392-84F8021BBA13}"/>
              </a:ext>
            </a:extLst>
          </p:cNvPr>
          <p:cNvSpPr/>
          <p:nvPr/>
        </p:nvSpPr>
        <p:spPr>
          <a:xfrm>
            <a:off x="6387634" y="5855316"/>
            <a:ext cx="3831940" cy="610650"/>
          </a:xfrm>
          <a:prstGeom prst="round2SameRect">
            <a:avLst>
              <a:gd name="adj1" fmla="val 50000"/>
              <a:gd name="adj2" fmla="val 0"/>
            </a:avLst>
          </a:prstGeom>
          <a:solidFill>
            <a:srgbClr val="DF9D3D"/>
          </a:solidFill>
          <a:ln>
            <a:noFill/>
          </a:ln>
        </p:spPr>
        <p:txBody>
          <a:bodyPr spcFirstLastPara="1" wrap="square" lIns="68575" tIns="68575" rIns="68575" bIns="68575" anchor="ctr" anchorCtr="1">
            <a:spAutoFit/>
          </a:bodyPr>
          <a:lstStyle/>
          <a:p>
            <a:pPr algn="ctr">
              <a:lnSpc>
                <a:spcPct val="114000"/>
              </a:lnSpc>
              <a:buClr>
                <a:schemeClr val="dk1"/>
              </a:buClr>
              <a:buSzPts val="800"/>
            </a:pPr>
            <a:r>
              <a:rPr lang="en-US" sz="2200" b="1" dirty="0">
                <a:solidFill>
                  <a:srgbClr val="FFFFFF"/>
                </a:solidFill>
                <a:latin typeface="+mj-lt"/>
                <a:ea typeface="Lato"/>
                <a:cs typeface="Lato"/>
                <a:sym typeface="Lato"/>
              </a:rPr>
              <a:t>Lessons learned:</a:t>
            </a:r>
            <a:endParaRPr lang="en-US" sz="2200" b="1" dirty="0">
              <a:solidFill>
                <a:schemeClr val="dk1"/>
              </a:solidFill>
              <a:latin typeface="+mj-lt"/>
              <a:ea typeface="Lato"/>
              <a:cs typeface="Lato"/>
              <a:sym typeface="Lato"/>
            </a:endParaRPr>
          </a:p>
        </p:txBody>
      </p:sp>
      <p:sp>
        <p:nvSpPr>
          <p:cNvPr id="33" name="Text_1">
            <a:extLst>
              <a:ext uri="{FF2B5EF4-FFF2-40B4-BE49-F238E27FC236}">
                <a16:creationId xmlns:a16="http://schemas.microsoft.com/office/drawing/2014/main" id="{A0388641-9D33-BCB2-DE8B-3098E0BDD716}"/>
              </a:ext>
            </a:extLst>
          </p:cNvPr>
          <p:cNvSpPr txBox="1"/>
          <p:nvPr/>
        </p:nvSpPr>
        <p:spPr>
          <a:xfrm>
            <a:off x="1980249" y="3645957"/>
            <a:ext cx="5814362" cy="1998915"/>
          </a:xfrm>
          <a:prstGeom prst="rect">
            <a:avLst/>
          </a:prstGeom>
          <a:noFill/>
          <a:ln>
            <a:noFill/>
          </a:ln>
        </p:spPr>
        <p:txBody>
          <a:bodyPr spcFirstLastPara="1" wrap="square" lIns="68575" tIns="34275" rIns="68575" bIns="34275" anchor="ctr" anchorCtr="1">
            <a:spAutoFit/>
          </a:bodyPr>
          <a:lstStyle/>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Answered from thin air, not the policy page</a:t>
            </a:r>
          </a:p>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Air Canada blamed the bot; the tribunal blamed the company</a:t>
            </a:r>
          </a:p>
        </p:txBody>
      </p:sp>
      <p:sp>
        <p:nvSpPr>
          <p:cNvPr id="34" name="Text_2">
            <a:extLst>
              <a:ext uri="{FF2B5EF4-FFF2-40B4-BE49-F238E27FC236}">
                <a16:creationId xmlns:a16="http://schemas.microsoft.com/office/drawing/2014/main" id="{65351807-B70E-4EBD-D29C-7A9318D2CDDE}"/>
              </a:ext>
            </a:extLst>
          </p:cNvPr>
          <p:cNvSpPr txBox="1"/>
          <p:nvPr/>
        </p:nvSpPr>
        <p:spPr>
          <a:xfrm>
            <a:off x="5563369" y="6767288"/>
            <a:ext cx="5561914" cy="1612975"/>
          </a:xfrm>
          <a:prstGeom prst="rect">
            <a:avLst/>
          </a:prstGeom>
          <a:noFill/>
          <a:ln>
            <a:noFill/>
          </a:ln>
        </p:spPr>
        <p:txBody>
          <a:bodyPr spcFirstLastPara="1" wrap="square" lIns="68575" tIns="34275" rIns="68575" bIns="34275" anchor="ctr" anchorCtr="1">
            <a:spAutoFit/>
          </a:bodyPr>
          <a:lstStyle/>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If your bot says it, your company owns it</a:t>
            </a:r>
          </a:p>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Monitor answers and correct wrong ones fast</a:t>
            </a:r>
          </a:p>
        </p:txBody>
      </p:sp>
      <p:sp>
        <p:nvSpPr>
          <p:cNvPr id="46" name="Google Shape;626;p31">
            <a:extLst>
              <a:ext uri="{FF2B5EF4-FFF2-40B4-BE49-F238E27FC236}">
                <a16:creationId xmlns:a16="http://schemas.microsoft.com/office/drawing/2014/main" id="{08D96574-5068-97B7-C690-E7D497DD3272}"/>
              </a:ext>
            </a:extLst>
          </p:cNvPr>
          <p:cNvSpPr/>
          <p:nvPr/>
        </p:nvSpPr>
        <p:spPr>
          <a:xfrm>
            <a:off x="8756806" y="3552846"/>
            <a:ext cx="5880565" cy="2162156"/>
          </a:xfrm>
          <a:prstGeom prst="roundRect">
            <a:avLst>
              <a:gd name="adj" fmla="val 15462"/>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spcFirstLastPara="1" wrap="square" lIns="68575" tIns="34275" rIns="68575" bIns="34275" anchor="ctr" anchorCtr="0">
            <a:noAutofit/>
          </a:bodyPr>
          <a:lstStyle/>
          <a:p>
            <a:pPr marL="0" marR="0" lvl="0" indent="0" algn="ctr" rtl="0">
              <a:spcBef>
                <a:spcPts val="0"/>
              </a:spcBef>
              <a:spcAft>
                <a:spcPts val="0"/>
              </a:spcAft>
              <a:buNone/>
            </a:pPr>
            <a:endParaRPr sz="2200">
              <a:solidFill>
                <a:schemeClr val="lt1"/>
              </a:solidFill>
              <a:latin typeface="+mj-lt"/>
              <a:ea typeface="Lato"/>
              <a:cs typeface="Lato"/>
              <a:sym typeface="Lato"/>
            </a:endParaRPr>
          </a:p>
        </p:txBody>
      </p:sp>
      <p:sp>
        <p:nvSpPr>
          <p:cNvPr id="47" name="T_Text_1">
            <a:extLst>
              <a:ext uri="{FF2B5EF4-FFF2-40B4-BE49-F238E27FC236}">
                <a16:creationId xmlns:a16="http://schemas.microsoft.com/office/drawing/2014/main" id="{47131AB8-F0F4-E8CC-9FA1-DD9546E684FF}"/>
              </a:ext>
            </a:extLst>
          </p:cNvPr>
          <p:cNvSpPr/>
          <p:nvPr/>
        </p:nvSpPr>
        <p:spPr>
          <a:xfrm>
            <a:off x="9781117" y="2957863"/>
            <a:ext cx="3831942" cy="610650"/>
          </a:xfrm>
          <a:prstGeom prst="round2SameRect">
            <a:avLst>
              <a:gd name="adj1" fmla="val 50000"/>
              <a:gd name="adj2" fmla="val 0"/>
            </a:avLst>
          </a:prstGeom>
          <a:solidFill>
            <a:srgbClr val="848CD8"/>
          </a:solidFill>
          <a:ln>
            <a:noFill/>
          </a:ln>
        </p:spPr>
        <p:txBody>
          <a:bodyPr spcFirstLastPara="1" wrap="square" lIns="68575" tIns="68575" rIns="68575" bIns="68575" anchor="ctr" anchorCtr="1">
            <a:spAutoFit/>
          </a:bodyPr>
          <a:lstStyle/>
          <a:p>
            <a:pPr marL="0" marR="0" lvl="0" indent="0" algn="ctr" rtl="0">
              <a:lnSpc>
                <a:spcPct val="114000"/>
              </a:lnSpc>
              <a:spcBef>
                <a:spcPts val="0"/>
              </a:spcBef>
              <a:spcAft>
                <a:spcPts val="0"/>
              </a:spcAft>
              <a:buClr>
                <a:schemeClr val="dk1"/>
              </a:buClr>
              <a:buSzPts val="800"/>
              <a:buFont typeface="Arial"/>
              <a:buNone/>
            </a:pPr>
            <a:r>
              <a:rPr lang="en-US" sz="2200" b="1" dirty="0">
                <a:solidFill>
                  <a:srgbClr val="FFFFFF"/>
                </a:solidFill>
                <a:latin typeface="+mj-lt"/>
                <a:ea typeface="Lato"/>
                <a:cs typeface="Lato"/>
                <a:sym typeface="Lato"/>
              </a:rPr>
              <a:t>How to prevent it:</a:t>
            </a:r>
          </a:p>
        </p:txBody>
      </p:sp>
      <p:sp>
        <p:nvSpPr>
          <p:cNvPr id="48" name="Text_1">
            <a:extLst>
              <a:ext uri="{FF2B5EF4-FFF2-40B4-BE49-F238E27FC236}">
                <a16:creationId xmlns:a16="http://schemas.microsoft.com/office/drawing/2014/main" id="{73BC7CD6-DC4F-C9B8-D9D5-90C4EA28ADB0}"/>
              </a:ext>
            </a:extLst>
          </p:cNvPr>
          <p:cNvSpPr txBox="1"/>
          <p:nvPr/>
        </p:nvSpPr>
        <p:spPr>
          <a:xfrm>
            <a:off x="8883968" y="3641795"/>
            <a:ext cx="5570523" cy="1998915"/>
          </a:xfrm>
          <a:prstGeom prst="rect">
            <a:avLst/>
          </a:prstGeom>
          <a:noFill/>
          <a:ln>
            <a:noFill/>
          </a:ln>
        </p:spPr>
        <p:txBody>
          <a:bodyPr spcFirstLastPara="1" wrap="square" lIns="68575" tIns="34275" rIns="68575" bIns="34275" anchor="ctr" anchorCtr="1">
            <a:spAutoFit/>
          </a:bodyPr>
          <a:lstStyle/>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Answer only from the official policy, with the source</a:t>
            </a:r>
          </a:p>
          <a:p>
            <a:pPr marL="342900" lvl="0" indent="-342900">
              <a:lnSpc>
                <a:spcPct val="114000"/>
              </a:lnSpc>
              <a:buFont typeface="Arial" panose="020B0604020202020204" pitchFamily="34" charset="0"/>
              <a:buChar char="•"/>
            </a:pPr>
            <a:r>
              <a:rPr lang="en-US" sz="2200" dirty="0">
                <a:solidFill>
                  <a:schemeClr val="tx1">
                    <a:lumMod val="75000"/>
                    <a:lumOff val="25000"/>
                  </a:schemeClr>
                </a:solidFill>
                <a:latin typeface="+mj-lt"/>
                <a:ea typeface="Lato"/>
                <a:cs typeface="Lato"/>
                <a:sym typeface="Lato"/>
              </a:rPr>
              <a:t>A checker agent blocks any claim not found in the source</a:t>
            </a:r>
          </a:p>
        </p:txBody>
      </p:sp>
    </p:spTree>
    <p:extLst>
      <p:ext uri="{BB962C8B-B14F-4D97-AF65-F5344CB8AC3E}">
        <p14:creationId xmlns:p14="http://schemas.microsoft.com/office/powerpoint/2010/main" val="984613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44294B-3ACC-31C2-6AC4-5BD965AD86A0}"/>
              </a:ext>
            </a:extLst>
          </p:cNvPr>
          <p:cNvSpPr>
            <a:spLocks noGrp="1"/>
          </p:cNvSpPr>
          <p:nvPr>
            <p:ph type="title"/>
          </p:nvPr>
        </p:nvSpPr>
        <p:spPr/>
        <p:txBody>
          <a:bodyPr>
            <a:normAutofit/>
          </a:bodyPr>
          <a:lstStyle/>
          <a:p>
            <a:r>
              <a:rPr lang="en-IN" dirty="0"/>
              <a:t>Jargon Buster</a:t>
            </a:r>
          </a:p>
        </p:txBody>
      </p:sp>
      <p:sp>
        <p:nvSpPr>
          <p:cNvPr id="24" name="Brandline_LVC">
            <a:extLst>
              <a:ext uri="{FF2B5EF4-FFF2-40B4-BE49-F238E27FC236}">
                <a16:creationId xmlns:a16="http://schemas.microsoft.com/office/drawing/2014/main" id="{597B0354-EB0A-5C1B-B0CF-E455324C6603}"/>
              </a:ext>
            </a:extLst>
          </p:cNvPr>
          <p:cNvSpPr/>
          <p:nvPr/>
        </p:nvSpPr>
        <p:spPr>
          <a:xfrm>
            <a:off x="5816601" y="816324"/>
            <a:ext cx="46216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1350E1A6-FA24-BEEE-2200-9D5E93B1D3F0}"/>
              </a:ext>
            </a:extLst>
          </p:cNvPr>
          <p:cNvGraphicFramePr>
            <a:graphicFrameLocks noGrp="1"/>
          </p:cNvGraphicFramePr>
          <p:nvPr>
            <p:extLst>
              <p:ext uri="{D42A27DB-BD31-4B8C-83A1-F6EECF244321}">
                <p14:modId xmlns:p14="http://schemas.microsoft.com/office/powerpoint/2010/main" val="711176032"/>
              </p:ext>
            </p:extLst>
          </p:nvPr>
        </p:nvGraphicFramePr>
        <p:xfrm>
          <a:off x="1793479" y="1800225"/>
          <a:ext cx="13354842" cy="6035040"/>
        </p:xfrm>
        <a:graphic>
          <a:graphicData uri="http://schemas.openxmlformats.org/drawingml/2006/table">
            <a:tbl>
              <a:tblPr firstRow="1" bandRow="1">
                <a:tableStyleId>{21E4AEA4-8DFA-4A89-87EB-49C32662AFE0}</a:tableStyleId>
              </a:tblPr>
              <a:tblGrid>
                <a:gridCol w="1766625">
                  <a:extLst>
                    <a:ext uri="{9D8B030D-6E8A-4147-A177-3AD203B41FA5}">
                      <a16:colId xmlns:a16="http://schemas.microsoft.com/office/drawing/2014/main" val="3153676334"/>
                    </a:ext>
                  </a:extLst>
                </a:gridCol>
                <a:gridCol w="5602946">
                  <a:extLst>
                    <a:ext uri="{9D8B030D-6E8A-4147-A177-3AD203B41FA5}">
                      <a16:colId xmlns:a16="http://schemas.microsoft.com/office/drawing/2014/main" val="940989262"/>
                    </a:ext>
                  </a:extLst>
                </a:gridCol>
                <a:gridCol w="5985271">
                  <a:extLst>
                    <a:ext uri="{9D8B030D-6E8A-4147-A177-3AD203B41FA5}">
                      <a16:colId xmlns:a16="http://schemas.microsoft.com/office/drawing/2014/main" val="2770394162"/>
                    </a:ext>
                  </a:extLst>
                </a:gridCol>
              </a:tblGrid>
              <a:tr h="457200">
                <a:tc>
                  <a:txBody>
                    <a:bodyPr/>
                    <a:lstStyle/>
                    <a:p>
                      <a:pPr algn="ctr"/>
                      <a:r>
                        <a:rPr lang="en-IN" sz="2000" b="1" dirty="0"/>
                        <a:t>Word</a:t>
                      </a:r>
                    </a:p>
                  </a:txBody>
                  <a:tcPr anchor="ctr"/>
                </a:tc>
                <a:tc>
                  <a:txBody>
                    <a:bodyPr/>
                    <a:lstStyle/>
                    <a:p>
                      <a:pPr algn="ctr"/>
                      <a:r>
                        <a:rPr lang="en-IN" sz="2000" b="1" dirty="0"/>
                        <a:t>Plain meaning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err="1"/>
                        <a:t>Everyday picture</a:t>
                      </a:r>
                    </a:p>
                  </a:txBody>
                  <a:tcPr anchor="ctr"/>
                </a:tc>
                <a:extLst>
                  <a:ext uri="{0D108BD9-81ED-4DB2-BD59-A6C34878D82A}">
                    <a16:rowId xmlns:a16="http://schemas.microsoft.com/office/drawing/2014/main" val="615777882"/>
                  </a:ext>
                </a:extLst>
              </a:tr>
              <a:tr h="457200">
                <a:tc>
                  <a:txBody>
                    <a:bodyPr/>
                    <a:lstStyle/>
                    <a:p>
                      <a:pPr algn="ctr"/>
                      <a:r>
                        <a:rPr lang="en-IN" sz="1800" b="0" dirty="0">
                          <a:solidFill>
                            <a:schemeClr val="tx1"/>
                          </a:solidFill>
                        </a:rPr>
                        <a:t>Agent chain</a:t>
                      </a:r>
                    </a:p>
                  </a:txBody>
                  <a:tcPr anchor="ctr"/>
                </a:tc>
                <a:tc>
                  <a:txBody>
                    <a:bodyPr/>
                    <a:lstStyle/>
                    <a:p>
                      <a:pPr algn="ctr"/>
                      <a:r>
                        <a:rPr lang="en-US" sz="1800" b="0" dirty="0">
                          <a:solidFill>
                            <a:schemeClr val="tx1"/>
                          </a:solidFill>
                        </a:rPr>
                        <a:t>Agents passing work along a line</a:t>
                      </a:r>
                    </a:p>
                  </a:txBody>
                  <a:tcPr anchor="ctr"/>
                </a:tc>
                <a:tc>
                  <a:txBody>
                    <a:bodyPr/>
                    <a:lstStyle/>
                    <a:p>
                      <a:pPr algn="ctr">
                        <a:buNone/>
                      </a:pPr>
                      <a:r>
                        <a:rPr lang="en-US" sz="1800" dirty="0">
                          <a:solidFill>
                            <a:schemeClr val="tx1"/>
                          </a:solidFill>
                        </a:rPr>
                        <a:t>An assembly line</a:t>
                      </a:r>
                    </a:p>
                  </a:txBody>
                  <a:tcPr anchor="ctr"/>
                </a:tc>
                <a:extLst>
                  <a:ext uri="{0D108BD9-81ED-4DB2-BD59-A6C34878D82A}">
                    <a16:rowId xmlns:a16="http://schemas.microsoft.com/office/drawing/2014/main" val="1473545623"/>
                  </a:ext>
                </a:extLst>
              </a:tr>
              <a:tr h="457200">
                <a:tc>
                  <a:txBody>
                    <a:bodyPr/>
                    <a:lstStyle/>
                    <a:p>
                      <a:pPr algn="ctr"/>
                      <a:r>
                        <a:rPr lang="en-IN" sz="1800" b="0" dirty="0">
                          <a:solidFill>
                            <a:schemeClr val="tx1"/>
                          </a:solidFill>
                        </a:rPr>
                        <a:t>Shared context</a:t>
                      </a:r>
                    </a:p>
                  </a:txBody>
                  <a:tcPr anchor="ctr"/>
                </a:tc>
                <a:tc>
                  <a:txBody>
                    <a:bodyPr/>
                    <a:lstStyle/>
                    <a:p>
                      <a:pPr algn="ctr"/>
                      <a:r>
                        <a:rPr lang="en-US" sz="1800" b="0" dirty="0">
                          <a:solidFill>
                            <a:schemeClr val="tx1"/>
                          </a:solidFill>
                        </a:rPr>
                        <a:t>One record every agent reads and adds to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A hospital case file</a:t>
                      </a:r>
                    </a:p>
                  </a:txBody>
                  <a:tcPr anchor="ctr"/>
                </a:tc>
                <a:extLst>
                  <a:ext uri="{0D108BD9-81ED-4DB2-BD59-A6C34878D82A}">
                    <a16:rowId xmlns:a16="http://schemas.microsoft.com/office/drawing/2014/main" val="716328778"/>
                  </a:ext>
                </a:extLst>
              </a:tr>
              <a:tr h="457200">
                <a:tc>
                  <a:txBody>
                    <a:bodyPr/>
                    <a:lstStyle/>
                    <a:p>
                      <a:pPr algn="ctr">
                        <a:lnSpc>
                          <a:spcPct val="115000"/>
                        </a:lnSpc>
                        <a:buNone/>
                      </a:pPr>
                      <a:r>
                        <a:rPr lang="en-IN" sz="1800" dirty="0"/>
                        <a:t>RAG</a:t>
                      </a:r>
                    </a:p>
                  </a:txBody>
                  <a:tcPr anchor="ctr"/>
                </a:tc>
                <a:tc>
                  <a:txBody>
                    <a:bodyPr/>
                    <a:lstStyle/>
                    <a:p>
                      <a:pPr algn="ctr">
                        <a:lnSpc>
                          <a:spcPct val="115000"/>
                        </a:lnSpc>
                        <a:buNone/>
                      </a:pPr>
                      <a:r>
                        <a:rPr lang="en-US" sz="1800" dirty="0"/>
                        <a:t>Look up documents first, then answer from them</a:t>
                      </a:r>
                    </a:p>
                  </a:txBody>
                  <a:tcPr anchor="ctr"/>
                </a:tc>
                <a:tc>
                  <a:txBody>
                    <a:bodyPr/>
                    <a:lstStyle/>
                    <a:p>
                      <a:pPr algn="ctr"/>
                      <a:r>
                        <a:rPr lang="en-US" sz="1800" dirty="0"/>
                        <a:t>An open-book exam</a:t>
                      </a:r>
                    </a:p>
                  </a:txBody>
                  <a:tcPr anchor="ctr"/>
                </a:tc>
                <a:extLst>
                  <a:ext uri="{0D108BD9-81ED-4DB2-BD59-A6C34878D82A}">
                    <a16:rowId xmlns:a16="http://schemas.microsoft.com/office/drawing/2014/main" val="2811714083"/>
                  </a:ext>
                </a:extLst>
              </a:tr>
              <a:tr h="457200">
                <a:tc>
                  <a:txBody>
                    <a:bodyPr/>
                    <a:lstStyle/>
                    <a:p>
                      <a:pPr algn="ctr"/>
                      <a:r>
                        <a:rPr lang="en-IN" sz="1800" dirty="0"/>
                        <a:t>Grounded</a:t>
                      </a:r>
                    </a:p>
                  </a:txBody>
                  <a:tcPr anchor="ctr"/>
                </a:tc>
                <a:tc>
                  <a:txBody>
                    <a:bodyPr/>
                    <a:lstStyle/>
                    <a:p>
                      <a:pPr algn="ctr">
                        <a:buNone/>
                      </a:pPr>
                      <a:r>
                        <a:rPr lang="en-US" sz="1800" dirty="0"/>
                        <a:t>Every claim can be found in a source</a:t>
                      </a:r>
                    </a:p>
                  </a:txBody>
                  <a:tcPr anchor="ctr"/>
                </a:tc>
                <a:tc>
                  <a:txBody>
                    <a:bodyPr/>
                    <a:lstStyle/>
                    <a:p>
                      <a:pPr algn="ctr"/>
                      <a:r>
                        <a:rPr lang="en-US" sz="1800" dirty="0"/>
                        <a:t>Quoting the rulebook</a:t>
                      </a:r>
                    </a:p>
                  </a:txBody>
                  <a:tcPr anchor="ctr"/>
                </a:tc>
                <a:extLst>
                  <a:ext uri="{0D108BD9-81ED-4DB2-BD59-A6C34878D82A}">
                    <a16:rowId xmlns:a16="http://schemas.microsoft.com/office/drawing/2014/main" val="1350389288"/>
                  </a:ext>
                </a:extLst>
              </a:tr>
              <a:tr h="457200">
                <a:tc>
                  <a:txBody>
                    <a:bodyPr/>
                    <a:lstStyle/>
                    <a:p>
                      <a:pPr algn="ctr"/>
                      <a:r>
                        <a:rPr lang="en-IN" sz="1800" dirty="0"/>
                        <a:t>Retry (with backoff)</a:t>
                      </a:r>
                    </a:p>
                  </a:txBody>
                  <a:tcPr anchor="ctr"/>
                </a:tc>
                <a:tc>
                  <a:txBody>
                    <a:bodyPr/>
                    <a:lstStyle/>
                    <a:p>
                      <a:pPr algn="ctr"/>
                      <a:r>
                        <a:rPr lang="en-US" sz="1800" dirty="0">
                          <a:solidFill>
                            <a:schemeClr val="tx1"/>
                          </a:solidFill>
                          <a:latin typeface="+mn-lt"/>
                        </a:rPr>
                        <a:t>Try again automatically, waiting longer each time</a:t>
                      </a:r>
                    </a:p>
                  </a:txBody>
                  <a:tcPr anchor="ctr"/>
                </a:tc>
                <a:tc>
                  <a:txBody>
                    <a:bodyPr/>
                    <a:lstStyle/>
                    <a:p>
                      <a:pPr algn="ctr"/>
                      <a:r>
                        <a:rPr lang="en-US" sz="1800" dirty="0">
                          <a:solidFill>
                            <a:schemeClr val="tx1"/>
                          </a:solidFill>
                          <a:latin typeface="+mn-lt"/>
                        </a:rPr>
                        <a:t>Redialling a dropped call</a:t>
                      </a:r>
                    </a:p>
                  </a:txBody>
                  <a:tcPr anchor="ctr"/>
                </a:tc>
                <a:extLst>
                  <a:ext uri="{0D108BD9-81ED-4DB2-BD59-A6C34878D82A}">
                    <a16:rowId xmlns:a16="http://schemas.microsoft.com/office/drawing/2014/main" val="4229503215"/>
                  </a:ext>
                </a:extLst>
              </a:tr>
              <a:tr h="457200">
                <a:tc>
                  <a:txBody>
                    <a:bodyPr/>
                    <a:lstStyle/>
                    <a:p>
                      <a:pPr algn="ctr">
                        <a:buNone/>
                      </a:pPr>
                      <a:r>
                        <a:rPr lang="en-IN" sz="1800" dirty="0"/>
                        <a:t>Rate limit</a:t>
                      </a:r>
                    </a:p>
                  </a:txBody>
                  <a:tcPr anchor="ctr"/>
                </a:tc>
                <a:tc>
                  <a:txBody>
                    <a:bodyPr/>
                    <a:lstStyle/>
                    <a:p>
                      <a:pPr algn="ctr">
                        <a:buNone/>
                      </a:pPr>
                      <a:r>
                        <a:rPr lang="en-US" sz="1800" dirty="0">
                          <a:solidFill>
                            <a:schemeClr val="tx1"/>
                          </a:solidFill>
                          <a:latin typeface="+mn-lt"/>
                        </a:rPr>
                        <a:t>Maximum calls allowed per minute</a:t>
                      </a:r>
                    </a:p>
                  </a:txBody>
                  <a:tcPr anchor="ctr"/>
                </a:tc>
                <a:tc>
                  <a:txBody>
                    <a:bodyPr/>
                    <a:lstStyle/>
                    <a:p>
                      <a:pPr algn="ctr"/>
                      <a:r>
                        <a:rPr lang="en-US" sz="1800" dirty="0"/>
                        <a:t>A metro turnstile</a:t>
                      </a:r>
                    </a:p>
                  </a:txBody>
                  <a:tcPr anchor="ctr"/>
                </a:tc>
                <a:extLst>
                  <a:ext uri="{0D108BD9-81ED-4DB2-BD59-A6C34878D82A}">
                    <a16:rowId xmlns:a16="http://schemas.microsoft.com/office/drawing/2014/main" val="3509314201"/>
                  </a:ext>
                </a:extLst>
              </a:tr>
              <a:tr h="457200">
                <a:tc>
                  <a:txBody>
                    <a:bodyPr/>
                    <a:lstStyle/>
                    <a:p>
                      <a:pPr algn="ctr">
                        <a:buNone/>
                      </a:pPr>
                      <a:r>
                        <a:rPr lang="en-IN" sz="1800" dirty="0"/>
                        <a:t>Trace / log</a:t>
                      </a:r>
                    </a:p>
                  </a:txBody>
                  <a:tcPr anchor="ctr"/>
                </a:tc>
                <a:tc>
                  <a:txBody>
                    <a:bodyPr/>
                    <a:lstStyle/>
                    <a:p>
                      <a:pPr algn="ctr">
                        <a:buNone/>
                      </a:pPr>
                      <a:r>
                        <a:rPr lang="en-US" sz="1800" dirty="0">
                          <a:solidFill>
                            <a:schemeClr val="tx1"/>
                          </a:solidFill>
                          <a:latin typeface="+mn-lt"/>
                        </a:rPr>
                        <a:t>Step-by-step record of what the agents did</a:t>
                      </a:r>
                    </a:p>
                  </a:txBody>
                  <a:tcPr anchor="ctr"/>
                </a:tc>
                <a:tc>
                  <a:txBody>
                    <a:bodyPr/>
                    <a:lstStyle/>
                    <a:p>
                      <a:pPr algn="ctr"/>
                      <a:r>
                        <a:rPr lang="en-US" sz="1800" dirty="0"/>
                        <a:t>A flight’s black box</a:t>
                      </a:r>
                    </a:p>
                  </a:txBody>
                  <a:tcPr anchor="ctr"/>
                </a:tc>
                <a:extLst>
                  <a:ext uri="{0D108BD9-81ED-4DB2-BD59-A6C34878D82A}">
                    <a16:rowId xmlns:a16="http://schemas.microsoft.com/office/drawing/2014/main" val="295595403"/>
                  </a:ext>
                </a:extLst>
              </a:tr>
              <a:tr h="457200">
                <a:tc>
                  <a:txBody>
                    <a:bodyPr/>
                    <a:lstStyle/>
                    <a:p>
                      <a:pPr algn="ctr">
                        <a:buNone/>
                      </a:pPr>
                      <a:r>
                        <a:rPr lang="en-IN" sz="1800" dirty="0"/>
                        <a:t>Token</a:t>
                      </a:r>
                    </a:p>
                  </a:txBody>
                  <a:tcPr anchor="ctr"/>
                </a:tc>
                <a:tc>
                  <a:txBody>
                    <a:bodyPr/>
                    <a:lstStyle/>
                    <a:p>
                      <a:pPr algn="ctr">
                        <a:buNone/>
                      </a:pPr>
                      <a:r>
                        <a:rPr lang="en-US" sz="1800" dirty="0">
                          <a:solidFill>
                            <a:schemeClr val="tx1"/>
                          </a:solidFill>
                          <a:latin typeface="+mn-lt"/>
                        </a:rPr>
                        <a:t>A small piece of text the AI reads or writes; you pay per token</a:t>
                      </a:r>
                    </a:p>
                  </a:txBody>
                  <a:tcPr anchor="ctr"/>
                </a:tc>
                <a:tc>
                  <a:txBody>
                    <a:bodyPr/>
                    <a:lstStyle/>
                    <a:p>
                      <a:pPr algn="ctr"/>
                      <a:r>
                        <a:rPr lang="en-US" sz="1800" dirty="0"/>
                        <a:t>Paying per word for a telegram</a:t>
                      </a:r>
                    </a:p>
                  </a:txBody>
                  <a:tcPr anchor="ctr"/>
                </a:tc>
                <a:extLst>
                  <a:ext uri="{0D108BD9-81ED-4DB2-BD59-A6C34878D82A}">
                    <a16:rowId xmlns:a16="http://schemas.microsoft.com/office/drawing/2014/main" val="2230275646"/>
                  </a:ext>
                </a:extLst>
              </a:tr>
              <a:tr h="457200">
                <a:tc>
                  <a:txBody>
                    <a:bodyPr/>
                    <a:lstStyle/>
                    <a:p>
                      <a:pPr algn="ctr">
                        <a:buNone/>
                      </a:pPr>
                      <a:r>
                        <a:rPr lang="en-IN" sz="1800" dirty="0"/>
                        <a:t>Redundant call</a:t>
                      </a:r>
                    </a:p>
                  </a:txBody>
                  <a:tcPr anchor="ctr"/>
                </a:tc>
                <a:tc>
                  <a:txBody>
                    <a:bodyPr/>
                    <a:lstStyle/>
                    <a:p>
                      <a:pPr algn="ctr">
                        <a:buNone/>
                      </a:pPr>
                      <a:r>
                        <a:rPr lang="en-US" sz="1800" dirty="0">
                          <a:solidFill>
                            <a:schemeClr val="tx1"/>
                          </a:solidFill>
                          <a:latin typeface="+mn-lt"/>
                        </a:rPr>
                        <a:t>The same work done twice</a:t>
                      </a:r>
                    </a:p>
                  </a:txBody>
                  <a:tcPr anchor="ctr"/>
                </a:tc>
                <a:tc>
                  <a:txBody>
                    <a:bodyPr/>
                    <a:lstStyle/>
                    <a:p>
                      <a:pPr algn="ctr"/>
                      <a:r>
                        <a:rPr lang="en-US" sz="1800" dirty="0"/>
                        <a:t>Two people calling the same customer</a:t>
                      </a:r>
                    </a:p>
                  </a:txBody>
                  <a:tcPr anchor="ctr"/>
                </a:tc>
                <a:extLst>
                  <a:ext uri="{0D108BD9-81ED-4DB2-BD59-A6C34878D82A}">
                    <a16:rowId xmlns:a16="http://schemas.microsoft.com/office/drawing/2014/main" val="611116831"/>
                  </a:ext>
                </a:extLst>
              </a:tr>
              <a:tr h="457200">
                <a:tc>
                  <a:txBody>
                    <a:bodyPr/>
                    <a:lstStyle/>
                    <a:p>
                      <a:pPr algn="ctr">
                        <a:buNone/>
                      </a:pPr>
                      <a:r>
                        <a:rPr lang="en-IN" sz="1800" dirty="0"/>
                        <a:t>Cache</a:t>
                      </a:r>
                    </a:p>
                  </a:txBody>
                  <a:tcPr anchor="ctr"/>
                </a:tc>
                <a:tc>
                  <a:txBody>
                    <a:bodyPr/>
                    <a:lstStyle/>
                    <a:p>
                      <a:pPr algn="ctr">
                        <a:buNone/>
                      </a:pPr>
                      <a:r>
                        <a:rPr lang="en-US" sz="1800" dirty="0">
                          <a:solidFill>
                            <a:schemeClr val="tx1"/>
                          </a:solidFill>
                          <a:latin typeface="+mn-lt"/>
                        </a:rPr>
                        <a:t>Remembering a recent answer to reuse it</a:t>
                      </a:r>
                    </a:p>
                  </a:txBody>
                  <a:tcPr anchor="ctr"/>
                </a:tc>
                <a:tc>
                  <a:txBody>
                    <a:bodyPr/>
                    <a:lstStyle/>
                    <a:p>
                      <a:pPr algn="ctr"/>
                      <a:r>
                        <a:rPr lang="en-US" sz="1800" dirty="0"/>
                        <a:t>Your phone’s saved contacts</a:t>
                      </a:r>
                    </a:p>
                  </a:txBody>
                  <a:tcPr anchor="ctr"/>
                </a:tc>
                <a:extLst>
                  <a:ext uri="{0D108BD9-81ED-4DB2-BD59-A6C34878D82A}">
                    <a16:rowId xmlns:a16="http://schemas.microsoft.com/office/drawing/2014/main" val="1082468166"/>
                  </a:ext>
                </a:extLst>
              </a:tr>
              <a:tr h="457200">
                <a:tc>
                  <a:txBody>
                    <a:bodyPr/>
                    <a:lstStyle/>
                    <a:p>
                      <a:pPr algn="ctr">
                        <a:buNone/>
                      </a:pPr>
                      <a:r>
                        <a:rPr lang="en-IN" sz="1800" dirty="0"/>
                        <a:t>Blameless debrief</a:t>
                      </a:r>
                    </a:p>
                  </a:txBody>
                  <a:tcPr anchor="ctr"/>
                </a:tc>
                <a:tc>
                  <a:txBody>
                    <a:bodyPr/>
                    <a:lstStyle/>
                    <a:p>
                      <a:pPr algn="ctr">
                        <a:buNone/>
                      </a:pPr>
                      <a:r>
                        <a:rPr lang="en-US" sz="1800" dirty="0">
                          <a:solidFill>
                            <a:schemeClr val="tx1"/>
                          </a:solidFill>
                          <a:latin typeface="+mn-lt"/>
                        </a:rPr>
                        <a:t>Team review that fixes the system, not people</a:t>
                      </a:r>
                    </a:p>
                  </a:txBody>
                  <a:tcPr anchor="ctr"/>
                </a:tc>
                <a:tc>
                  <a:txBody>
                    <a:bodyPr/>
                    <a:lstStyle/>
                    <a:p>
                      <a:pPr algn="ctr"/>
                      <a:r>
                        <a:rPr lang="en-US" sz="1800" dirty="0"/>
                        <a:t>An airline crew debrief</a:t>
                      </a:r>
                    </a:p>
                  </a:txBody>
                  <a:tcPr anchor="ctr"/>
                </a:tc>
                <a:extLst>
                  <a:ext uri="{0D108BD9-81ED-4DB2-BD59-A6C34878D82A}">
                    <a16:rowId xmlns:a16="http://schemas.microsoft.com/office/drawing/2014/main" val="193314839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10F532-3B90-93F6-678F-EF59ACF2A398}"/>
              </a:ext>
            </a:extLst>
          </p:cNvPr>
          <p:cNvSpPr>
            <a:spLocks noGrp="1"/>
          </p:cNvSpPr>
          <p:nvPr>
            <p:ph type="body" sz="quarter" idx="19"/>
          </p:nvPr>
        </p:nvSpPr>
        <p:spPr>
          <a:xfrm>
            <a:off x="734790" y="1980938"/>
            <a:ext cx="9632528" cy="5878941"/>
          </a:xfrm>
        </p:spPr>
        <p:txBody>
          <a:bodyPr/>
          <a:lstStyle/>
          <a:p>
            <a:r>
              <a:rPr lang="en-US" dirty="0"/>
              <a:t>Generate → Check → Fix: one agent writes, another checks, a third fixes, and it is checked again.</a:t>
            </a:r>
          </a:p>
          <a:p>
            <a:r>
              <a:rPr lang="en-US" dirty="0"/>
              <a:t>Shared context means no agent starts from scratch; retries, logs and rate limits keep the chain safe.</a:t>
            </a:r>
          </a:p>
          <a:p>
            <a:r>
              <a:rPr lang="en-US" dirty="0"/>
              <a:t>RAG plus a checker stops a bot from inventing policies: no source, no answer.</a:t>
            </a:r>
          </a:p>
          <a:p>
            <a:r>
              <a:rPr lang="en-US" dirty="0"/>
              <a:t>Read the trace: steps, time, cost and repeated calls tell you what to fix.</a:t>
            </a:r>
          </a:p>
          <a:p>
            <a:r>
              <a:rPr lang="en-US" dirty="0"/>
              <a:t>Debrief without blame, assign owners, and never give agents unchecked power over live systems.</a:t>
            </a:r>
          </a:p>
        </p:txBody>
      </p:sp>
    </p:spTree>
    <p:custDataLst>
      <p:tags r:id="rId1"/>
    </p:custDataLst>
    <p:extLst>
      <p:ext uri="{BB962C8B-B14F-4D97-AF65-F5344CB8AC3E}">
        <p14:creationId xmlns:p14="http://schemas.microsoft.com/office/powerpoint/2010/main" val="32103503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24_LVC">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30F2DDABBDF49409AAC83A5FD91EC22" ma:contentTypeVersion="19" ma:contentTypeDescription="Create a new document." ma:contentTypeScope="" ma:versionID="bb8d198aa4b75fd43643176c3c641011">
  <xsd:schema xmlns:xsd="http://www.w3.org/2001/XMLSchema" xmlns:xs="http://www.w3.org/2001/XMLSchema" xmlns:p="http://schemas.microsoft.com/office/2006/metadata/properties" xmlns:ns3="9e1c2a13-0740-49b5-a03d-96af0a780283" xmlns:ns4="13f9a36d-0581-4bbd-819e-2fae6181123e" targetNamespace="http://schemas.microsoft.com/office/2006/metadata/properties" ma:root="true" ma:fieldsID="e40d7bb57ef413b009d55041092bba3d" ns3:_="" ns4:_="">
    <xsd:import namespace="9e1c2a13-0740-49b5-a03d-96af0a780283"/>
    <xsd:import namespace="13f9a36d-0581-4bbd-819e-2fae6181123e"/>
    <xsd:element name="properties">
      <xsd:complexType>
        <xsd:sequence>
          <xsd:element name="documentManagement">
            <xsd:complexType>
              <xsd:all>
                <xsd:element ref="ns3:MediaServiceMetadata" minOccurs="0"/>
                <xsd:element ref="ns3:MediaServiceFastMetadata"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Location" minOccurs="0"/>
                <xsd:element ref="ns3:_activity" minOccurs="0"/>
                <xsd:element ref="ns3:MediaServiceObjectDetectorVersions" minOccurs="0"/>
                <xsd:element ref="ns3:MediaServiceSearchPropertie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c2a13-0740-49b5-a03d-96af0a7802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f9a36d-0581-4bbd-819e-2fae618112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e1c2a13-0740-49b5-a03d-96af0a780283" xsi:nil="true"/>
  </documentManagement>
</p:properties>
</file>

<file path=customXml/itemProps1.xml><?xml version="1.0" encoding="utf-8"?>
<ds:datastoreItem xmlns:ds="http://schemas.openxmlformats.org/officeDocument/2006/customXml" ds:itemID="{99BFA4F3-28BF-457E-AC07-9D1429D1F6B9}">
  <ds:schemaRefs>
    <ds:schemaRef ds:uri="http://schemas.microsoft.com/sharepoint/v3/contenttype/forms"/>
  </ds:schemaRefs>
</ds:datastoreItem>
</file>

<file path=customXml/itemProps2.xml><?xml version="1.0" encoding="utf-8"?>
<ds:datastoreItem xmlns:ds="http://schemas.openxmlformats.org/officeDocument/2006/customXml" ds:itemID="{5D37A70A-915B-4C8D-A80D-EE34314DAE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c2a13-0740-49b5-a03d-96af0a780283"/>
    <ds:schemaRef ds:uri="13f9a36d-0581-4bbd-819e-2fae618112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CEBAD9-ECEF-4CDC-80C2-1395C85CDEF2}">
  <ds:schemaRefs>
    <ds:schemaRef ds:uri="http://schemas.microsoft.com/office/2006/documentManagement/types"/>
    <ds:schemaRef ds:uri="http://purl.org/dc/dcmitype/"/>
    <ds:schemaRef ds:uri="9e1c2a13-0740-49b5-a03d-96af0a780283"/>
    <ds:schemaRef ds:uri="http://schemas.openxmlformats.org/package/2006/metadata/core-properties"/>
    <ds:schemaRef ds:uri="http://purl.org/dc/elements/1.1/"/>
    <ds:schemaRef ds:uri="http://schemas.microsoft.com/office/2006/metadata/properties"/>
    <ds:schemaRef ds:uri="13f9a36d-0581-4bbd-819e-2fae6181123e"/>
    <ds:schemaRef ds:uri="http://purl.org/dc/term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9537</TotalTime>
  <Words>9325</Words>
  <Application>Microsoft Office PowerPoint</Application>
  <PresentationFormat>Custom</PresentationFormat>
  <Paragraphs>922</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2024_LVC</vt:lpstr>
      <vt:lpstr>PowerPoint Presentation</vt:lpstr>
      <vt:lpstr>PowerPoint Presentation</vt:lpstr>
      <vt:lpstr>PowerPoint Presentation</vt:lpstr>
      <vt:lpstr>PowerPoint Presentation</vt:lpstr>
      <vt:lpstr>PowerPoint Presentation</vt:lpstr>
      <vt:lpstr>The Agent Chain: Generate → Check → Fix</vt:lpstr>
      <vt:lpstr>Shared Context: One Case File for the Whole Chain</vt:lpstr>
      <vt:lpstr>PowerPoint Presentation</vt:lpstr>
      <vt:lpstr>PowerPoint Presentation</vt:lpstr>
      <vt:lpstr>Retries: Try Again, But Not Forever</vt:lpstr>
      <vt:lpstr>Logging, Retries and Rate Limits Working Together</vt:lpstr>
      <vt:lpstr>PowerPoint Presentation</vt:lpstr>
      <vt:lpstr>PowerPoint Presentation</vt:lpstr>
      <vt:lpstr>Trace Review: The Black Box of Your Agents</vt:lpstr>
      <vt:lpstr>Trace Tools: LangSmith and Phoenix</vt:lpstr>
      <vt:lpstr>Two Numbers to Watch: Steps and Cost per Task</vt:lpstr>
      <vt:lpstr>Redundant Calls: Paying Twice for the Same Answer</vt:lpstr>
      <vt:lpstr>PowerPoint Presentation</vt:lpstr>
      <vt:lpstr>The Debrief: Turning Findings into Fixes</vt:lpstr>
      <vt:lpstr>Case Study: Replit’s Coding Agent Deletes a Live Database</vt:lpstr>
      <vt:lpstr>Case Study: Air Canada’s Chatbot Invents a Policy</vt:lpstr>
      <vt:lpstr>Jargon Buster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Alok Parashar</dc:creator>
  <cp:lastModifiedBy>Azlaan Barkat</cp:lastModifiedBy>
  <cp:revision>7</cp:revision>
  <dcterms:created xsi:type="dcterms:W3CDTF">2023-05-19T12:36:11Z</dcterms:created>
  <dcterms:modified xsi:type="dcterms:W3CDTF">2026-10-18T12:02:36Z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B652525E-EED5-4C91-8592-5DBEF40DB197</vt:lpwstr>
  </property>
  <property fmtid="{D5CDD505-2E9C-101B-9397-08002B2CF9AE}" pid="3" name="ArticulatePath">
    <vt:lpwstr>https://simplilearnsolution-my.sharepoint.com/personal/pistorage_simplilearn_com/Documents/Simplilearn Project Backup/Templates/01_Simplilearn Templates/LVC/2023_LVC/AIML_DS_LVC_Template_2023</vt:lpwstr>
  </property>
  <property fmtid="{D5CDD505-2E9C-101B-9397-08002B2CF9AE}" pid="4" name="ContentTypeId">
    <vt:lpwstr>0x010100730F2DDABBDF49409AAC83A5FD91EC22</vt:lpwstr>
  </property>
</Properties>
</file>